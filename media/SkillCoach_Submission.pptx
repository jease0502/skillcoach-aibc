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4" r:id="rId30"/>
    <p:sldId id="273" r:id="rId29"/>
    <p:sldId id="272" r:id="rId28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6.jpg"/><Relationship Id="rId7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3.jpg"/><Relationship Id="rId6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jease0502/SkillCoach-AIBC" TargetMode="External"/><Relationship Id="rId6" Type="http://schemas.openxmlformats.org/officeDocument/2006/relationships/hyperlink" Target="https://skillcoach-aibc.web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www.td.org/content/atd-blog/benchmarks-and-trends-from-the-2025-state-of-the-industry-report" TargetMode="External"/><Relationship Id="rId6" Type="http://schemas.openxmlformats.org/officeDocument/2006/relationships/hyperlink" Target="https://www.nber.org/papers/w31161" TargetMode="External"/><Relationship Id="rId7" Type="http://schemas.openxmlformats.org/officeDocument/2006/relationships/hyperlink" Target="https://newsbytes.ph/2024/05/28/attrition-rates-in-ph-contact-center-firms-continue-to-go-down/" TargetMode="External"/><Relationship Id="rId8" Type="http://schemas.openxmlformats.org/officeDocument/2006/relationships/hyperlink" Target="https://stealthagents.com/research/bpo-agent-attrition-statistics-2026" TargetMode="External"/><Relationship Id="rId9" Type="http://schemas.openxmlformats.org/officeDocument/2006/relationships/hyperlink" Target="https://etd.lib.ncu.edu.tw/detail/56554d0867235710166b1752acffa4ba" TargetMode="External"/><Relationship Id="rId10" Type="http://schemas.openxmlformats.org/officeDocument/2006/relationships/hyperlink" Target="https://www.hyperbound.ai/blog/series-a" TargetMode="External"/><Relationship Id="rId11" Type="http://schemas.openxmlformats.org/officeDocument/2006/relationships/hyperlink" Target="https://pulse2.com/second-nature-22-million-series-b-raised-for-expanding-ai-based-sales-and-service-training" TargetMode="External"/><Relationship Id="rId12" Type="http://schemas.openxmlformats.org/officeDocument/2006/relationships/hyperlink" Target="https://www.hkma.gov.hk/eng/news-and-media/press-releases/2025/01/20250127-4" TargetMode="External"/><Relationship Id="rId13" Type="http://schemas.openxmlformats.org/officeDocument/2006/relationships/hyperlink" Target="https://docs.cloud.google.com/vertex-ai/generative-ai/docs/learn/data-residency" TargetMode="External"/><Relationship Id="rId14" Type="http://schemas.openxmlformats.org/officeDocument/2006/relationships/hyperlink" Target="https://www.mas.gov.sg/-/media/mas-media-library/fair-dealing-guidelines-30-may-2024.pdf" TargetMode="External"/><Relationship Id="rId15" Type="http://schemas.openxmlformats.org/officeDocument/2006/relationships/hyperlink" Target="https://www.insurancebusinessmag.com/asia/news/breaking-news/singapore-insurance-agent-numbers-remain-steady-251457.aspx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4.jpg"/><Relationship Id="rId5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 [Team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100">
                <a:latin typeface="Google Sans Flex"/>
                <a:ea typeface="Google Sans Flex"/>
                <a:cs typeface="Google Sans Flex"/>
                <a:sym typeface="Google Sans Flex"/>
              </a:rPr>
              <a:t> Customer-facing staff in regulated industries learn on real customers, because realistic, scored practice needs senior people nobody can spare. One wrong sentence, such as "this plan guarantees you 8% a year", is a conduct failure. SkillCoach turns a company's own documents into AI practice customers with a pre-send Compliance Guard and evidence-verified scores.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20700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i="0">
                <a:solidFill>
                  <a:srgbClr val="202124"/>
                </a:solidFill>
                <a:latin typeface="Google Sans Flex SemiBold"/>
              </a:rPr>
              <a:t>SkillCoach: </a:t>
            </a:r>
            <a:r>
              <a:rPr sz="2000" i="0">
                <a:solidFill>
                  <a:srgbClr val="1A73E8"/>
                </a:solidFill>
                <a:latin typeface="Google Sans Flex SemiBold"/>
              </a:rPr>
              <a:t>practice the conversation before it counts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2002536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Problem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2728" y="1984248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New hires in insurance, banking, sales and support learn on real customers. Practice depends on senior colleagues, and one non-compliant sentence is a conduct failure.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734056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Idea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52728" y="2715768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Upload manuals and policies; Gemini drafts realistic AI customers that cite the source passages. A trainer approves them, and trainees practice any time with a 3D customer and a coach on every turn.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0040" y="3465575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Trust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52728" y="3447287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 Compliance Guard holds a risky message before it is sent. Every score quotes the trainee's own words, and one serious violation fails the session.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20040" y="4197095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Built 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52728" y="4178807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Gemini on Vertex AI, Cloud Run, Firestore and Firebase Hosting. Theme: Future of Work &amp; Enterprise Productivity.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257800" y="1207008"/>
            <a:ext cx="3566160" cy="3611880"/>
          </a:xfrm>
          <a:prstGeom prst="roundRect">
            <a:avLst>
              <a:gd name="adj" fmla="val 3076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394960" y="12984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Live app: a 3D customer, and the Guard holds a risky message</a:t>
            </a:r>
          </a:p>
        </p:txBody>
      </p:sp>
      <p:pic>
        <p:nvPicPr>
          <p:cNvPr id="83" name="Picture 82" descr="practice_gu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664208"/>
            <a:ext cx="3291840" cy="2057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84" name="TextBox 83"/>
          <p:cNvSpPr txBox="1"/>
          <p:nvPr/>
        </p:nvSpPr>
        <p:spPr>
          <a:xfrm>
            <a:off x="5394960" y="390448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Mr. Tan, a cautious retiree, is rendered as a 3D customer. The trainee types a guaranteed-return promise; the Guard quotes the phrase, names rule CC-01 and offers Edit message or Send anyway.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66344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How is it different?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6344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Personas come from the company's own documents, with a citation on every hidden need and objection.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 trainer approves each persona before anyone practices.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 compliance gate with verbatim evidence: a great talk with one forbidden promise still fails.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AI role-play tools (Hyperbound, Second Nature) focus on US B2B selling, not regulated APAC products.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9544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355848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88038"/>
                </a:solidFill>
                <a:latin typeface="Google Sans Flex SemiBold"/>
              </a:rPr>
              <a:t>How it solves the problem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55848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Unlimited private practice with no senior colleague in the room.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Mistakes are caught in practice, about 1 s before the message is sent, instead of in front of a customer.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Managers see who is ready to go live from verified reports, not gut feel.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Expert know-how becomes a scenario the whole team can practice.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99048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245352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C5221F"/>
                </a:solidFill>
                <a:latin typeface="Google Sans Flex SemiBold"/>
              </a:rPr>
              <a:t>USP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45352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Documents in, approved and cited personas out, in under a minute.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Seven Gemini agent roles per turn, each with its own schema and guardrail.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The server, not the model, decides what counts as evidence: quotes must match the source or transcript.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Data at rest in the customer's APAC region.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436168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Competitor focus from public positioning (Hyperbound US$15M Series A [S16]; Second Nature US$22M Series B [S17]). Sources on the Sources slide.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48056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5528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Persona builder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8056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Upload manuals; Gemini drafts customer personas and scenarios with citations to source passages.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9544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337560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85032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37560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Personas start as drafts. Only approved personas can back a practice scenario.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99048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227064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574536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Live AI customer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27064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Streamed replies, hidden needs revealed only when trust is earned, facts limited to the knowledge base.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20040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448056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Compliance Guard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Checks each message before it is sent, quotes the phrase and names the rule. Edit or send anyway.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9544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337560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85032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Coach on every turn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37560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A one-sentence hint grounded in the company playbook, with knowledge-base citations.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99048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227064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74536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Trust and patience meters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27064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The customer's state updates every turn, so trainees see the effect of their words.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20040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448056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95528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Evidence-verified report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48056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Each score quotes the trainee's words. No verified evidence caps a skill at 50; a serious violation caps the total at 59.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9544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3337560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85032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Manager readiness view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37560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Team dashboard: ready-to-go-live count, weakest skills and top compliance violations.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099048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6227064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74536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Live video call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27064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Camera on, hands-free voice with a 3D customer that lip-syncs and shows its mood; Gemini reviews eye contact and expression.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320040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04088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Build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09928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Admin / trainer</a:t>
            </a:r>
          </a:p>
        </p:txBody>
      </p:sp>
      <p:pic>
        <p:nvPicPr>
          <p:cNvPr id="99" name="Picture 98" descr="persona_detai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1" y="1645919"/>
            <a:ext cx="2340864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0" name="TextBox 99"/>
          <p:cNvSpPr txBox="1"/>
          <p:nvPr/>
        </p:nvSpPr>
        <p:spPr>
          <a:xfrm>
            <a:off x="320040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Upload manuals and policies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drafts personas + scenarios with citations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Trainer reviews and approves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77440"/>
            <a:ext cx="256032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3282696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66744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Practice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672584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Trainee</a:t>
            </a:r>
          </a:p>
        </p:txBody>
      </p:sp>
      <p:pic>
        <p:nvPicPr>
          <p:cNvPr id="105" name="Picture 104" descr="practice_guar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1568" y="1645919"/>
            <a:ext cx="2340864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282696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Guard pre-checks each message (~1 s)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AI customer streams a reply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Grounding, state and coach run in parallel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925312" y="2377440"/>
            <a:ext cx="256032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6245351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29399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Prove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635239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Manager</a:t>
            </a:r>
          </a:p>
        </p:txBody>
      </p:sp>
      <p:pic>
        <p:nvPicPr>
          <p:cNvPr id="111" name="Picture 110" descr="repor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3" y="1645919"/>
            <a:ext cx="2340864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2" name="TextBox 111"/>
          <p:cNvSpPr txBox="1"/>
          <p:nvPr/>
        </p:nvSpPr>
        <p:spPr>
          <a:xfrm>
            <a:off x="6245351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Report with verified quotes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Compliance gate (pass / fail)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Readiness dashboard: who can go live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Screens from the deployed app: a persona grounded in cited sources, the 3D customer with the Compliance Guard card, and the evidence-verified report.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96" y="1207008"/>
            <a:ext cx="2574950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320040" y="284378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Home: what SkillCoach does, start the 3-minute demo</a:t>
            </a:r>
          </a:p>
        </p:txBody>
      </p:sp>
      <p:pic>
        <p:nvPicPr>
          <p:cNvPr id="106" name="Picture 105" descr="knowled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1652" y="1207008"/>
            <a:ext cx="2574950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4654295" y="284378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Knowledge base: upload manuals and policies, test a search</a:t>
            </a:r>
          </a:p>
        </p:txBody>
      </p:sp>
      <p:pic>
        <p:nvPicPr>
          <p:cNvPr id="108" name="Picture 107" descr="persona_new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396" y="3127248"/>
            <a:ext cx="2574950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20040" y="476402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Persona builder: describe, generate from documents, or fill in</a:t>
            </a:r>
          </a:p>
        </p:txBody>
      </p:sp>
      <p:pic>
        <p:nvPicPr>
          <p:cNvPr id="110" name="Picture 109" descr="scenario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51652" y="3127248"/>
            <a:ext cx="2574950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4654295" y="476402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Scenarios: one customer, rubric and rules each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1417320" y="1188720"/>
            <a:ext cx="5257800" cy="2331720"/>
          </a:xfrm>
          <a:prstGeom prst="roundRect">
            <a:avLst>
              <a:gd name="adj" fmla="val 39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1536192" y="122529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Google Cloud · asia-east1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892808"/>
            <a:ext cx="960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411479" y="1947672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Browser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trainee, admin, manager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554480" y="152704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645920" y="1581912"/>
            <a:ext cx="1325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Firebase Hosting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public URL, rewrites to Cloud Run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246120" y="152704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3337560" y="1581912"/>
            <a:ext cx="1325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Cloud Run: web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Next.js 15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0" y="1527048"/>
            <a:ext cx="16002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029200" y="1581912"/>
            <a:ext cx="1417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Cloud Run: api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FastAPI, Server-Sent Events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554480" y="2578608"/>
            <a:ext cx="2331720" cy="77724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645920" y="2633472"/>
            <a:ext cx="2148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Firestore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documents, chunks + vectors, personas, scenarios, sessions, reports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069080" y="2578608"/>
            <a:ext cx="2468880" cy="77724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4160520" y="26334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gemini-embedding-001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Vertex AI, same region; retrieval ~0.25 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858000" y="1188720"/>
            <a:ext cx="1965960" cy="2331720"/>
          </a:xfrm>
          <a:prstGeom prst="roundRect">
            <a:avLst>
              <a:gd name="adj" fmla="val 4651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967728" y="1280160"/>
            <a:ext cx="1783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i="0">
                <a:solidFill>
                  <a:srgbClr val="FFFFFF"/>
                </a:solidFill>
                <a:latin typeface="Google Sans Flex SemiBold"/>
              </a:rPr>
              <a:t>Vertex AI: Gemini</a:t>
            </a:r>
          </a:p>
          <a:p>
            <a:pPr algn="l">
              <a:spcAft>
                <a:spcPts val="500"/>
              </a:spcAft>
            </a:pPr>
            <a:r>
              <a:rPr sz="850" i="0">
                <a:solidFill>
                  <a:srgbClr val="FFFFFF"/>
                </a:solidFill>
                <a:latin typeface="Google Sans Flex"/>
              </a:rPr>
              <a:t>global endpoint, google-genai SDK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Gemini 4 Argon: customer, builder, report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Gemini 3.5 Flash-Lite: guard, grounding, state, coach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Fallback chains keep the service up if a model fails</a:t>
            </a:r>
          </a:p>
        </p:txBody>
      </p:sp>
      <p:cxnSp>
        <p:nvCxnSpPr>
          <p:cNvPr id="128" name="Connector 127"/>
          <p:cNvCxnSpPr/>
          <p:nvPr/>
        </p:nvCxnSpPr>
        <p:spPr>
          <a:xfrm flipV="1">
            <a:off x="1280160" y="1865376"/>
            <a:ext cx="274320" cy="25603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063240" y="1856232"/>
            <a:ext cx="18288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4754880" y="1856232"/>
            <a:ext cx="18288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6537960" y="1856232"/>
            <a:ext cx="32004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3291840" y="2185416"/>
            <a:ext cx="2103120" cy="39319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5760720" y="2185416"/>
            <a:ext cx="0" cy="39319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320040" y="3657600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Per-turn pipeline: one streamed HTTP request, measured on the live service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0040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41147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Compliance pre-check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~1 s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189280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ounded Rectangle 137"/>
          <p:cNvSpPr/>
          <p:nvPr/>
        </p:nvSpPr>
        <p:spPr>
          <a:xfrm>
            <a:off x="2057400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48840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Retrieval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~0.25 s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630168" y="421538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/>
          <p:cNvSpPr/>
          <p:nvPr/>
        </p:nvSpPr>
        <p:spPr>
          <a:xfrm>
            <a:off x="379475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388619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Customer reply streams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first token 2-2.7 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36752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53211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62355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3 checks in parallel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grounding, state, coach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10488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726947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736091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FFFFFF"/>
                </a:solidFill>
                <a:latin typeface="Google Sans Flex SemiBold"/>
              </a:rPr>
              <a:t>Done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FFFFFF"/>
                </a:solidFill>
                <a:latin typeface="Google Sans Flex"/>
              </a:rPr>
              <a:t>full turn ~5 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0040" y="459028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Data at rest and embeddings stay in asia-east1; Gemini generation runs on the Vertex AI global endpoint [S27].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207008"/>
          <a:ext cx="539496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097280"/>
                <a:gridCol w="251460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Agent role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Persona &amp; scenario builder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Citation quotes must match the source chunk; human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Compliance Guard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Flag quote must be an exact span of the message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Customer persona (streamed)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Hidden needs held until trust is earned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Grounding post-check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Flags product claims the KB doesn't support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State: trust / patience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Deltas clamped; violations always cost trust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Coach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One sentence with KB citations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Report scorer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Verbatim evidence or capped at 50; gate at 59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Delivery coach (live, vision)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One camera frame per turn, not stored; no comments on looks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320040" y="4407408"/>
            <a:ext cx="5394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Fallbacks: Argon → 3.8 Flash; report → 3.1 Pro → 2.5 Pro. Thinking level low on every agent.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897880" y="1207008"/>
            <a:ext cx="2926080" cy="3474720"/>
          </a:xfrm>
          <a:prstGeom prst="roundRect">
            <a:avLst>
              <a:gd name="adj" fmla="val 2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6025896" y="1316736"/>
            <a:ext cx="2688336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How we use Google Cloud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Gemini: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seven agent roles via Vertex AI (google-genai SDK), plus a vision check in live calls; structured JSON, streaming, embeddings.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Cloud Run: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two stateless services: Next.js web and FastAPI API, autoscaling, min 1 instance.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Firestore: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all state: documents, vector chunks, personas, scenarios, sessions, reports.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Firebase: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Hosting serves the public URL and rewrites traffic to Cloud Run.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Also: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Python 3.12, Next.js 15, React, Server-Sent Events, Web Speech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20040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466344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US$0.05-0.20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6344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model cost per 15-20 turn practice session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9544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55848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&lt; US$2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55848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model cost per seat per month at 8 sessions per rep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99048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45352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US$25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45352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price per active seat per month (Team plan hypothesis)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23957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Customer view: 100-rep team, per year (estimate)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2807208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Value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05840" y="2807208"/>
            <a:ext cx="1219200" cy="29260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2225040" y="2807208"/>
            <a:ext cx="1587499" cy="292608"/>
          </a:xfrm>
          <a:prstGeom prst="rect">
            <a:avLst/>
          </a:prstGeom>
          <a:solidFill>
            <a:srgbClr val="4C8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3812540" y="2807208"/>
            <a:ext cx="393700" cy="292608"/>
          </a:xfrm>
          <a:prstGeom prst="rect">
            <a:avLst/>
          </a:prstGeom>
          <a:solidFill>
            <a:srgbClr val="A8C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4279392" y="2807208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~US$126k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20040" y="3218688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Cost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05840" y="3218688"/>
            <a:ext cx="1016000" cy="292608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2094992" y="3218688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~US$40k · roughly 3x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20040" y="3602736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Value: manager time US$48k, faster ramp US$62.5k, lower attrition US$15k. Cost: 100 seats x US$25 x 12 plus ~US$10k onboarding.</a:t>
            </a:r>
          </a:p>
          <a:p>
            <a:pPr algn="l">
              <a:spcAft>
                <a:spcPts val="400"/>
              </a:spcAft>
            </a:pPr>
            <a:r>
              <a:rPr sz="950" i="1">
                <a:solidFill>
                  <a:srgbClr val="5F6368"/>
                </a:solidFill>
                <a:latin typeface="Google Sans Flex"/>
              </a:rPr>
              <a:t>Coaching time alone only breaks even; the case rests on ramp and retention, which the pilot measures.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394959" y="2395728"/>
            <a:ext cx="3429000" cy="2240280"/>
          </a:xfrm>
          <a:prstGeom prst="roundRect">
            <a:avLst>
              <a:gd name="adj" fmla="val 326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522975" y="2487168"/>
            <a:ext cx="319125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Build and run cost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No custom model training, no servers to manage: managed Gemini, Cloud Run and Firestore.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Per-turn judgments use Flash-Lite; Gemini 4 Argon only where quality shows.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Onboarding a tenant = upload documents, approve personas, review a scenario.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Paid 8-week pilot: US$5k-10k. Enterprise: US$35-45 per seat with SSO and region pinning.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0040" y="472744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All figures are our own estimates and pricing hypotheses (docs/BUSINESS_CASE.md).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practice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practice_star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Mr. Tan as a 3D customer: he blinks, breathes, keeps eye contact and lip-syncs. His mood follows the trust and patience meters.</a:t>
            </a:r>
          </a:p>
        </p:txBody>
      </p:sp>
      <p:pic>
        <p:nvPicPr>
          <p:cNvPr id="138" name="Picture 137" descr="practice_guar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295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"This plan guarantees you 8% a year" is held before it is sent: the Guard quotes the words, names rule CC-01, and offers Edit message or Send anyway.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20040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9768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~1 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9768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Compliance Guard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048255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157984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2.0-2.7 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7984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first streamed token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776472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3886200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~5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6200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full turn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04688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614416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~6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14416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end-of-session report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32903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342631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106 / 106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42631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builder citations verified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0040" y="212140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Measured on the deployed Cloud Run build with real Gemini (Gemini 4 Argon, 3.5 Flash-Lite), 2026-10-16. Persona generation: 18-40 s.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20040" y="2468880"/>
            <a:ext cx="8503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Three demo scenarios, same engine, three industries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448056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A  SaaS sales: pricing objection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48056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539496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188038"/>
                </a:solidFill>
                <a:latin typeface="Google Sans Flex SemiBold"/>
              </a:rPr>
              <a:t>94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08760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88038"/>
                </a:solidFill>
                <a:latin typeface="Google Sans Flex SemiBold"/>
              </a:rPr>
              <a:t>Compliance PASS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8056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Uncovers the real concern (adoption, not price) and books a pilot on a fixed date.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209544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3337560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B  Insurance: guaranteed-return trap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337560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429000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C5221F"/>
                </a:solidFill>
                <a:latin typeface="Google Sans Flex SemiBold"/>
              </a:rPr>
              <a:t>FAIL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398264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C5221F"/>
                </a:solidFill>
                <a:latin typeface="Google Sans Flex SemiBold"/>
              </a:rPr>
              <a:t>Score capped: 30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337560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"Guarantees you 8% a year" held by the Guard (CC-01, high); sent anyway, the session fails.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99048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27064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  Support escalation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27064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6318504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B06000"/>
                </a:solidFill>
                <a:latin typeface="Google Sans Flex SemiBold"/>
              </a:rPr>
              <a:t>68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287768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B06000"/>
                </a:solidFill>
                <a:latin typeface="Google Sans Flex SemiBold"/>
              </a:rPr>
              <a:t>Compliance passed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27064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Refund promise flagged (RR-01); trainee recovers and the customer reveals the birthday gift.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66344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FFFFFF"/>
                </a:solidFill>
                <a:latin typeface="Google Sans Flex SemiBold"/>
              </a:rPr>
              <a:t>Now (shipped)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66344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Practice with a 3D AI customer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Live call: camera, hands-free voice, delivery feedback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Document-generated personas with citations and approval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Multi-agent turns: guard, customer, grounding, state, coach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Evidence-verified reports, manager readiness view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9544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3355848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Next (planned)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355848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Gemini Live native voice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Avatar lip-sync from real audio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On-device emotion cues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More APAC languages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99048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6245352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Later (planned)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45352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LMS and CRM integration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Scenarios from anonymized real calls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Certification tracks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Calibration against senior assessors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448056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188038"/>
                </a:solidFill>
                <a:latin typeface="Google Sans Flex SemiBold"/>
              </a:rPr>
              <a:t>+34% for novices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AI assistance raised issues resolved per hour by 34% for novice support agents (14% on average) [S3]. New hires are our users.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9544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3337560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Beachhead: Singapore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About 19,000 insurance agents [S30] sell in English under MAS fair-dealing rules [S29]. Then the Philippines and Hong Kong.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99048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6227064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Next step: a paid pilot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8 weeks with a control cohort. KPIs: time to first solo call, flags per 100 turns, manager hours per recruit.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98448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14081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1A73E8"/>
                </a:solidFill>
                <a:latin typeface="Google Sans Flex SemiBold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170992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  <a:hlinkClick r:id="rId5"/>
              </a:rPr>
              <a:t>https://github.com/jease0502/SkillCoach-AIBC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322576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548640" y="24323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C5221F"/>
                </a:solidFill>
                <a:latin typeface="Google Sans Flex SemiBold"/>
              </a:rPr>
              <a:t>Demo video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48640" y="2734056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</a:rPr>
              <a:t>[Demo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346704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548640" y="34564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188038"/>
                </a:solidFill>
                <a:latin typeface="Google Sans Flex SemiBold"/>
              </a:rPr>
              <a:t>Final product link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48640" y="3758184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  <a:hlinkClick r:id="rId6"/>
              </a:rPr>
              <a:t>https://skillcoach-aibc.web.app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20040" y="4389120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1">
                <a:solidFill>
                  <a:srgbClr val="5F6368"/>
                </a:solidFill>
                <a:latin typeface="Google Sans Flex"/>
              </a:rPr>
              <a:t>The product link opens without login. Demo scenarios A, B and C are preloaded; the dashboard includes labeled sample team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320040" y="120700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31520" y="120700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ATD, State of the Industry benchmarks (2024 and 2025 reports)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5"/>
              </a:rPr>
              <a:t>https://www.td.org/content/atd-blog/benchmarks-and-trends-from-the-2025-state-of-the-industry-report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20040" y="17830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31520" y="178308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Brynjolfsson, Li, Raymond, Generative AI at Work, NBER w31161; QJE 2025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6"/>
              </a:rPr>
              <a:t>https://www.nber.org/papers/w31161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0040" y="2359152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31520" y="235915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Philippine contact center attrition (newsbytes.ph)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7"/>
              </a:rPr>
              <a:t>https://newsbytes.ph/2024/05/28/attrition-rates-in-ph-contact-center-firms-continue-to-go-down/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20040" y="2935224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31520" y="2935224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Contact center attrition 2024 (NICE 39% global), as reported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8"/>
              </a:rPr>
              <a:t>https://stealthagents.com/research/bpo-agent-attrition-statistics-2026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040" y="3511296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351129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NCU thesis citing FSC Insurance Bureau: first-year retention of new life-insurance reps below 50%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9"/>
              </a:rPr>
              <a:t>https://etd.lib.ncu.edu.tw/detail/56554d0867235710166b1752acffa4ba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08736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31520" y="408736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Hyperbound US$15M Series A (Sept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0"/>
              </a:rPr>
              <a:t>https://www.hyperbound.ai/blog/series-a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663440" y="120700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074920" y="120700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Second Nature US$22M Series B (Oct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1"/>
              </a:rPr>
              <a:t>https://pulse2.com/second-nature-22-million-series-b-raised-for-expanding-ai-based-sales-and-service-training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63440" y="17830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074920" y="178308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HKMA press release: Hang Seng Bank fined HK$66.4M (27 Jan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2"/>
              </a:rPr>
              <a:t>https://www.hkma.gov.hk/eng/news-and-media/press-releases/2025/01/20250127-4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63440" y="2359152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074920" y="235915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Google Cloud: Vertex AI generative AI data residency (checked 2026-10-15)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3"/>
              </a:rPr>
              <a:t>https://docs.cloud.google.com/vertex-ai/generative-ai/docs/learn/data-residency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63440" y="2935224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074920" y="2935224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MAS Guidelines on Fair Dealing (FAA-G11, May 2024)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4"/>
              </a:rPr>
              <a:t>https://www.mas.gov.sg/-/media/mas-media-library/fair-dealing-guidelines-30-may-2024.pdf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63440" y="3511296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S30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74920" y="351129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Insurance Business Asia: Singapore insurance agent numbers (~19,000)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5"/>
              </a:rPr>
              <a:t>https://www.insurancebusinessmag.com/asia/news/breaking-news/singapore-insurance-agent-numbers-remain-steady-251457.aspx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Figures marked (estimate) are our own model. Full list with notes: docs/BUSINESS_CASE.md, section 12.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knowledge and team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persona_detai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An approved persona: profile, hidden needs and objections, each grounded in cited source passages.</a:t>
            </a:r>
          </a:p>
        </p:txBody>
      </p:sp>
      <p:pic>
        <p:nvPicPr>
          <p:cNvPr id="138" name="Picture 137" descr="dashboar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5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Manager readiness view: who is ready to go live, weakest skills, top violations (sample team data, labeled in the app).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evidence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report_eviden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Skills, with evidence: each score quotes the trainee's own words; select a quote to jump to that turn in the transcript.</a:t>
            </a:r>
          </a:p>
        </p:txBody>
      </p:sp>
      <p:pic>
        <p:nvPicPr>
          <p:cNvPr id="138" name="Picture 137" descr="report_violati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5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Compliance violations name the rule and the exact phrase; strengths and next steps turn the grade into a coaching plan.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coaching and the report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practice_sess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Later in the session: trust has dropped, the coach suggests the next move, and every customer reply cites the knowledge base.</a:t>
            </a:r>
          </a:p>
        </p:txBody>
      </p:sp>
      <p:pic>
        <p:nvPicPr>
          <p:cNvPr id="138" name="Picture 137" descr="repor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5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The report: one high-severity violation fails the compliance gate and caps the score (28 here), however good the rest was.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