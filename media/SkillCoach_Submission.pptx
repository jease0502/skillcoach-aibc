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74" r:id="rId30"/>
    <p:sldId id="273" r:id="rId29"/>
    <p:sldId id="272" r:id="rId28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jpg"/><Relationship Id="rId6" Type="http://schemas.openxmlformats.org/officeDocument/2006/relationships/image" Target="../media/image6.jpg"/><Relationship Id="rId7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3.jpg"/><Relationship Id="rId6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github.com/jease0502/SkillCoach-AIBC" TargetMode="External"/><Relationship Id="rId6" Type="http://schemas.openxmlformats.org/officeDocument/2006/relationships/hyperlink" Target="https://skillcoach-aibc.web.app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www.td.org/content/atd-blog/benchmarks-and-trends-from-the-2025-state-of-the-industry-report" TargetMode="External"/><Relationship Id="rId6" Type="http://schemas.openxmlformats.org/officeDocument/2006/relationships/hyperlink" Target="https://www.nber.org/papers/w31161" TargetMode="External"/><Relationship Id="rId7" Type="http://schemas.openxmlformats.org/officeDocument/2006/relationships/hyperlink" Target="https://newsbytes.ph/2024/05/28/attrition-rates-in-ph-contact-center-firms-continue-to-go-down/" TargetMode="External"/><Relationship Id="rId8" Type="http://schemas.openxmlformats.org/officeDocument/2006/relationships/hyperlink" Target="https://stealthagents.com/research/bpo-agent-attrition-statistics-2026" TargetMode="External"/><Relationship Id="rId9" Type="http://schemas.openxmlformats.org/officeDocument/2006/relationships/hyperlink" Target="https://etd.lib.ncu.edu.tw/detail/56554d0867235710166b1752acffa4ba" TargetMode="External"/><Relationship Id="rId10" Type="http://schemas.openxmlformats.org/officeDocument/2006/relationships/hyperlink" Target="https://www.hyperbound.ai/blog/series-a" TargetMode="External"/><Relationship Id="rId11" Type="http://schemas.openxmlformats.org/officeDocument/2006/relationships/hyperlink" Target="https://pulse2.com/second-nature-22-million-series-b-raised-for-expanding-ai-based-sales-and-service-training" TargetMode="External"/><Relationship Id="rId12" Type="http://schemas.openxmlformats.org/officeDocument/2006/relationships/hyperlink" Target="https://www.hkma.gov.hk/eng/news-and-media/press-releases/2025/01/20250127-4" TargetMode="External"/><Relationship Id="rId13" Type="http://schemas.openxmlformats.org/officeDocument/2006/relationships/hyperlink" Target="https://docs.cloud.google.com/vertex-ai/generative-ai/docs/learn/data-residency" TargetMode="External"/><Relationship Id="rId14" Type="http://schemas.openxmlformats.org/officeDocument/2006/relationships/hyperlink" Target="https://www.mas.gov.sg/-/media/mas-media-library/fair-dealing-guidelines-30-may-2024.pdf" TargetMode="External"/><Relationship Id="rId15" Type="http://schemas.openxmlformats.org/officeDocument/2006/relationships/hyperlink" Target="https://www.insurancebusinessmag.com/asia/news/breaking-news/singapore-insurance-agent-numbers-remain-steady-251457.aspx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4.jpg"/><Relationship Id="rId5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 [Team name]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 [Team leader name]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lang="en-GB" sz="1100">
                <a:latin typeface="Google Sans Flex"/>
                <a:ea typeface="Google Sans Flex"/>
                <a:cs typeface="Google Sans Flex"/>
                <a:sym typeface="Google Sans Flex"/>
              </a:rPr>
              <a:t> Customer-facing staff in regulated industries learn on real customers, because realistic, scored practice needs senior people nobody can spare. One wrong sentence, such as "this plan guarantees you 8% a year", is a conduct failure. SkillCoach turns a company's own documents into AI practice customers with a pre-send Compliance Guard and evidence-verified scores.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20040" y="1207008"/>
            <a:ext cx="4663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i="0">
                <a:solidFill>
                  <a:srgbClr val="202124"/>
                </a:solidFill>
                <a:latin typeface="Google Sans Flex SemiBold"/>
              </a:rPr>
              <a:t>SkillCoach: </a:t>
            </a:r>
            <a:r>
              <a:rPr sz="2000" i="0">
                <a:solidFill>
                  <a:srgbClr val="1A73E8"/>
                </a:solidFill>
                <a:latin typeface="Google Sans Flex SemiBold"/>
              </a:rPr>
              <a:t>practice the conversation before it counts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20040" y="2002536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900" i="0">
                <a:solidFill>
                  <a:srgbClr val="1A73E8"/>
                </a:solidFill>
                <a:latin typeface="Google Sans Flex SemiBold"/>
              </a:rPr>
              <a:t>Problem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52728" y="1984248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New hires in insurance, banking, sales and support learn on real customers. Practice depends on senior colleagues, and one non-compliant sentence is a conduct failure.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20040" y="2734056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900" i="0">
                <a:solidFill>
                  <a:srgbClr val="1A73E8"/>
                </a:solidFill>
                <a:latin typeface="Google Sans Flex SemiBold"/>
              </a:rPr>
              <a:t>Idea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52728" y="2715768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Upload manuals and policies; Gemini drafts realistic AI customers that cite the source passages. A trainer approves them, and trainees practice any time with a 3D customer and a coach on every turn.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20040" y="3465575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900" i="0">
                <a:solidFill>
                  <a:srgbClr val="1A73E8"/>
                </a:solidFill>
                <a:latin typeface="Google Sans Flex SemiBold"/>
              </a:rPr>
              <a:t>Trust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52728" y="3447287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A Compliance Guard holds a risky message before it is sent. Every score quotes the trainee's own words, and one serious violation fails the session.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20040" y="4197095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900" i="0">
                <a:solidFill>
                  <a:srgbClr val="1A73E8"/>
                </a:solidFill>
                <a:latin typeface="Google Sans Flex SemiBold"/>
              </a:rPr>
              <a:t>Built 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52728" y="4178807"/>
            <a:ext cx="37490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Gemini on Vertex AI, Cloud Run, Firestore and Firebase Hosting. Theme: Future of Work &amp; Enterprise Productivity.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257800" y="1207008"/>
            <a:ext cx="3566160" cy="3611880"/>
          </a:xfrm>
          <a:prstGeom prst="roundRect">
            <a:avLst>
              <a:gd name="adj" fmla="val 3076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5394960" y="129844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0">
                <a:solidFill>
                  <a:srgbClr val="1A73E8"/>
                </a:solidFill>
                <a:latin typeface="Google Sans Flex SemiBold"/>
              </a:rPr>
              <a:t>Live app: a 3D customer, and the Guard holds a risky message</a:t>
            </a:r>
          </a:p>
        </p:txBody>
      </p:sp>
      <p:pic>
        <p:nvPicPr>
          <p:cNvPr id="83" name="Picture 82" descr="practice_guar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664208"/>
            <a:ext cx="3291840" cy="205740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84" name="TextBox 83"/>
          <p:cNvSpPr txBox="1"/>
          <p:nvPr/>
        </p:nvSpPr>
        <p:spPr>
          <a:xfrm>
            <a:off x="5394960" y="3904488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Mr. Tan, a cautious retiree, is rendered as a 3D customer. The trainee types a guaranteed-return promise; the Guard quotes the phrase, names rule CC-01 and offers Edit message or Send anyway.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20040" y="1207008"/>
            <a:ext cx="2724912" cy="3017520"/>
          </a:xfrm>
          <a:prstGeom prst="roundRect">
            <a:avLst>
              <a:gd name="adj" fmla="val 268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466344" y="1316736"/>
            <a:ext cx="2450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i="0">
                <a:solidFill>
                  <a:srgbClr val="1A73E8"/>
                </a:solidFill>
                <a:latin typeface="Google Sans Flex SemiBold"/>
              </a:rPr>
              <a:t>How is it different?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6344" y="1709928"/>
            <a:ext cx="245059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6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Personas come from the company's own documents, with a citation on every hidden need and objection.</a:t>
            </a:r>
          </a:p>
          <a:p>
            <a:pPr algn="l" marL="146304" indent="-146304">
              <a:spcAft>
                <a:spcPts val="6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A trainer approves each persona before anyone practices.</a:t>
            </a:r>
          </a:p>
          <a:p>
            <a:pPr algn="l" marL="146304" indent="-146304">
              <a:spcAft>
                <a:spcPts val="6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A compliance gate with verbatim evidence: a great talk with one forbidden promise still fails.</a:t>
            </a:r>
          </a:p>
          <a:p>
            <a:pPr algn="l" marL="146304" indent="-146304">
              <a:spcAft>
                <a:spcPts val="6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AI role-play tools (Hyperbound, Second Nature) focus on US B2B selling, not regulated APAC products.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209544" y="1207008"/>
            <a:ext cx="2724912" cy="3017520"/>
          </a:xfrm>
          <a:prstGeom prst="roundRect">
            <a:avLst>
              <a:gd name="adj" fmla="val 268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3355848" y="1316736"/>
            <a:ext cx="2450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i="0">
                <a:solidFill>
                  <a:srgbClr val="188038"/>
                </a:solidFill>
                <a:latin typeface="Google Sans Flex SemiBold"/>
              </a:rPr>
              <a:t>How it solves the problem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55848" y="1709928"/>
            <a:ext cx="245059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6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Unlimited private practice with no senior colleague in the room.</a:t>
            </a:r>
          </a:p>
          <a:p>
            <a:pPr algn="l" marL="146304" indent="-146304">
              <a:spcAft>
                <a:spcPts val="6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Mistakes are caught in practice, about 1 s before the message is sent, instead of in front of a customer.</a:t>
            </a:r>
          </a:p>
          <a:p>
            <a:pPr algn="l" marL="146304" indent="-146304">
              <a:spcAft>
                <a:spcPts val="6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Managers see who is ready to go live from verified reports, not gut feel.</a:t>
            </a:r>
          </a:p>
          <a:p>
            <a:pPr algn="l" marL="146304" indent="-146304">
              <a:spcAft>
                <a:spcPts val="6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Expert know-how becomes a scenario the whole team can practice.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099048" y="1207008"/>
            <a:ext cx="2724912" cy="3017520"/>
          </a:xfrm>
          <a:prstGeom prst="roundRect">
            <a:avLst>
              <a:gd name="adj" fmla="val 2684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6245352" y="1316736"/>
            <a:ext cx="2450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i="0">
                <a:solidFill>
                  <a:srgbClr val="C5221F"/>
                </a:solidFill>
                <a:latin typeface="Google Sans Flex SemiBold"/>
              </a:rPr>
              <a:t>USP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45352" y="1709928"/>
            <a:ext cx="245059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6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Documents in, approved and cited personas out, in under a minute.</a:t>
            </a:r>
          </a:p>
          <a:p>
            <a:pPr algn="l" marL="146304" indent="-146304">
              <a:spcAft>
                <a:spcPts val="6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Seven Gemini agent roles per turn, each with its own schema and guardrail.</a:t>
            </a:r>
          </a:p>
          <a:p>
            <a:pPr algn="l" marL="146304" indent="-146304">
              <a:spcAft>
                <a:spcPts val="6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The server, not the model, decides what counts as evidence: quotes must match the source or transcript.</a:t>
            </a:r>
          </a:p>
          <a:p>
            <a:pPr algn="l" marL="146304" indent="-146304">
              <a:spcAft>
                <a:spcPts val="6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Data at rest in the customer's APAC region.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0040" y="4361688"/>
            <a:ext cx="8503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i="1">
                <a:solidFill>
                  <a:srgbClr val="5F6368"/>
                </a:solidFill>
                <a:latin typeface="Google Sans Flex"/>
              </a:rPr>
              <a:t>Competitor focus from public positioning (Hyperbound US$15M Series A [S16]; Second Nature US$22M Series B [S17]). Sources on the Sources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20040" y="1207008"/>
            <a:ext cx="2724912" cy="1024128"/>
          </a:xfrm>
          <a:prstGeom prst="roundRect">
            <a:avLst>
              <a:gd name="adj" fmla="val 7142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448056" y="1325880"/>
            <a:ext cx="256032" cy="25603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i="0">
                <a:solidFill>
                  <a:srgbClr val="FFFFFF"/>
                </a:solidFill>
                <a:latin typeface="Google Sans Flex SemiBold"/>
              </a:rP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5528" y="13167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Persona builder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48056" y="1618488"/>
            <a:ext cx="24871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Upload manuals; Gemini drafts customer personas and scenarios with citations to source passages.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209544" y="1207008"/>
            <a:ext cx="2724912" cy="1024128"/>
          </a:xfrm>
          <a:prstGeom prst="roundRect">
            <a:avLst>
              <a:gd name="adj" fmla="val 7142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3337560" y="1325880"/>
            <a:ext cx="256032" cy="25603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i="0">
                <a:solidFill>
                  <a:srgbClr val="FFFFFF"/>
                </a:solidFill>
                <a:latin typeface="Google Sans Flex SemiBold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685032" y="13167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Human approval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337560" y="1618488"/>
            <a:ext cx="24871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Personas start as drafts. Only approved personas can back a practice scenario.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099048" y="1207008"/>
            <a:ext cx="2724912" cy="1024128"/>
          </a:xfrm>
          <a:prstGeom prst="roundRect">
            <a:avLst>
              <a:gd name="adj" fmla="val 7142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6227064" y="1325880"/>
            <a:ext cx="256032" cy="25603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i="0">
                <a:solidFill>
                  <a:srgbClr val="FFFFFF"/>
                </a:solidFill>
                <a:latin typeface="Google Sans Flex SemiBold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574536" y="13167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Live AI customer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27064" y="1618488"/>
            <a:ext cx="24871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Streamed replies, hidden needs revealed only when trust is earned, facts limited to the knowledge base.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20040" y="2359152"/>
            <a:ext cx="2724912" cy="1024128"/>
          </a:xfrm>
          <a:prstGeom prst="roundRect">
            <a:avLst>
              <a:gd name="adj" fmla="val 7142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448056" y="2478024"/>
            <a:ext cx="256032" cy="25603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i="0">
                <a:solidFill>
                  <a:srgbClr val="FFFFFF"/>
                </a:solidFill>
                <a:latin typeface="Google Sans Flex SemiBold"/>
              </a:rP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95528" y="246888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Compliance Guard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48056" y="2770632"/>
            <a:ext cx="24871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Checks each message before it is sent, quotes the phrase and names the rule. Edit or send anyway.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209544" y="2359152"/>
            <a:ext cx="2724912" cy="1024128"/>
          </a:xfrm>
          <a:prstGeom prst="roundRect">
            <a:avLst>
              <a:gd name="adj" fmla="val 7142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3337560" y="2478024"/>
            <a:ext cx="256032" cy="25603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i="0">
                <a:solidFill>
                  <a:srgbClr val="FFFFFF"/>
                </a:solidFill>
                <a:latin typeface="Google Sans Flex SemiBold"/>
              </a:rPr>
              <a:t>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85032" y="246888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Coach on every turn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37560" y="2770632"/>
            <a:ext cx="24871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A one-sentence hint grounded in the company playbook, with knowledge-base citations.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6099048" y="2359152"/>
            <a:ext cx="2724912" cy="1024128"/>
          </a:xfrm>
          <a:prstGeom prst="roundRect">
            <a:avLst>
              <a:gd name="adj" fmla="val 7142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6227064" y="2478024"/>
            <a:ext cx="256032" cy="25603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i="0">
                <a:solidFill>
                  <a:srgbClr val="FFFFFF"/>
                </a:solidFill>
                <a:latin typeface="Google Sans Flex SemiBold"/>
              </a:rPr>
              <a:t>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574536" y="246888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Trust and patience meters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227064" y="2770632"/>
            <a:ext cx="24871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The customer's state updates every turn, so trainees see the effect of their words.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20040" y="3511296"/>
            <a:ext cx="2724912" cy="1024128"/>
          </a:xfrm>
          <a:prstGeom prst="roundRect">
            <a:avLst>
              <a:gd name="adj" fmla="val 7142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448056" y="3630168"/>
            <a:ext cx="256032" cy="25603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i="0">
                <a:solidFill>
                  <a:srgbClr val="FFFFFF"/>
                </a:solidFill>
                <a:latin typeface="Google Sans Flex SemiBold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95528" y="3621024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Evidence-verified report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48056" y="3922776"/>
            <a:ext cx="24871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Each score quotes the trainee's words. No verified evidence caps a skill at 50; a serious violation caps the total at 59.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209544" y="3511296"/>
            <a:ext cx="2724912" cy="1024128"/>
          </a:xfrm>
          <a:prstGeom prst="roundRect">
            <a:avLst>
              <a:gd name="adj" fmla="val 7142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3337560" y="3630168"/>
            <a:ext cx="256032" cy="25603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i="0">
                <a:solidFill>
                  <a:srgbClr val="FFFFFF"/>
                </a:solidFill>
                <a:latin typeface="Google Sans Flex SemiBold"/>
              </a:rPr>
              <a:t>8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85032" y="3621024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Manager readiness view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37560" y="3922776"/>
            <a:ext cx="24871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Team dashboard: ready-to-go-live count, weakest skills and top compliance violations.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6099048" y="3511296"/>
            <a:ext cx="2724912" cy="1024128"/>
          </a:xfrm>
          <a:prstGeom prst="roundRect">
            <a:avLst>
              <a:gd name="adj" fmla="val 7142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6227064" y="3630168"/>
            <a:ext cx="256032" cy="256032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i="0">
                <a:solidFill>
                  <a:srgbClr val="FFFFFF"/>
                </a:solidFill>
                <a:latin typeface="Google Sans Flex SemiBold"/>
              </a:rPr>
              <a:t>9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574536" y="3621024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3D customer and voice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27064" y="3922776"/>
            <a:ext cx="24871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A 3D customer that lip-syncs, blinks and shows its mood from the trust meter; speech input and spoken replies.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320040" y="1207008"/>
            <a:ext cx="292608" cy="29260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i="0">
                <a:solidFill>
                  <a:srgbClr val="FFFFFF"/>
                </a:solidFill>
                <a:latin typeface="Google Sans Flex SemiBold"/>
              </a:rPr>
              <a:t>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4088" y="1188720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i="0">
                <a:solidFill>
                  <a:srgbClr val="202124"/>
                </a:solidFill>
                <a:latin typeface="Google Sans Flex SemiBold"/>
              </a:rPr>
              <a:t>Build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709928" y="1243584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900" i="0">
                <a:solidFill>
                  <a:srgbClr val="1A73E8"/>
                </a:solidFill>
                <a:latin typeface="Google Sans Flex SemiBold"/>
              </a:rPr>
              <a:t>Admin / trainer</a:t>
            </a:r>
          </a:p>
        </p:txBody>
      </p:sp>
      <p:pic>
        <p:nvPicPr>
          <p:cNvPr id="99" name="Picture 98" descr="persona_detai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1" y="1645919"/>
            <a:ext cx="2340864" cy="146304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0" name="TextBox 99"/>
          <p:cNvSpPr txBox="1"/>
          <p:nvPr/>
        </p:nvSpPr>
        <p:spPr>
          <a:xfrm>
            <a:off x="320040" y="3218688"/>
            <a:ext cx="257860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5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Upload manuals and policies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Gemini drafts personas + scenarios with citations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Trainer reviews and approves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2962656" y="2377440"/>
            <a:ext cx="256032" cy="0"/>
          </a:xfrm>
          <a:prstGeom prst="line">
            <a:avLst/>
          </a:prstGeom>
          <a:ln w="15875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3282696" y="1207008"/>
            <a:ext cx="292608" cy="29260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i="0">
                <a:solidFill>
                  <a:srgbClr val="FFFFFF"/>
                </a:solidFill>
                <a:latin typeface="Google Sans Flex SemiBold"/>
              </a:rPr>
              <a:t>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666744" y="1188720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i="0">
                <a:solidFill>
                  <a:srgbClr val="202124"/>
                </a:solidFill>
                <a:latin typeface="Google Sans Flex SemiBold"/>
              </a:rPr>
              <a:t>Practice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672584" y="1243584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900" i="0">
                <a:solidFill>
                  <a:srgbClr val="1A73E8"/>
                </a:solidFill>
                <a:latin typeface="Google Sans Flex SemiBold"/>
              </a:rPr>
              <a:t>Trainee</a:t>
            </a:r>
          </a:p>
        </p:txBody>
      </p:sp>
      <p:pic>
        <p:nvPicPr>
          <p:cNvPr id="105" name="Picture 104" descr="practice_guar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1645919"/>
            <a:ext cx="2340864" cy="146304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6" name="TextBox 105"/>
          <p:cNvSpPr txBox="1"/>
          <p:nvPr/>
        </p:nvSpPr>
        <p:spPr>
          <a:xfrm>
            <a:off x="3282696" y="3218688"/>
            <a:ext cx="257860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5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Guard pre-checks each message (~1 s)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AI customer streams a reply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Grounding, state and coach run in parallel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5925312" y="2377440"/>
            <a:ext cx="256032" cy="0"/>
          </a:xfrm>
          <a:prstGeom prst="line">
            <a:avLst/>
          </a:prstGeom>
          <a:ln w="15875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6245351" y="1207008"/>
            <a:ext cx="292608" cy="292608"/>
          </a:xfrm>
          <a:prstGeom prst="ellipse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i="0">
                <a:solidFill>
                  <a:srgbClr val="FFFFFF"/>
                </a:solidFill>
                <a:latin typeface="Google Sans Flex SemiBold"/>
              </a:rPr>
              <a:t>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629399" y="1188720"/>
            <a:ext cx="1097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i="0">
                <a:solidFill>
                  <a:srgbClr val="202124"/>
                </a:solidFill>
                <a:latin typeface="Google Sans Flex SemiBold"/>
              </a:rPr>
              <a:t>Prove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635239" y="1243584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/>
          <a:lstStyle/>
          <a:p>
            <a:pPr algn="ctr"/>
            <a:r>
              <a:rPr sz="900" i="0">
                <a:solidFill>
                  <a:srgbClr val="1A73E8"/>
                </a:solidFill>
                <a:latin typeface="Google Sans Flex SemiBold"/>
              </a:rPr>
              <a:t>Manager</a:t>
            </a:r>
          </a:p>
        </p:txBody>
      </p:sp>
      <p:pic>
        <p:nvPicPr>
          <p:cNvPr id="111" name="Picture 110" descr="repor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3" y="1645919"/>
            <a:ext cx="2340864" cy="146304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12" name="TextBox 111"/>
          <p:cNvSpPr txBox="1"/>
          <p:nvPr/>
        </p:nvSpPr>
        <p:spPr>
          <a:xfrm>
            <a:off x="6245351" y="3218688"/>
            <a:ext cx="257860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5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Report with verified quotes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Compliance gate (pass / fail)</a:t>
            </a:r>
          </a:p>
          <a:p>
            <a:pPr algn="l" marL="146304" indent="-146304">
              <a:spcAft>
                <a:spcPts val="500"/>
              </a:spcAft>
              <a:buChar char="•"/>
            </a:pPr>
            <a:r>
              <a:rPr sz="1050" i="0">
                <a:solidFill>
                  <a:srgbClr val="202124"/>
                </a:solidFill>
                <a:latin typeface="Google Sans Flex"/>
              </a:rPr>
              <a:t>Readiness dashboard: who can go live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i="1">
                <a:solidFill>
                  <a:srgbClr val="5F6368"/>
                </a:solidFill>
                <a:latin typeface="Google Sans Flex"/>
              </a:rPr>
              <a:t>Screens from the deployed app: a persona grounded in cited sources, the 3D customer with the Compliance Guard card, and the evidence-verified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 / mock diagrams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hom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396" y="1207008"/>
            <a:ext cx="2574950" cy="1609344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5" name="TextBox 104"/>
          <p:cNvSpPr txBox="1"/>
          <p:nvPr/>
        </p:nvSpPr>
        <p:spPr>
          <a:xfrm>
            <a:off x="320040" y="2843784"/>
            <a:ext cx="41696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1">
                <a:solidFill>
                  <a:srgbClr val="5F6368"/>
                </a:solidFill>
                <a:latin typeface="Google Sans Flex"/>
              </a:rPr>
              <a:t>Home: what SkillCoach does, start the 3-minute demo</a:t>
            </a:r>
          </a:p>
        </p:txBody>
      </p:sp>
      <p:pic>
        <p:nvPicPr>
          <p:cNvPr id="106" name="Picture 105" descr="knowled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1652" y="1207008"/>
            <a:ext cx="2574950" cy="1609344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7" name="TextBox 106"/>
          <p:cNvSpPr txBox="1"/>
          <p:nvPr/>
        </p:nvSpPr>
        <p:spPr>
          <a:xfrm>
            <a:off x="4654295" y="2843784"/>
            <a:ext cx="41696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1">
                <a:solidFill>
                  <a:srgbClr val="5F6368"/>
                </a:solidFill>
                <a:latin typeface="Google Sans Flex"/>
              </a:rPr>
              <a:t>Knowledge base: upload manuals and policies, test a search</a:t>
            </a:r>
          </a:p>
        </p:txBody>
      </p:sp>
      <p:pic>
        <p:nvPicPr>
          <p:cNvPr id="108" name="Picture 107" descr="persona_new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7396" y="3127248"/>
            <a:ext cx="2574950" cy="1609344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9" name="TextBox 108"/>
          <p:cNvSpPr txBox="1"/>
          <p:nvPr/>
        </p:nvSpPr>
        <p:spPr>
          <a:xfrm>
            <a:off x="320040" y="4764024"/>
            <a:ext cx="41696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1">
                <a:solidFill>
                  <a:srgbClr val="5F6368"/>
                </a:solidFill>
                <a:latin typeface="Google Sans Flex"/>
              </a:rPr>
              <a:t>Persona builder: describe, generate from documents, or fill in</a:t>
            </a:r>
          </a:p>
        </p:txBody>
      </p:sp>
      <p:pic>
        <p:nvPicPr>
          <p:cNvPr id="110" name="Picture 109" descr="scenarios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1652" y="3127248"/>
            <a:ext cx="2574950" cy="1609344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11" name="TextBox 110"/>
          <p:cNvSpPr txBox="1"/>
          <p:nvPr/>
        </p:nvSpPr>
        <p:spPr>
          <a:xfrm>
            <a:off x="4654295" y="4764024"/>
            <a:ext cx="416966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1">
                <a:solidFill>
                  <a:srgbClr val="5F6368"/>
                </a:solidFill>
                <a:latin typeface="Google Sans Flex"/>
              </a:rPr>
              <a:t>Scenarios: one customer, rubric and rules each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1417320" y="1188720"/>
            <a:ext cx="5257800" cy="2331720"/>
          </a:xfrm>
          <a:prstGeom prst="roundRect">
            <a:avLst>
              <a:gd name="adj" fmla="val 3921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1536192" y="122529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0">
                <a:solidFill>
                  <a:srgbClr val="1A73E8"/>
                </a:solidFill>
                <a:latin typeface="Google Sans Flex SemiBold"/>
              </a:rPr>
              <a:t>Google Cloud · asia-east1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20040" y="1892808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411479" y="1947672"/>
            <a:ext cx="777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i="0">
                <a:solidFill>
                  <a:srgbClr val="202124"/>
                </a:solidFill>
                <a:latin typeface="Google Sans Flex SemiBold"/>
              </a:rPr>
              <a:t>Browser</a:t>
            </a:r>
          </a:p>
          <a:p>
            <a:pPr algn="l">
              <a:spcAft>
                <a:spcPts val="100"/>
              </a:spcAft>
            </a:pPr>
            <a:r>
              <a:rPr sz="850" i="0">
                <a:solidFill>
                  <a:srgbClr val="5F6368"/>
                </a:solidFill>
                <a:latin typeface="Google Sans Flex"/>
              </a:rPr>
              <a:t>trainee, admin, manager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1554480" y="1527048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645920" y="1581912"/>
            <a:ext cx="1325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i="0">
                <a:solidFill>
                  <a:srgbClr val="202124"/>
                </a:solidFill>
                <a:latin typeface="Google Sans Flex SemiBold"/>
              </a:rPr>
              <a:t>Firebase Hosting</a:t>
            </a:r>
          </a:p>
          <a:p>
            <a:pPr algn="l">
              <a:spcAft>
                <a:spcPts val="100"/>
              </a:spcAft>
            </a:pPr>
            <a:r>
              <a:rPr sz="850" i="0">
                <a:solidFill>
                  <a:srgbClr val="5F6368"/>
                </a:solidFill>
                <a:latin typeface="Google Sans Flex"/>
              </a:rPr>
              <a:t>public URL, rewrites to Cloud Run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246120" y="1527048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3337560" y="1581912"/>
            <a:ext cx="1325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i="0">
                <a:solidFill>
                  <a:srgbClr val="202124"/>
                </a:solidFill>
                <a:latin typeface="Google Sans Flex SemiBold"/>
              </a:rPr>
              <a:t>Cloud Run: web</a:t>
            </a:r>
          </a:p>
          <a:p>
            <a:pPr algn="l">
              <a:spcAft>
                <a:spcPts val="100"/>
              </a:spcAft>
            </a:pPr>
            <a:r>
              <a:rPr sz="850" i="0">
                <a:solidFill>
                  <a:srgbClr val="5F6368"/>
                </a:solidFill>
                <a:latin typeface="Google Sans Flex"/>
              </a:rPr>
              <a:t>Next.js 15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937760" y="1527048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5029200" y="1581912"/>
            <a:ext cx="1417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i="0">
                <a:solidFill>
                  <a:srgbClr val="202124"/>
                </a:solidFill>
                <a:latin typeface="Google Sans Flex SemiBold"/>
              </a:rPr>
              <a:t>Cloud Run: api</a:t>
            </a:r>
          </a:p>
          <a:p>
            <a:pPr algn="l">
              <a:spcAft>
                <a:spcPts val="100"/>
              </a:spcAft>
            </a:pPr>
            <a:r>
              <a:rPr sz="850" i="0">
                <a:solidFill>
                  <a:srgbClr val="5F6368"/>
                </a:solidFill>
                <a:latin typeface="Google Sans Flex"/>
              </a:rPr>
              <a:t>FastAPI, Server-Sent Events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554480" y="2578608"/>
            <a:ext cx="2331720" cy="77724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1645920" y="2633472"/>
            <a:ext cx="2148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i="0">
                <a:solidFill>
                  <a:srgbClr val="202124"/>
                </a:solidFill>
                <a:latin typeface="Google Sans Flex SemiBold"/>
              </a:rPr>
              <a:t>Firestore</a:t>
            </a:r>
          </a:p>
          <a:p>
            <a:pPr algn="l">
              <a:spcAft>
                <a:spcPts val="100"/>
              </a:spcAft>
            </a:pPr>
            <a:r>
              <a:rPr sz="850" i="0">
                <a:solidFill>
                  <a:srgbClr val="5F6368"/>
                </a:solidFill>
                <a:latin typeface="Google Sans Flex"/>
              </a:rPr>
              <a:t>documents, chunks + vectors, personas, scenarios, sessions, reports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069080" y="2578608"/>
            <a:ext cx="2468880" cy="77724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4160520" y="2633472"/>
            <a:ext cx="2286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i="0">
                <a:solidFill>
                  <a:srgbClr val="202124"/>
                </a:solidFill>
                <a:latin typeface="Google Sans Flex SemiBold"/>
              </a:rPr>
              <a:t>gemini-embedding-001</a:t>
            </a:r>
          </a:p>
          <a:p>
            <a:pPr algn="l">
              <a:spcAft>
                <a:spcPts val="100"/>
              </a:spcAft>
            </a:pPr>
            <a:r>
              <a:rPr sz="850" i="0">
                <a:solidFill>
                  <a:srgbClr val="5F6368"/>
                </a:solidFill>
                <a:latin typeface="Google Sans Flex"/>
              </a:rPr>
              <a:t>Vertex AI, same region; retrieval ~0.25 s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858000" y="1188720"/>
            <a:ext cx="1965960" cy="2331720"/>
          </a:xfrm>
          <a:prstGeom prst="roundRect">
            <a:avLst>
              <a:gd name="adj" fmla="val 4651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6967728" y="1280160"/>
            <a:ext cx="17830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i="0">
                <a:solidFill>
                  <a:srgbClr val="FFFFFF"/>
                </a:solidFill>
                <a:latin typeface="Google Sans Flex SemiBold"/>
              </a:rPr>
              <a:t>Vertex AI: Gemini</a:t>
            </a:r>
          </a:p>
          <a:p>
            <a:pPr algn="l">
              <a:spcAft>
                <a:spcPts val="500"/>
              </a:spcAft>
            </a:pPr>
            <a:r>
              <a:rPr sz="850" i="0">
                <a:solidFill>
                  <a:srgbClr val="FFFFFF"/>
                </a:solidFill>
                <a:latin typeface="Google Sans Flex"/>
              </a:rPr>
              <a:t>global endpoint, google-genai SDK</a:t>
            </a:r>
          </a:p>
          <a:p>
            <a:pPr algn="l">
              <a:spcAft>
                <a:spcPts val="500"/>
              </a:spcAft>
            </a:pPr>
            <a:r>
              <a:rPr sz="900" i="0">
                <a:solidFill>
                  <a:srgbClr val="FFFFFF"/>
                </a:solidFill>
                <a:latin typeface="Google Sans Flex"/>
              </a:rPr>
              <a:t>Gemini 4 Argon: customer, builder, report</a:t>
            </a:r>
          </a:p>
          <a:p>
            <a:pPr algn="l">
              <a:spcAft>
                <a:spcPts val="500"/>
              </a:spcAft>
            </a:pPr>
            <a:r>
              <a:rPr sz="900" i="0">
                <a:solidFill>
                  <a:srgbClr val="FFFFFF"/>
                </a:solidFill>
                <a:latin typeface="Google Sans Flex"/>
              </a:rPr>
              <a:t>Gemini 3.5 Flash-Lite: guard, grounding, state, coach</a:t>
            </a:r>
          </a:p>
          <a:p>
            <a:pPr algn="l">
              <a:spcAft>
                <a:spcPts val="500"/>
              </a:spcAft>
            </a:pPr>
            <a:r>
              <a:rPr sz="900" i="0">
                <a:solidFill>
                  <a:srgbClr val="FFFFFF"/>
                </a:solidFill>
                <a:latin typeface="Google Sans Flex"/>
              </a:rPr>
              <a:t>Fallback chains keep the service up if a model fails</a:t>
            </a:r>
          </a:p>
        </p:txBody>
      </p:sp>
      <p:cxnSp>
        <p:nvCxnSpPr>
          <p:cNvPr id="128" name="Connector 127"/>
          <p:cNvCxnSpPr/>
          <p:nvPr/>
        </p:nvCxnSpPr>
        <p:spPr>
          <a:xfrm flipV="1">
            <a:off x="1280160" y="1865376"/>
            <a:ext cx="274320" cy="256032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3063240" y="1856232"/>
            <a:ext cx="18288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4754880" y="1856232"/>
            <a:ext cx="18288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6537960" y="1856232"/>
            <a:ext cx="32004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H="1">
            <a:off x="3291840" y="2185416"/>
            <a:ext cx="2103120" cy="393192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5760720" y="2185416"/>
            <a:ext cx="0" cy="393192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320040" y="3657600"/>
            <a:ext cx="8503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202124"/>
                </a:solidFill>
                <a:latin typeface="Google Sans Flex SemiBold"/>
              </a:rPr>
              <a:t>Per-turn pipeline: one streamed HTTP request, measured on the live service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320040" y="39319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411479" y="3986783"/>
            <a:ext cx="1371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i="0">
                <a:solidFill>
                  <a:srgbClr val="202124"/>
                </a:solidFill>
                <a:latin typeface="Google Sans Flex SemiBold"/>
              </a:rPr>
              <a:t>Compliance pre-check</a:t>
            </a:r>
          </a:p>
          <a:p>
            <a:pPr algn="l">
              <a:spcAft>
                <a:spcPts val="100"/>
              </a:spcAft>
            </a:pPr>
            <a:r>
              <a:rPr sz="850" i="0">
                <a:solidFill>
                  <a:srgbClr val="1A73E8"/>
                </a:solidFill>
                <a:latin typeface="Google Sans Flex"/>
              </a:rPr>
              <a:t>~1 s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1892807" y="4215384"/>
            <a:ext cx="146305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ounded Rectangle 137"/>
          <p:cNvSpPr/>
          <p:nvPr/>
        </p:nvSpPr>
        <p:spPr>
          <a:xfrm>
            <a:off x="2057400" y="39319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2148840" y="3986783"/>
            <a:ext cx="1371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i="0">
                <a:solidFill>
                  <a:srgbClr val="202124"/>
                </a:solidFill>
                <a:latin typeface="Google Sans Flex SemiBold"/>
              </a:rPr>
              <a:t>Retrieval</a:t>
            </a:r>
          </a:p>
          <a:p>
            <a:pPr algn="l">
              <a:spcAft>
                <a:spcPts val="100"/>
              </a:spcAft>
            </a:pPr>
            <a:r>
              <a:rPr sz="850" i="0">
                <a:solidFill>
                  <a:srgbClr val="1A73E8"/>
                </a:solidFill>
                <a:latin typeface="Google Sans Flex"/>
              </a:rPr>
              <a:t>~0.25 s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3630168" y="4215384"/>
            <a:ext cx="146304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ounded Rectangle 140"/>
          <p:cNvSpPr/>
          <p:nvPr/>
        </p:nvSpPr>
        <p:spPr>
          <a:xfrm>
            <a:off x="3794759" y="39319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3886199" y="3986783"/>
            <a:ext cx="1371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i="0">
                <a:solidFill>
                  <a:srgbClr val="202124"/>
                </a:solidFill>
                <a:latin typeface="Google Sans Flex SemiBold"/>
              </a:rPr>
              <a:t>Customer reply streams</a:t>
            </a:r>
          </a:p>
          <a:p>
            <a:pPr algn="l">
              <a:spcAft>
                <a:spcPts val="100"/>
              </a:spcAft>
            </a:pPr>
            <a:r>
              <a:rPr sz="850" i="0">
                <a:solidFill>
                  <a:srgbClr val="1A73E8"/>
                </a:solidFill>
                <a:latin typeface="Google Sans Flex"/>
              </a:rPr>
              <a:t>first token 2-2.7 s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5367527" y="4215384"/>
            <a:ext cx="146305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ounded Rectangle 143"/>
          <p:cNvSpPr/>
          <p:nvPr/>
        </p:nvSpPr>
        <p:spPr>
          <a:xfrm>
            <a:off x="5532119" y="39319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5623559" y="3986783"/>
            <a:ext cx="1371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i="0">
                <a:solidFill>
                  <a:srgbClr val="202124"/>
                </a:solidFill>
                <a:latin typeface="Google Sans Flex SemiBold"/>
              </a:rPr>
              <a:t>3 checks in parallel</a:t>
            </a:r>
          </a:p>
          <a:p>
            <a:pPr algn="l">
              <a:spcAft>
                <a:spcPts val="100"/>
              </a:spcAft>
            </a:pPr>
            <a:r>
              <a:rPr sz="850" i="0">
                <a:solidFill>
                  <a:srgbClr val="1A73E8"/>
                </a:solidFill>
                <a:latin typeface="Google Sans Flex"/>
              </a:rPr>
              <a:t>grounding, state, coach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7104887" y="4215384"/>
            <a:ext cx="146305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ounded Rectangle 146"/>
          <p:cNvSpPr/>
          <p:nvPr/>
        </p:nvSpPr>
        <p:spPr>
          <a:xfrm>
            <a:off x="7269479" y="39319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7360919" y="3986783"/>
            <a:ext cx="13716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i="0">
                <a:solidFill>
                  <a:srgbClr val="FFFFFF"/>
                </a:solidFill>
                <a:latin typeface="Google Sans Flex SemiBold"/>
              </a:rPr>
              <a:t>Done</a:t>
            </a:r>
          </a:p>
          <a:p>
            <a:pPr algn="l">
              <a:spcAft>
                <a:spcPts val="100"/>
              </a:spcAft>
            </a:pPr>
            <a:r>
              <a:rPr sz="850" i="0">
                <a:solidFill>
                  <a:srgbClr val="FFFFFF"/>
                </a:solidFill>
                <a:latin typeface="Google Sans Flex"/>
              </a:rPr>
              <a:t>full turn ~5 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20040" y="4590288"/>
            <a:ext cx="8503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i="1">
                <a:solidFill>
                  <a:srgbClr val="5F6368"/>
                </a:solidFill>
                <a:latin typeface="Google Sans Flex"/>
              </a:rPr>
              <a:t>Data at rest and embeddings stay in asia-east1; Gemini generation runs on the Vertex AI global endpoint [S27].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320040" y="1207008"/>
          <a:ext cx="53949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097280"/>
                <a:gridCol w="25146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900" i="0">
                          <a:solidFill>
                            <a:srgbClr val="FFFFFF"/>
                          </a:solidFill>
                          <a:latin typeface="Google Sans Flex SemiBold"/>
                        </a:rPr>
                        <a:t>Agent role</a:t>
                      </a:r>
                    </a:p>
                  </a:txBody>
                  <a:tcPr marL="54864" marR="54864" marT="27432" marB="27432" anchor="ctr">
                    <a:solidFill>
                      <a:srgbClr val="2021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solidFill>
                            <a:srgbClr val="FFFFFF"/>
                          </a:solidFill>
                          <a:latin typeface="Google Sans Flex SemiBold"/>
                        </a:rPr>
                        <a:t>Model</a:t>
                      </a:r>
                    </a:p>
                  </a:txBody>
                  <a:tcPr marL="54864" marR="54864" marT="27432" marB="27432" anchor="ctr">
                    <a:solidFill>
                      <a:srgbClr val="20212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i="0">
                          <a:solidFill>
                            <a:srgbClr val="FFFFFF"/>
                          </a:solidFill>
                          <a:latin typeface="Google Sans Flex SemiBold"/>
                        </a:rPr>
                        <a:t>Guardrail</a:t>
                      </a:r>
                    </a:p>
                  </a:txBody>
                  <a:tcPr marL="54864" marR="54864" marT="27432" marB="27432" anchor="ctr">
                    <a:solidFill>
                      <a:srgbClr val="20212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202124"/>
                          </a:solidFill>
                          <a:latin typeface="Google Sans Flex SemiBold"/>
                        </a:rPr>
                        <a:t>Persona &amp; scenario builder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1A73E8"/>
                          </a:solidFill>
                          <a:latin typeface="Google Sans Flex SemiBold"/>
                        </a:rPr>
                        <a:t>Gemini 4 Argon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202124"/>
                          </a:solidFill>
                          <a:latin typeface="Google Sans Flex"/>
                        </a:rPr>
                        <a:t>Citation quotes must match the source chunk; human approval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202124"/>
                          </a:solidFill>
                          <a:latin typeface="Google Sans Flex SemiBold"/>
                        </a:rPr>
                        <a:t>Compliance Guard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188038"/>
                          </a:solidFill>
                          <a:latin typeface="Google Sans Flex SemiBold"/>
                        </a:rPr>
                        <a:t>3.5 Flash-Lite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202124"/>
                          </a:solidFill>
                          <a:latin typeface="Google Sans Flex"/>
                        </a:rPr>
                        <a:t>Flag quote must be an exact span of the message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202124"/>
                          </a:solidFill>
                          <a:latin typeface="Google Sans Flex SemiBold"/>
                        </a:rPr>
                        <a:t>Customer persona (streamed)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1A73E8"/>
                          </a:solidFill>
                          <a:latin typeface="Google Sans Flex SemiBold"/>
                        </a:rPr>
                        <a:t>Gemini 4 Argon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202124"/>
                          </a:solidFill>
                          <a:latin typeface="Google Sans Flex"/>
                        </a:rPr>
                        <a:t>Hidden needs held until trust is earned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202124"/>
                          </a:solidFill>
                          <a:latin typeface="Google Sans Flex SemiBold"/>
                        </a:rPr>
                        <a:t>Grounding post-check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188038"/>
                          </a:solidFill>
                          <a:latin typeface="Google Sans Flex SemiBold"/>
                        </a:rPr>
                        <a:t>3.5 Flash-Lite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202124"/>
                          </a:solidFill>
                          <a:latin typeface="Google Sans Flex"/>
                        </a:rPr>
                        <a:t>Flags product claims the KB doesn't support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202124"/>
                          </a:solidFill>
                          <a:latin typeface="Google Sans Flex SemiBold"/>
                        </a:rPr>
                        <a:t>State: trust / patience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188038"/>
                          </a:solidFill>
                          <a:latin typeface="Google Sans Flex SemiBold"/>
                        </a:rPr>
                        <a:t>3.5 Flash-Lite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202124"/>
                          </a:solidFill>
                          <a:latin typeface="Google Sans Flex"/>
                        </a:rPr>
                        <a:t>Deltas clamped; violations always cost trust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202124"/>
                          </a:solidFill>
                          <a:latin typeface="Google Sans Flex SemiBold"/>
                        </a:rPr>
                        <a:t>Coach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188038"/>
                          </a:solidFill>
                          <a:latin typeface="Google Sans Flex SemiBold"/>
                        </a:rPr>
                        <a:t>3.5 Flash-Lite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202124"/>
                          </a:solidFill>
                          <a:latin typeface="Google Sans Flex"/>
                        </a:rPr>
                        <a:t>One sentence with KB citations</a:t>
                      </a:r>
                    </a:p>
                  </a:txBody>
                  <a:tcPr marL="54864" marR="54864" marT="27432" marB="27432" anchor="ctr">
                    <a:solidFill>
                      <a:srgbClr val="F1F3F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202124"/>
                          </a:solidFill>
                          <a:latin typeface="Google Sans Flex SemiBold"/>
                        </a:rPr>
                        <a:t>Report scorer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1A73E8"/>
                          </a:solidFill>
                          <a:latin typeface="Google Sans Flex SemiBold"/>
                        </a:rPr>
                        <a:t>Gemini 4 Argon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i="0">
                          <a:solidFill>
                            <a:srgbClr val="202124"/>
                          </a:solidFill>
                          <a:latin typeface="Google Sans Flex"/>
                        </a:rPr>
                        <a:t>Verbatim evidence or capped at 50; gate at 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1" name="TextBox 120"/>
          <p:cNvSpPr txBox="1"/>
          <p:nvPr/>
        </p:nvSpPr>
        <p:spPr>
          <a:xfrm>
            <a:off x="320040" y="4407408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i="1">
                <a:solidFill>
                  <a:srgbClr val="5F6368"/>
                </a:solidFill>
                <a:latin typeface="Google Sans Flex"/>
              </a:rPr>
              <a:t>Fallbacks: Argon → 3.8 Flash; report → 3.1 Pro → 2.5 Pro. Thinking level low on every agent.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897880" y="1207008"/>
            <a:ext cx="2926080" cy="3474720"/>
          </a:xfrm>
          <a:prstGeom prst="roundRect">
            <a:avLst>
              <a:gd name="adj" fmla="val 25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6025896" y="1316736"/>
            <a:ext cx="2688336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i="0">
                <a:solidFill>
                  <a:srgbClr val="202124"/>
                </a:solidFill>
                <a:latin typeface="Google Sans Flex SemiBold"/>
              </a:rPr>
              <a:t>How we use Google Cloud</a:t>
            </a:r>
          </a:p>
          <a:p>
            <a:pPr algn="l">
              <a:spcAft>
                <a:spcPts val="600"/>
              </a:spcAft>
            </a:pPr>
            <a:r>
              <a:rPr sz="950" i="0">
                <a:solidFill>
                  <a:srgbClr val="1A73E8"/>
                </a:solidFill>
                <a:latin typeface="Google Sans Flex SemiBold"/>
              </a:rPr>
              <a:t>Gemini: </a:t>
            </a:r>
            <a:r>
              <a:rPr sz="950" i="0">
                <a:solidFill>
                  <a:srgbClr val="202124"/>
                </a:solidFill>
                <a:latin typeface="Google Sans Flex"/>
              </a:rPr>
              <a:t>seven agent roles via Vertex AI (google-genai SDK), structured JSON output, streaming, embeddings.</a:t>
            </a:r>
          </a:p>
          <a:p>
            <a:pPr algn="l">
              <a:spcAft>
                <a:spcPts val="600"/>
              </a:spcAft>
            </a:pPr>
            <a:r>
              <a:rPr sz="950" i="0">
                <a:solidFill>
                  <a:srgbClr val="1A73E8"/>
                </a:solidFill>
                <a:latin typeface="Google Sans Flex SemiBold"/>
              </a:rPr>
              <a:t>Cloud Run: </a:t>
            </a:r>
            <a:r>
              <a:rPr sz="950" i="0">
                <a:solidFill>
                  <a:srgbClr val="202124"/>
                </a:solidFill>
                <a:latin typeface="Google Sans Flex"/>
              </a:rPr>
              <a:t>two stateless services: Next.js web and FastAPI API, autoscaling, min 1 instance.</a:t>
            </a:r>
          </a:p>
          <a:p>
            <a:pPr algn="l">
              <a:spcAft>
                <a:spcPts val="600"/>
              </a:spcAft>
            </a:pPr>
            <a:r>
              <a:rPr sz="950" i="0">
                <a:solidFill>
                  <a:srgbClr val="1A73E8"/>
                </a:solidFill>
                <a:latin typeface="Google Sans Flex SemiBold"/>
              </a:rPr>
              <a:t>Firestore: </a:t>
            </a:r>
            <a:r>
              <a:rPr sz="950" i="0">
                <a:solidFill>
                  <a:srgbClr val="202124"/>
                </a:solidFill>
                <a:latin typeface="Google Sans Flex"/>
              </a:rPr>
              <a:t>all state: documents, vector chunks, personas, scenarios, sessions, reports.</a:t>
            </a:r>
          </a:p>
          <a:p>
            <a:pPr algn="l">
              <a:spcAft>
                <a:spcPts val="600"/>
              </a:spcAft>
            </a:pPr>
            <a:r>
              <a:rPr sz="950" i="0">
                <a:solidFill>
                  <a:srgbClr val="1A73E8"/>
                </a:solidFill>
                <a:latin typeface="Google Sans Flex SemiBold"/>
              </a:rPr>
              <a:t>Firebase: </a:t>
            </a:r>
            <a:r>
              <a:rPr sz="950" i="0">
                <a:solidFill>
                  <a:srgbClr val="202124"/>
                </a:solidFill>
                <a:latin typeface="Google Sans Flex"/>
              </a:rPr>
              <a:t>Hosting serves the public URL and rewrites traffic to Cloud Run.</a:t>
            </a:r>
          </a:p>
          <a:p>
            <a:pPr algn="l">
              <a:spcAft>
                <a:spcPts val="600"/>
              </a:spcAft>
            </a:pPr>
            <a:r>
              <a:rPr sz="950" i="0">
                <a:solidFill>
                  <a:srgbClr val="1A73E8"/>
                </a:solidFill>
                <a:latin typeface="Google Sans Flex SemiBold"/>
              </a:rPr>
              <a:t>Also: </a:t>
            </a:r>
            <a:r>
              <a:rPr sz="950" i="0">
                <a:solidFill>
                  <a:srgbClr val="202124"/>
                </a:solidFill>
                <a:latin typeface="Google Sans Flex"/>
              </a:rPr>
              <a:t>Python 3.12, Next.js 15, React, Server-Sent Events, Web Speech API.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320040" y="1207008"/>
            <a:ext cx="2724912" cy="960120"/>
          </a:xfrm>
          <a:prstGeom prst="roundRect">
            <a:avLst>
              <a:gd name="adj" fmla="val 7619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466344" y="1280160"/>
            <a:ext cx="2450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i="0">
                <a:solidFill>
                  <a:srgbClr val="1A73E8"/>
                </a:solidFill>
                <a:latin typeface="Google Sans Flex SemiBold"/>
              </a:rPr>
              <a:t>US$0.05-0.20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66344" y="1755648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model cost per 15-20 turn practice session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209544" y="1207008"/>
            <a:ext cx="2724912" cy="960120"/>
          </a:xfrm>
          <a:prstGeom prst="roundRect">
            <a:avLst>
              <a:gd name="adj" fmla="val 7619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3355848" y="1280160"/>
            <a:ext cx="2450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i="0">
                <a:solidFill>
                  <a:srgbClr val="1A73E8"/>
                </a:solidFill>
                <a:latin typeface="Google Sans Flex SemiBold"/>
              </a:rPr>
              <a:t>&lt; US$2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55848" y="1755648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model cost per seat per month at 8 sessions per rep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099048" y="1207008"/>
            <a:ext cx="2724912" cy="960120"/>
          </a:xfrm>
          <a:prstGeom prst="roundRect">
            <a:avLst>
              <a:gd name="adj" fmla="val 7619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6245352" y="1280160"/>
            <a:ext cx="2450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i="0">
                <a:solidFill>
                  <a:srgbClr val="1A73E8"/>
                </a:solidFill>
                <a:latin typeface="Google Sans Flex SemiBold"/>
              </a:rPr>
              <a:t>US$25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45352" y="1755648"/>
            <a:ext cx="2450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price per active seat per month (Team plan hypothesis)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20040" y="23957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Customer view: 100-rep team, per year (estimate)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20040" y="2807208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202124"/>
                </a:solidFill>
                <a:latin typeface="Google Sans Flex SemiBold"/>
              </a:rPr>
              <a:t>Value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05840" y="2807208"/>
            <a:ext cx="1219200" cy="292608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2225040" y="2807208"/>
            <a:ext cx="1587499" cy="292608"/>
          </a:xfrm>
          <a:prstGeom prst="rect">
            <a:avLst/>
          </a:prstGeom>
          <a:solidFill>
            <a:srgbClr val="4C8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ectangle 140"/>
          <p:cNvSpPr/>
          <p:nvPr/>
        </p:nvSpPr>
        <p:spPr>
          <a:xfrm>
            <a:off x="3812540" y="2807208"/>
            <a:ext cx="393700" cy="292608"/>
          </a:xfrm>
          <a:prstGeom prst="rect">
            <a:avLst/>
          </a:prstGeom>
          <a:solidFill>
            <a:srgbClr val="A8C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4279392" y="2807208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202124"/>
                </a:solidFill>
                <a:latin typeface="Google Sans Flex SemiBold"/>
              </a:rPr>
              <a:t>~US$126k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20040" y="3218688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202124"/>
                </a:solidFill>
                <a:latin typeface="Google Sans Flex SemiBold"/>
              </a:rPr>
              <a:t>Cost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005840" y="3218688"/>
            <a:ext cx="1016000" cy="292608"/>
          </a:xfrm>
          <a:prstGeom prst="rect">
            <a:avLst/>
          </a:prstGeom>
          <a:solidFill>
            <a:srgbClr val="DAD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2094992" y="3218688"/>
            <a:ext cx="2286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202124"/>
                </a:solidFill>
                <a:latin typeface="Google Sans Flex SemiBold"/>
              </a:rPr>
              <a:t>~US$40k · roughly 3x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20040" y="3602736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Value: manager time US$48k, faster ramp US$62.5k, lower attrition US$15k. Cost: 100 seats x US$25 x 12 plus ~US$10k onboarding.</a:t>
            </a:r>
          </a:p>
          <a:p>
            <a:pPr algn="l">
              <a:spcAft>
                <a:spcPts val="400"/>
              </a:spcAft>
            </a:pPr>
            <a:r>
              <a:rPr sz="950" i="1">
                <a:solidFill>
                  <a:srgbClr val="5F6368"/>
                </a:solidFill>
                <a:latin typeface="Google Sans Flex"/>
              </a:rPr>
              <a:t>Coaching time alone only breaks even; the case rests on ramp and retention, which the pilot measures.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394959" y="2395728"/>
            <a:ext cx="3429000" cy="2240280"/>
          </a:xfrm>
          <a:prstGeom prst="roundRect">
            <a:avLst>
              <a:gd name="adj" fmla="val 326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5522975" y="2487168"/>
            <a:ext cx="319125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Build and run cost</a:t>
            </a:r>
          </a:p>
          <a:p>
            <a:pPr algn="l">
              <a:spcAft>
                <a:spcPts val="5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No custom model training, no servers to manage: managed Gemini, Cloud Run and Firestore.</a:t>
            </a:r>
          </a:p>
          <a:p>
            <a:pPr algn="l">
              <a:spcAft>
                <a:spcPts val="5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Per-turn judgments use Flash-Lite; Gemini 4 Argon only where quality shows.</a:t>
            </a:r>
          </a:p>
          <a:p>
            <a:pPr algn="l">
              <a:spcAft>
                <a:spcPts val="5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Onboarding a tenant = upload documents, approve personas, review a scenario.</a:t>
            </a:r>
          </a:p>
          <a:p>
            <a:pPr algn="l">
              <a:spcAft>
                <a:spcPts val="5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Paid 8-week pilot: US$5k-10k. Enterprise: US$35-45 per seat with SSO and region pinning.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20040" y="4727448"/>
            <a:ext cx="8503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i="1">
                <a:solidFill>
                  <a:srgbClr val="5F6368"/>
                </a:solidFill>
                <a:latin typeface="Google Sans Flex"/>
              </a:rPr>
              <a:t>All figures are our own estimates and pricing hypotheses (docs/BUSINESS_CASE.md).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prototype: practice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practice_star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207008"/>
            <a:ext cx="4169663" cy="2606039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320040" y="3922776"/>
            <a:ext cx="41696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Mr. Tan as a 3D customer: he blinks, breathes, keeps eye contact and lip-syncs. His mood follows the trust and patience meters.</a:t>
            </a:r>
          </a:p>
        </p:txBody>
      </p:sp>
      <p:pic>
        <p:nvPicPr>
          <p:cNvPr id="138" name="Picture 137" descr="practice_guar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295" y="1207008"/>
            <a:ext cx="4169663" cy="2606039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4654295" y="3922776"/>
            <a:ext cx="41696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"This plan guarantees you 8% a year" is held before it is sent: the Guard quotes the words, names rule CC-01, and offers Edit message or Send anyway.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 / 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320040" y="1207008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429768" y="1271016"/>
            <a:ext cx="13898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i="0">
                <a:solidFill>
                  <a:srgbClr val="1A73E8"/>
                </a:solidFill>
                <a:latin typeface="Google Sans Flex SemiBold"/>
              </a:rPr>
              <a:t>~1 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29768" y="1719072"/>
            <a:ext cx="1389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Compliance Guard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048255" y="1207008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2157984" y="1271016"/>
            <a:ext cx="13898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i="0">
                <a:solidFill>
                  <a:srgbClr val="1A73E8"/>
                </a:solidFill>
                <a:latin typeface="Google Sans Flex SemiBold"/>
              </a:rPr>
              <a:t>2.0-2.7 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157984" y="1719072"/>
            <a:ext cx="1389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first streamed token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776472" y="1207008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3886200" y="1271016"/>
            <a:ext cx="13898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i="0">
                <a:solidFill>
                  <a:srgbClr val="1A73E8"/>
                </a:solidFill>
                <a:latin typeface="Google Sans Flex SemiBold"/>
              </a:rPr>
              <a:t>~5 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886200" y="1719072"/>
            <a:ext cx="1389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full turn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504688" y="1207008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5614416" y="1271016"/>
            <a:ext cx="13898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i="0">
                <a:solidFill>
                  <a:srgbClr val="1A73E8"/>
                </a:solidFill>
                <a:latin typeface="Google Sans Flex SemiBold"/>
              </a:rPr>
              <a:t>~6 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614416" y="1719072"/>
            <a:ext cx="1389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end-of-session report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232903" y="1207008"/>
            <a:ext cx="1572768" cy="868680"/>
          </a:xfrm>
          <a:prstGeom prst="roundRect">
            <a:avLst>
              <a:gd name="adj" fmla="val 8421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7342631" y="1271016"/>
            <a:ext cx="138988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i="0">
                <a:solidFill>
                  <a:srgbClr val="1A73E8"/>
                </a:solidFill>
                <a:latin typeface="Google Sans Flex SemiBold"/>
              </a:rPr>
              <a:t>106 / 106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342631" y="1719072"/>
            <a:ext cx="1389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builder citations verified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20040" y="2121408"/>
            <a:ext cx="8503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i="1">
                <a:solidFill>
                  <a:srgbClr val="5F6368"/>
                </a:solidFill>
                <a:latin typeface="Google Sans Flex"/>
              </a:rPr>
              <a:t>Measured on the deployed Cloud Run build with real Gemini (Gemini 4 Argon, 3.5 Flash-Lite), 2026-10-16. Persona generation: 18-40 s.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20040" y="2468880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Three demo scenarios, same engine, three industries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20040" y="2816352"/>
            <a:ext cx="2724912" cy="1828800"/>
          </a:xfrm>
          <a:prstGeom prst="roundRect">
            <a:avLst>
              <a:gd name="adj" fmla="val 4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448056" y="2889504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i="0">
                <a:solidFill>
                  <a:srgbClr val="202124"/>
                </a:solidFill>
                <a:latin typeface="Google Sans Flex SemiBold"/>
              </a:rPr>
              <a:t>A  SaaS sales: pricing objection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448056" y="3218688"/>
            <a:ext cx="2468880" cy="603504"/>
          </a:xfrm>
          <a:prstGeom prst="roundRect">
            <a:avLst>
              <a:gd name="adj" fmla="val 12121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539496" y="3255264"/>
            <a:ext cx="1005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i="0">
                <a:solidFill>
                  <a:srgbClr val="188038"/>
                </a:solidFill>
                <a:latin typeface="Google Sans Flex SemiBold"/>
              </a:rPr>
              <a:t>94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508760" y="3255264"/>
            <a:ext cx="135331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188038"/>
                </a:solidFill>
                <a:latin typeface="Google Sans Flex SemiBold"/>
              </a:rPr>
              <a:t>Compliance PASS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48056" y="3895344"/>
            <a:ext cx="24871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0">
                <a:solidFill>
                  <a:srgbClr val="202124"/>
                </a:solidFill>
                <a:latin typeface="Google Sans Flex"/>
              </a:rPr>
              <a:t>Uncovers the real concern (adoption, not price) and books a pilot on a fixed date.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3209544" y="2816352"/>
            <a:ext cx="2724912" cy="1828800"/>
          </a:xfrm>
          <a:prstGeom prst="roundRect">
            <a:avLst>
              <a:gd name="adj" fmla="val 4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3337560" y="2889504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i="0">
                <a:solidFill>
                  <a:srgbClr val="202124"/>
                </a:solidFill>
                <a:latin typeface="Google Sans Flex SemiBold"/>
              </a:rPr>
              <a:t>B  Insurance: guaranteed-return trap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3337560" y="3218688"/>
            <a:ext cx="2468880" cy="603504"/>
          </a:xfrm>
          <a:prstGeom prst="roundRect">
            <a:avLst>
              <a:gd name="adj" fmla="val 12121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3429000" y="3255264"/>
            <a:ext cx="1005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i="0">
                <a:solidFill>
                  <a:srgbClr val="C5221F"/>
                </a:solidFill>
                <a:latin typeface="Google Sans Flex SemiBold"/>
              </a:rPr>
              <a:t>FAIL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398264" y="3255264"/>
            <a:ext cx="135331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C5221F"/>
                </a:solidFill>
                <a:latin typeface="Google Sans Flex SemiBold"/>
              </a:rPr>
              <a:t>Score capped: 30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337560" y="3895344"/>
            <a:ext cx="24871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0">
                <a:solidFill>
                  <a:srgbClr val="202124"/>
                </a:solidFill>
                <a:latin typeface="Google Sans Flex"/>
              </a:rPr>
              <a:t>"Guarantees you 8% a year" held by the Guard (CC-01, high); sent anyway, the session fails.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099048" y="2816352"/>
            <a:ext cx="2724912" cy="1828800"/>
          </a:xfrm>
          <a:prstGeom prst="roundRect">
            <a:avLst>
              <a:gd name="adj" fmla="val 4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6227064" y="2889504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i="0">
                <a:solidFill>
                  <a:srgbClr val="202124"/>
                </a:solidFill>
                <a:latin typeface="Google Sans Flex SemiBold"/>
              </a:rPr>
              <a:t>C  Support escalation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227064" y="3218688"/>
            <a:ext cx="2468880" cy="603504"/>
          </a:xfrm>
          <a:prstGeom prst="roundRect">
            <a:avLst>
              <a:gd name="adj" fmla="val 12121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6318504" y="3255264"/>
            <a:ext cx="1005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i="0">
                <a:solidFill>
                  <a:srgbClr val="B06000"/>
                </a:solidFill>
                <a:latin typeface="Google Sans Flex SemiBold"/>
              </a:rPr>
              <a:t>68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287768" y="3255264"/>
            <a:ext cx="135331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B06000"/>
                </a:solidFill>
                <a:latin typeface="Google Sans Flex SemiBold"/>
              </a:rPr>
              <a:t>Compliance passed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227064" y="3895344"/>
            <a:ext cx="24871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0">
                <a:solidFill>
                  <a:srgbClr val="202124"/>
                </a:solidFill>
                <a:latin typeface="Google Sans Flex"/>
              </a:rPr>
              <a:t>Refund promise flagged (RR-01); trainee recovers and the customer reveals the birthday gift.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 / future development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320040" y="1207008"/>
            <a:ext cx="2724912" cy="2103120"/>
          </a:xfrm>
          <a:prstGeom prst="roundRect">
            <a:avLst>
              <a:gd name="adj" fmla="val 3478"/>
            </a:avLst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466344" y="1298448"/>
            <a:ext cx="24505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i="0">
                <a:solidFill>
                  <a:srgbClr val="FFFFFF"/>
                </a:solidFill>
                <a:latin typeface="Google Sans Flex SemiBold"/>
              </a:rPr>
              <a:t>Now (shipped)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66344" y="1664208"/>
            <a:ext cx="245059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300"/>
              </a:spcAft>
              <a:buChar char="•"/>
            </a:pPr>
            <a:r>
              <a:rPr sz="950" i="0">
                <a:solidFill>
                  <a:srgbClr val="FFFFFF"/>
                </a:solidFill>
                <a:latin typeface="Google Sans Flex"/>
              </a:rPr>
              <a:t>Text practice with a 3D AI customer</a:t>
            </a:r>
          </a:p>
          <a:p>
            <a:pPr algn="l" marL="146304" indent="-146304">
              <a:spcAft>
                <a:spcPts val="300"/>
              </a:spcAft>
              <a:buChar char="•"/>
            </a:pPr>
            <a:r>
              <a:rPr sz="950" i="0">
                <a:solidFill>
                  <a:srgbClr val="FFFFFF"/>
                </a:solidFill>
                <a:latin typeface="Google Sans Flex"/>
              </a:rPr>
              <a:t>Browser voice: speech input, spoken replies</a:t>
            </a:r>
          </a:p>
          <a:p>
            <a:pPr algn="l" marL="146304" indent="-146304">
              <a:spcAft>
                <a:spcPts val="300"/>
              </a:spcAft>
              <a:buChar char="•"/>
            </a:pPr>
            <a:r>
              <a:rPr sz="950" i="0">
                <a:solidFill>
                  <a:srgbClr val="FFFFFF"/>
                </a:solidFill>
                <a:latin typeface="Google Sans Flex"/>
              </a:rPr>
              <a:t>Document-generated personas with citations and approval</a:t>
            </a:r>
          </a:p>
          <a:p>
            <a:pPr algn="l" marL="146304" indent="-146304">
              <a:spcAft>
                <a:spcPts val="300"/>
              </a:spcAft>
              <a:buChar char="•"/>
            </a:pPr>
            <a:r>
              <a:rPr sz="950" i="0">
                <a:solidFill>
                  <a:srgbClr val="FFFFFF"/>
                </a:solidFill>
                <a:latin typeface="Google Sans Flex"/>
              </a:rPr>
              <a:t>Multi-agent turns: guard, customer, grounding, state, coach</a:t>
            </a:r>
          </a:p>
          <a:p>
            <a:pPr algn="l" marL="146304" indent="-146304">
              <a:spcAft>
                <a:spcPts val="300"/>
              </a:spcAft>
              <a:buChar char="•"/>
            </a:pPr>
            <a:r>
              <a:rPr sz="950" i="0">
                <a:solidFill>
                  <a:srgbClr val="FFFFFF"/>
                </a:solidFill>
                <a:latin typeface="Google Sans Flex"/>
              </a:rPr>
              <a:t>Evidence-verified reports, manager readiness view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209544" y="1207008"/>
            <a:ext cx="27249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3355848" y="1298448"/>
            <a:ext cx="24505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i="0">
                <a:solidFill>
                  <a:srgbClr val="1A73E8"/>
                </a:solidFill>
                <a:latin typeface="Google Sans Flex SemiBold"/>
              </a:rPr>
              <a:t>Next (planned)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355848" y="1664208"/>
            <a:ext cx="245059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300"/>
              </a:spcAft>
              <a:buChar char="•"/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Gemini Live native voice</a:t>
            </a:r>
          </a:p>
          <a:p>
            <a:pPr algn="l" marL="146304" indent="-146304">
              <a:spcAft>
                <a:spcPts val="300"/>
              </a:spcAft>
              <a:buChar char="•"/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Avatar lip-sync from real audio</a:t>
            </a:r>
          </a:p>
          <a:p>
            <a:pPr algn="l" marL="146304" indent="-146304">
              <a:spcAft>
                <a:spcPts val="300"/>
              </a:spcAft>
              <a:buChar char="•"/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On-device emotion cues</a:t>
            </a:r>
          </a:p>
          <a:p>
            <a:pPr algn="l" marL="146304" indent="-146304">
              <a:spcAft>
                <a:spcPts val="300"/>
              </a:spcAft>
              <a:buChar char="•"/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More APAC languages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099048" y="1207008"/>
            <a:ext cx="27249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6245352" y="1298448"/>
            <a:ext cx="24505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i="0">
                <a:solidFill>
                  <a:srgbClr val="1A73E8"/>
                </a:solidFill>
                <a:latin typeface="Google Sans Flex SemiBold"/>
              </a:rPr>
              <a:t>Later (planned)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45352" y="1664208"/>
            <a:ext cx="245059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46304" indent="-146304">
              <a:spcAft>
                <a:spcPts val="300"/>
              </a:spcAft>
              <a:buChar char="•"/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LMS and CRM integration</a:t>
            </a:r>
          </a:p>
          <a:p>
            <a:pPr algn="l" marL="146304" indent="-146304">
              <a:spcAft>
                <a:spcPts val="300"/>
              </a:spcAft>
              <a:buChar char="•"/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Scenarios from anonymized real calls</a:t>
            </a:r>
          </a:p>
          <a:p>
            <a:pPr algn="l" marL="146304" indent="-146304">
              <a:spcAft>
                <a:spcPts val="300"/>
              </a:spcAft>
              <a:buChar char="•"/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Certification tracks</a:t>
            </a:r>
          </a:p>
          <a:p>
            <a:pPr algn="l" marL="146304" indent="-146304">
              <a:spcAft>
                <a:spcPts val="300"/>
              </a:spcAft>
              <a:buChar char="•"/>
            </a:pPr>
            <a:r>
              <a:rPr sz="950" i="0">
                <a:solidFill>
                  <a:srgbClr val="202124"/>
                </a:solidFill>
                <a:latin typeface="Google Sans Flex"/>
              </a:rPr>
              <a:t>Calibration against senior assessors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20040" y="3474720"/>
            <a:ext cx="2724912" cy="1234440"/>
          </a:xfrm>
          <a:prstGeom prst="roundRect">
            <a:avLst>
              <a:gd name="adj" fmla="val 5925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448056" y="3566160"/>
            <a:ext cx="24688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i="0">
                <a:solidFill>
                  <a:srgbClr val="188038"/>
                </a:solidFill>
                <a:latin typeface="Google Sans Flex SemiBold"/>
              </a:rPr>
              <a:t>+34% for novices</a:t>
            </a:r>
          </a:p>
          <a:p>
            <a:pPr algn="l">
              <a:spcAft>
                <a:spcPts val="300"/>
              </a:spcAft>
            </a:pPr>
            <a:r>
              <a:rPr sz="900" i="0">
                <a:solidFill>
                  <a:srgbClr val="202124"/>
                </a:solidFill>
                <a:latin typeface="Google Sans Flex"/>
              </a:rPr>
              <a:t>AI assistance raised issues resolved per hour by 34% for novice support agents (14% on average) [S3]. New hires are our users.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209544" y="3474720"/>
            <a:ext cx="2724912" cy="1234440"/>
          </a:xfrm>
          <a:prstGeom prst="roundRect">
            <a:avLst>
              <a:gd name="adj" fmla="val 592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3337560" y="3566160"/>
            <a:ext cx="24688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Beachhead: Singapore</a:t>
            </a:r>
          </a:p>
          <a:p>
            <a:pPr algn="l">
              <a:spcAft>
                <a:spcPts val="300"/>
              </a:spcAft>
            </a:pPr>
            <a:r>
              <a:rPr sz="900" i="0">
                <a:solidFill>
                  <a:srgbClr val="202124"/>
                </a:solidFill>
                <a:latin typeface="Google Sans Flex"/>
              </a:rPr>
              <a:t>About 19,000 insurance agents [S30] sell in English under MAS fair-dealing rules [S29]. Then the Philippines and Hong Kong.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099048" y="3474720"/>
            <a:ext cx="2724912" cy="1234440"/>
          </a:xfrm>
          <a:prstGeom prst="roundRect">
            <a:avLst>
              <a:gd name="adj" fmla="val 5925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6227064" y="3566160"/>
            <a:ext cx="24688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i="0">
                <a:solidFill>
                  <a:srgbClr val="202124"/>
                </a:solidFill>
                <a:latin typeface="Google Sans Flex SemiBold"/>
              </a:rPr>
              <a:t>Next step: a paid pilot</a:t>
            </a:r>
          </a:p>
          <a:p>
            <a:pPr algn="l">
              <a:spcAft>
                <a:spcPts val="300"/>
              </a:spcAft>
            </a:pPr>
            <a:r>
              <a:rPr sz="900" i="0">
                <a:solidFill>
                  <a:srgbClr val="202124"/>
                </a:solidFill>
                <a:latin typeface="Google Sans Flex"/>
              </a:rPr>
              <a:t>8 weeks with a control cohort. KPIs: time to first solo call, flags per 100 turns, manager hours per recruit.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Links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320040" y="1298448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548640" y="14081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i="0">
                <a:solidFill>
                  <a:srgbClr val="1A73E8"/>
                </a:solidFill>
                <a:latin typeface="Google Sans Flex SemiBold"/>
              </a:rPr>
              <a:t>GitHub public repository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48640" y="1709928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i="0">
                <a:solidFill>
                  <a:srgbClr val="202124"/>
                </a:solidFill>
                <a:latin typeface="Google Sans Flex"/>
                <a:hlinkClick r:id="rId5"/>
              </a:rPr>
              <a:t>https://github.com/jease0502/SkillCoach-AIBC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20040" y="2322576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548640" y="24323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i="0">
                <a:solidFill>
                  <a:srgbClr val="C5221F"/>
                </a:solidFill>
                <a:latin typeface="Google Sans Flex SemiBold"/>
              </a:rPr>
              <a:t>Demo video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48640" y="2734056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i="0">
                <a:solidFill>
                  <a:srgbClr val="202124"/>
                </a:solidFill>
                <a:latin typeface="Google Sans Flex"/>
              </a:rPr>
              <a:t>[Demo video URL]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320040" y="3346704"/>
            <a:ext cx="8503920" cy="868680"/>
          </a:xfrm>
          <a:prstGeom prst="roundRect">
            <a:avLst>
              <a:gd name="adj" fmla="val 8421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TextBox 166"/>
          <p:cNvSpPr txBox="1"/>
          <p:nvPr/>
        </p:nvSpPr>
        <p:spPr>
          <a:xfrm>
            <a:off x="548640" y="34564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i="0">
                <a:solidFill>
                  <a:srgbClr val="188038"/>
                </a:solidFill>
                <a:latin typeface="Google Sans Flex SemiBold"/>
              </a:rPr>
              <a:t>Final product link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48640" y="3758184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i="0">
                <a:solidFill>
                  <a:srgbClr val="202124"/>
                </a:solidFill>
                <a:latin typeface="Google Sans Flex"/>
                <a:hlinkClick r:id="rId6"/>
              </a:rPr>
              <a:t>https://skillcoach-aibc.web.app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20040" y="4389120"/>
            <a:ext cx="8503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i="1">
                <a:solidFill>
                  <a:srgbClr val="5F6368"/>
                </a:solidFill>
                <a:latin typeface="Google Sans Flex"/>
              </a:rPr>
              <a:t>The product link opens without login. Demo scenarios A, B and C are preloaded; the dashboard includes labeled sample team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Sources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320040" y="1207008"/>
            <a:ext cx="411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0">
                <a:solidFill>
                  <a:srgbClr val="1A73E8"/>
                </a:solidFill>
                <a:latin typeface="Google Sans Flex SemiBold"/>
              </a:rPr>
              <a:t>S1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31520" y="1207008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i="0">
                <a:solidFill>
                  <a:srgbClr val="202124"/>
                </a:solidFill>
                <a:latin typeface="Google Sans Flex"/>
              </a:rPr>
              <a:t>ATD, State of the Industry benchmarks (2024 and 2025 reports)</a:t>
            </a:r>
          </a:p>
          <a:p>
            <a:pPr algn="l">
              <a:spcAft>
                <a:spcPts val="100"/>
              </a:spcAft>
            </a:pPr>
            <a:r>
              <a:rPr sz="700" i="0">
                <a:solidFill>
                  <a:srgbClr val="5F6368"/>
                </a:solidFill>
                <a:latin typeface="Google Sans Flex"/>
                <a:hlinkClick r:id="rId5"/>
              </a:rPr>
              <a:t>https://www.td.org/content/atd-blog/benchmarks-and-trends-from-the-2025-state-of-the-industry-report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20040" y="1783080"/>
            <a:ext cx="411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0">
                <a:solidFill>
                  <a:srgbClr val="1A73E8"/>
                </a:solidFill>
                <a:latin typeface="Google Sans Flex SemiBold"/>
              </a:rPr>
              <a:t>S3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31520" y="178308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i="0">
                <a:solidFill>
                  <a:srgbClr val="202124"/>
                </a:solidFill>
                <a:latin typeface="Google Sans Flex"/>
              </a:rPr>
              <a:t>Brynjolfsson, Li, Raymond, Generative AI at Work, NBER w31161; QJE 2025</a:t>
            </a:r>
          </a:p>
          <a:p>
            <a:pPr algn="l">
              <a:spcAft>
                <a:spcPts val="100"/>
              </a:spcAft>
            </a:pPr>
            <a:r>
              <a:rPr sz="700" i="0">
                <a:solidFill>
                  <a:srgbClr val="5F6368"/>
                </a:solidFill>
                <a:latin typeface="Google Sans Flex"/>
                <a:hlinkClick r:id="rId6"/>
              </a:rPr>
              <a:t>https://www.nber.org/papers/w31161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20040" y="2359152"/>
            <a:ext cx="411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0">
                <a:solidFill>
                  <a:srgbClr val="1A73E8"/>
                </a:solidFill>
                <a:latin typeface="Google Sans Flex SemiBold"/>
              </a:rPr>
              <a:t>S6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31520" y="2359152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i="0">
                <a:solidFill>
                  <a:srgbClr val="202124"/>
                </a:solidFill>
                <a:latin typeface="Google Sans Flex"/>
              </a:rPr>
              <a:t>Philippine contact center attrition (newsbytes.ph)</a:t>
            </a:r>
          </a:p>
          <a:p>
            <a:pPr algn="l">
              <a:spcAft>
                <a:spcPts val="100"/>
              </a:spcAft>
            </a:pPr>
            <a:r>
              <a:rPr sz="700" i="0">
                <a:solidFill>
                  <a:srgbClr val="5F6368"/>
                </a:solidFill>
                <a:latin typeface="Google Sans Flex"/>
                <a:hlinkClick r:id="rId7"/>
              </a:rPr>
              <a:t>https://newsbytes.ph/2024/05/28/attrition-rates-in-ph-contact-center-firms-continue-to-go-down/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20040" y="2935224"/>
            <a:ext cx="411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0">
                <a:solidFill>
                  <a:srgbClr val="1A73E8"/>
                </a:solidFill>
                <a:latin typeface="Google Sans Flex SemiBold"/>
              </a:rPr>
              <a:t>S7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31520" y="2935224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i="0">
                <a:solidFill>
                  <a:srgbClr val="202124"/>
                </a:solidFill>
                <a:latin typeface="Google Sans Flex"/>
              </a:rPr>
              <a:t>Contact center attrition 2024 (NICE 39% global), as reported</a:t>
            </a:r>
          </a:p>
          <a:p>
            <a:pPr algn="l">
              <a:spcAft>
                <a:spcPts val="100"/>
              </a:spcAft>
            </a:pPr>
            <a:r>
              <a:rPr sz="700" i="0">
                <a:solidFill>
                  <a:srgbClr val="5F6368"/>
                </a:solidFill>
                <a:latin typeface="Google Sans Flex"/>
                <a:hlinkClick r:id="rId8"/>
              </a:rPr>
              <a:t>https://stealthagents.com/research/bpo-agent-attrition-statistics-2026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20040" y="3511296"/>
            <a:ext cx="411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0">
                <a:solidFill>
                  <a:srgbClr val="1A73E8"/>
                </a:solidFill>
                <a:latin typeface="Google Sans Flex SemiBold"/>
              </a:rPr>
              <a:t>S9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31520" y="3511296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i="0">
                <a:solidFill>
                  <a:srgbClr val="202124"/>
                </a:solidFill>
                <a:latin typeface="Google Sans Flex"/>
              </a:rPr>
              <a:t>NCU thesis citing FSC Insurance Bureau: first-year retention of new life-insurance reps below 50%</a:t>
            </a:r>
          </a:p>
          <a:p>
            <a:pPr algn="l">
              <a:spcAft>
                <a:spcPts val="100"/>
              </a:spcAft>
            </a:pPr>
            <a:r>
              <a:rPr sz="700" i="0">
                <a:solidFill>
                  <a:srgbClr val="5F6368"/>
                </a:solidFill>
                <a:latin typeface="Google Sans Flex"/>
                <a:hlinkClick r:id="rId9"/>
              </a:rPr>
              <a:t>https://etd.lib.ncu.edu.tw/detail/56554d0867235710166b1752acffa4ba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20040" y="4087368"/>
            <a:ext cx="411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0">
                <a:solidFill>
                  <a:srgbClr val="1A73E8"/>
                </a:solidFill>
                <a:latin typeface="Google Sans Flex SemiBold"/>
              </a:rPr>
              <a:t>S16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731520" y="4087368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i="0">
                <a:solidFill>
                  <a:srgbClr val="202124"/>
                </a:solidFill>
                <a:latin typeface="Google Sans Flex"/>
              </a:rPr>
              <a:t>Hyperbound US$15M Series A (Sept 2025)</a:t>
            </a:r>
          </a:p>
          <a:p>
            <a:pPr algn="l">
              <a:spcAft>
                <a:spcPts val="100"/>
              </a:spcAft>
            </a:pPr>
            <a:r>
              <a:rPr sz="700" i="0">
                <a:solidFill>
                  <a:srgbClr val="5F6368"/>
                </a:solidFill>
                <a:latin typeface="Google Sans Flex"/>
                <a:hlinkClick r:id="rId10"/>
              </a:rPr>
              <a:t>https://www.hyperbound.ai/blog/series-a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663440" y="1207008"/>
            <a:ext cx="411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0">
                <a:solidFill>
                  <a:srgbClr val="1A73E8"/>
                </a:solidFill>
                <a:latin typeface="Google Sans Flex SemiBold"/>
              </a:rPr>
              <a:t>S17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074920" y="1207008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i="0">
                <a:solidFill>
                  <a:srgbClr val="202124"/>
                </a:solidFill>
                <a:latin typeface="Google Sans Flex"/>
              </a:rPr>
              <a:t>Second Nature US$22M Series B (Oct 2025)</a:t>
            </a:r>
          </a:p>
          <a:p>
            <a:pPr algn="l">
              <a:spcAft>
                <a:spcPts val="100"/>
              </a:spcAft>
            </a:pPr>
            <a:r>
              <a:rPr sz="700" i="0">
                <a:solidFill>
                  <a:srgbClr val="5F6368"/>
                </a:solidFill>
                <a:latin typeface="Google Sans Flex"/>
                <a:hlinkClick r:id="rId11"/>
              </a:rPr>
              <a:t>https://pulse2.com/second-nature-22-million-series-b-raised-for-expanding-ai-based-sales-and-service-training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663440" y="1783080"/>
            <a:ext cx="411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0">
                <a:solidFill>
                  <a:srgbClr val="1A73E8"/>
                </a:solidFill>
                <a:latin typeface="Google Sans Flex SemiBold"/>
              </a:rPr>
              <a:t>S20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074920" y="178308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i="0">
                <a:solidFill>
                  <a:srgbClr val="202124"/>
                </a:solidFill>
                <a:latin typeface="Google Sans Flex"/>
              </a:rPr>
              <a:t>HKMA press release: Hang Seng Bank fined HK$66.4M (27 Jan 2025)</a:t>
            </a:r>
          </a:p>
          <a:p>
            <a:pPr algn="l">
              <a:spcAft>
                <a:spcPts val="100"/>
              </a:spcAft>
            </a:pPr>
            <a:r>
              <a:rPr sz="700" i="0">
                <a:solidFill>
                  <a:srgbClr val="5F6368"/>
                </a:solidFill>
                <a:latin typeface="Google Sans Flex"/>
                <a:hlinkClick r:id="rId12"/>
              </a:rPr>
              <a:t>https://www.hkma.gov.hk/eng/news-and-media/press-releases/2025/01/20250127-4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663440" y="2359152"/>
            <a:ext cx="411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0">
                <a:solidFill>
                  <a:srgbClr val="1A73E8"/>
                </a:solidFill>
                <a:latin typeface="Google Sans Flex SemiBold"/>
              </a:rPr>
              <a:t>S27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074920" y="2359152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i="0">
                <a:solidFill>
                  <a:srgbClr val="202124"/>
                </a:solidFill>
                <a:latin typeface="Google Sans Flex"/>
              </a:rPr>
              <a:t>Google Cloud: Vertex AI generative AI data residency (checked 2026-10-15)</a:t>
            </a:r>
          </a:p>
          <a:p>
            <a:pPr algn="l">
              <a:spcAft>
                <a:spcPts val="100"/>
              </a:spcAft>
            </a:pPr>
            <a:r>
              <a:rPr sz="700" i="0">
                <a:solidFill>
                  <a:srgbClr val="5F6368"/>
                </a:solidFill>
                <a:latin typeface="Google Sans Flex"/>
                <a:hlinkClick r:id="rId13"/>
              </a:rPr>
              <a:t>https://docs.cloud.google.com/vertex-ai/generative-ai/docs/learn/data-residency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663440" y="2935224"/>
            <a:ext cx="411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0">
                <a:solidFill>
                  <a:srgbClr val="1A73E8"/>
                </a:solidFill>
                <a:latin typeface="Google Sans Flex SemiBold"/>
              </a:rPr>
              <a:t>S29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5074920" y="2935224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i="0">
                <a:solidFill>
                  <a:srgbClr val="202124"/>
                </a:solidFill>
                <a:latin typeface="Google Sans Flex"/>
              </a:rPr>
              <a:t>MAS Guidelines on Fair Dealing (FAA-G11, May 2024)</a:t>
            </a:r>
          </a:p>
          <a:p>
            <a:pPr algn="l">
              <a:spcAft>
                <a:spcPts val="100"/>
              </a:spcAft>
            </a:pPr>
            <a:r>
              <a:rPr sz="700" i="0">
                <a:solidFill>
                  <a:srgbClr val="5F6368"/>
                </a:solidFill>
                <a:latin typeface="Google Sans Flex"/>
                <a:hlinkClick r:id="rId14"/>
              </a:rPr>
              <a:t>https://www.mas.gov.sg/-/media/mas-media-library/fair-dealing-guidelines-30-may-2024.pdf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663440" y="3511296"/>
            <a:ext cx="411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i="0">
                <a:solidFill>
                  <a:srgbClr val="1A73E8"/>
                </a:solidFill>
                <a:latin typeface="Google Sans Flex SemiBold"/>
              </a:rPr>
              <a:t>S30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5074920" y="3511296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850" i="0">
                <a:solidFill>
                  <a:srgbClr val="202124"/>
                </a:solidFill>
                <a:latin typeface="Google Sans Flex"/>
              </a:rPr>
              <a:t>Insurance Business Asia: Singapore insurance agent numbers (~19,000)</a:t>
            </a:r>
          </a:p>
          <a:p>
            <a:pPr algn="l">
              <a:spcAft>
                <a:spcPts val="100"/>
              </a:spcAft>
            </a:pPr>
            <a:r>
              <a:rPr sz="700" i="0">
                <a:solidFill>
                  <a:srgbClr val="5F6368"/>
                </a:solidFill>
                <a:latin typeface="Google Sans Flex"/>
                <a:hlinkClick r:id="rId15"/>
              </a:rPr>
              <a:t>https://www.insurancebusinessmag.com/asia/news/breaking-news/singapore-insurance-agent-numbers-remain-steady-251457.aspx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i="1">
                <a:solidFill>
                  <a:srgbClr val="5F6368"/>
                </a:solidFill>
                <a:latin typeface="Google Sans Flex"/>
              </a:rPr>
              <a:t>Figures marked (estimate) are our own model. Full list with notes: docs/BUSINESS_CASE.md, section 12.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2" name="Google Shape;132;p23" title="Frame 144.png"/>
          <p:cNvPicPr preferRelativeResize="0"/>
          <p:nvPr/>
        </p:nvPicPr>
        <p:blipFill rotWithShape="1">
          <a:blip r:embed="rId2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prototype: knowledge and team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persona_detai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07008"/>
            <a:ext cx="4169663" cy="2606039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320040" y="3922776"/>
            <a:ext cx="41696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An approved persona: profile, hidden needs and objections, each grounded in cited source passages.</a:t>
            </a:r>
          </a:p>
        </p:txBody>
      </p:sp>
      <p:pic>
        <p:nvPicPr>
          <p:cNvPr id="138" name="Picture 137" descr="dashboar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295" y="1207008"/>
            <a:ext cx="4169663" cy="2606039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4654295" y="3922776"/>
            <a:ext cx="41696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Manager readiness view: who is ready to go live, weakest skills, top violations (sample team data, labeled in the app).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2" name="Google Shape;132;p23" title="Frame 144.png"/>
          <p:cNvPicPr preferRelativeResize="0"/>
          <p:nvPr/>
        </p:nvPicPr>
        <p:blipFill rotWithShape="1">
          <a:blip r:embed="rId2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prototype: evidence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report_evidenc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07008"/>
            <a:ext cx="4169663" cy="2606039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320040" y="3922776"/>
            <a:ext cx="41696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Skills, with evidence: each score quotes the trainee's own words; select a quote to jump to that turn in the transcript.</a:t>
            </a:r>
          </a:p>
        </p:txBody>
      </p:sp>
      <p:pic>
        <p:nvPicPr>
          <p:cNvPr id="138" name="Picture 137" descr="report_violation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295" y="1207008"/>
            <a:ext cx="4169663" cy="2606039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4654295" y="3922776"/>
            <a:ext cx="41696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Compliance violations name the rule and the exact phrase; strengths and next steps turn the grade into a coaching plan.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2" name="Google Shape;132;p23" title="Frame 144.png"/>
          <p:cNvPicPr preferRelativeResize="0"/>
          <p:nvPr/>
        </p:nvPicPr>
        <p:blipFill rotWithShape="1">
          <a:blip r:embed="rId2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prototype: coaching and the report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practice_sess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07008"/>
            <a:ext cx="4169663" cy="2606039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320040" y="3922776"/>
            <a:ext cx="41696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Later in the session: trust has dropped, the coach suggests the next move, and every customer reply cites the knowledge base.</a:t>
            </a:r>
          </a:p>
        </p:txBody>
      </p:sp>
      <p:pic>
        <p:nvPicPr>
          <p:cNvPr id="138" name="Picture 137" descr="repor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295" y="1207008"/>
            <a:ext cx="4169663" cy="2606039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4654295" y="3922776"/>
            <a:ext cx="41696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i="0">
                <a:solidFill>
                  <a:srgbClr val="202124"/>
                </a:solidFill>
                <a:latin typeface="Google Sans Flex"/>
              </a:rPr>
              <a:t>The report: one high-severity violation fails the compliance gate and caps the score (28 here), however good the rest was.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