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Customer-facing work is one of the largest parts of the workforce, and new hires still learn it on real customers. SkillCoach gives every new hire a realistic practice customer and a coach, built from the company's own manuals and rulebooks, and running on Gemini and Cloud Run today. Everything in this deck is in the deployed build unless it is labeled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theme asks how AI changes the way people access knowledge, make decisions and get everyday work done. Our answer: company knowledge stops being something you read and becomes something you practice. A new insurance advisor rehearses the conversation they are most afraid of, until they can handle it without breaking a rule, before they ever meet a real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pains show up together in regulated selling. First, churn: across the region, new agents and service staff leave quickly, and every departure throws away recruiting, licensing and training spend. Second, practice depends on senior people: training hours are shrinking, and live simulations cost tens of dollars per session, so most recruits get very little realistic practice. Third, compliance: a single phrase such as "this plan guarantees your principal" breaches the rules. Fines per firm are small, so we don't sell on fines. The real cost is complaints, remediation and licence risk, and regulators like MAS expect firms to prove competence before a representative advises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has three steps. Build: an admin uploads documents, and in well under a minute Gemini drafts a set of realistic customers from them. Each objection and hidden need carries a citation to the passage it came from, and nothing is used until a human approves it. Practice: the trainee talks to the AI customer, who has a real concern they won't reveal unless asked well. Before each message is sent, the Compliance Guard checks it against the company's rules in about a second. Prove: the report quotes the trainee's own words for every score, and one serious violation fails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not replays. Every customer line is generated live by Gemini, so the wording changes each time, but the behaviors are stable because they are anchored in seed data: verbatim opening lines, explicit compliance rules with citations, and objections tied to triggers. In A, a good discovery question makes the CFO admit her team abandoned the last tool, and the trainee closes on a pilot with a date. In B, the Guard stops a guaranteed-return promise before it reaches the customer. In C, the customer only shares that the headphones were a birthday gift after the trainee apologizes, offers real options and asks gently. That is the soft skill we want to 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no servers to manage and no custom model training. The frontend and API are stateless Cloud Run services that autoscale. Every turn is one HTTP request that streams events back to the browser: the compliance pre-check, the customer's reply token by token, the grounding post-check, the trust and patience meters, and the coach hint. Retrieval takes about 0.25 seconds on the live service. Data at rest and embeddings stay in the APAC region we choose; Gemini generation runs through the Vertex AI global endpoint, and we say exactly that to buyers [S27].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our technical story. Instead of one big prompt, each job is a separate Gemini call with its own system instructions and JSON schema, and the cheapest model that does the job well. Calls that don't depend on each other run in parallel. The compliance judge starts while retrieval and the reply run. After the reply, the grounding check, the state update and the coach hint all run at once. The most important design decision is that nothing the model claims as evidence is trusted. Persona citations, scenario rules and report quotes are all checked by the server against the documents or the transcript, and anything that doesn't match is dropped or marked unverified.
Right model for the job: Gemini 4 Argon where quality shows (the customer's voice, the builder, the report); Flash-Lite for per-turn judgments that must finish in about a second. Every tier has an automatic fallback chain (Argon to 3.8 Flash; report to 3.1 Pro to 2.5 Pro), so a model outage degrades quality, not availability. Thinking control: low on every agent keeps a full turn at about 5 s with the first words in 2-2.7 s. Argon drafts richer, more heavily cited personas than 3.8 Flash (106 of 106 citations verified) at about 3x the generation time, a trade-off we accept for a one-off authoring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regulated industries, an AI score nobody can explain is a score nobody will accept, not the trainee, not HR and not the Compliance Officer. So trust is designed in at three points. The compliance gate mirrors real life: a great conversation with one forbidden promise still fails. This kind of explainability is what regional regulators ask for in their AI guidance [S13] and what MAS's competence expectations need as evidence [S29].
The screenshot is the real report from the recorded demo session: compliance FAIL, score capped at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careful with impact claims. The evidence that AI assistance helps new workers most is strong and peer-reviewed [S3], and new hires are exactly our users. Our own ROI model is an estimate. We show it with its weak point: if SkillCoach only saved manager time, it would roughly break even. The value comes from faster ramp and lower early attrition, so the pilot is designed to prove or disprove exactly those numbers. Pilot KPIs: time to first solo call, compliance flags per 100 turns, manager hours per recruit, and AI-vs-assessor score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shown is running on the live service. The numbers we measured there: about 1 second for the Compliance Guard, about 5 seconds per full turn with the first words in 2 to 3 seconds, and about 6 seconds for the report. On data residency we are deliberately precise: documents, transcripts, scores and embeddings stay in the chosen APAC region, Gemini generation goes through the Vertex AI global endpoint because that is where Gemini 4 Argon and the 3.x models are served, and Vertex AI does not train on customer data [S27]. We never claim that data never leaves a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Insurance is where all four pains meet: churn, untested new hires, compliance risk and know-how trapped in senior people, and the buyer already has a training budget line. Singapore lets us sell in English today under a regulator whose expectations map directly to evidence-backed practice. AI role-play itself is not new, so our wedge is specific: documents in, approved personas out, and a compliance gate with verbatim evidence. We price per active seat because agency headcount churns.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under "Now" is in the deployed build and in the video. Everything else is labeled planned, and the next step is a paid 8-week pilot with a control cohort and pre-agreed KPIs. SkillCoach: practice the conversation before it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source list with notes: docs/BUSINESS_CASE.md, section 12. Numbers labeled (estimate) are our own model, not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SkillCoach  ·  Google Cloud AI Builder Cup 2026</a:t>
            </a:r>
            <a:endParaRPr lang="en-US" sz="1000" dirty="0"/>
          </a:p>
        </p:txBody>
      </p:sp>
      <p:sp>
        <p:nvSpPr>
          <p:cNvPr id="3" name="Text 1"/>
          <p:cNvSpPr/>
          <p:nvPr>
            <p:ph idx="101" type="body" hasCustomPrompt="1"/>
          </p:nvPr>
        </p:nvSpPr>
        <p:spPr>
          <a:xfrm>
            <a:off x="548640" y="384048"/>
            <a:ext cx="11094415" cy="292608"/>
          </a:xfrm>
          <a:prstGeom prst="rect">
            <a:avLst/>
          </a:prstGeom>
          <a:noFill/>
          <a:ln/>
        </p:spPr>
        <p:txBody>
          <a:bodyPr wrap="square" rtlCol="0"/>
          <a:lstStyle>
            <a:lvl1pPr indent="0" marL="0">
              <a:buNone/>
              <a:defRPr lang="en-US" sz="1300" b="1" spc="100" kern="0" dirty="0">
                <a:solidFill>
                  <a:srgbClr val="4F46E5"/>
                </a:solidFill>
                <a:latin typeface="Segoe UI" pitchFamily="34" charset="0"/>
                <a:ea typeface="Segoe UI" pitchFamily="34" charset="-122"/>
                <a:cs typeface="Segoe UI" pitchFamily="34" charset="-120"/>
              </a:defRPr>
            </a:lvl1pPr>
          </a:lstStyle>
          <a:p>
            <a:pPr indent="0" marL="0">
              <a:buNone/>
            </a:pPr>
            <a:endParaRPr lang="en-US" sz="1300" dirty="0"/>
          </a:p>
        </p:txBody>
      </p:sp>
      <p:sp>
        <p:nvSpPr>
          <p:cNvPr id="4" name="Text 1"/>
          <p:cNvSpPr/>
          <p:nvPr>
            <p:ph idx="102" type="title" hasCustomPrompt="1"/>
          </p:nvPr>
        </p:nvSpPr>
        <p:spPr>
          <a:xfrm>
            <a:off x="548640" y="694944"/>
            <a:ext cx="11094415" cy="914400"/>
          </a:xfrm>
          <a:prstGeom prst="rect">
            <a:avLst/>
          </a:prstGeom>
          <a:noFill/>
          <a:ln/>
        </p:spPr>
        <p:txBody>
          <a:bodyPr wrap="square" rtlCol="0"/>
          <a:lstStyle>
            <a:lvl1pPr algn="l" indent="0" marL="0">
              <a:buNone/>
              <a:defRPr lang="en-US" sz="2800" b="1" dirty="0">
                <a:solidFill>
                  <a:srgbClr val="0F172A"/>
                </a:solidFill>
                <a:latin typeface="Segoe UI" pitchFamily="34" charset="0"/>
                <a:ea typeface="Segoe UI" pitchFamily="34" charset="-122"/>
                <a:cs typeface="Segoe U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jease0502/SkillCoach-AIBC"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www.td.org/content/atd-blog/benchmarks-and-trends-from-the-2025-state-of-the-industry-report" TargetMode="External"/><Relationship Id="rId2" Type="http://schemas.openxmlformats.org/officeDocument/2006/relationships/hyperlink" Target="https://www.nber.org/papers/w31161" TargetMode="External"/><Relationship Id="rId3" Type="http://schemas.openxmlformats.org/officeDocument/2006/relationships/hyperlink" Target="https://newsbytes.ph/2024/05/28/attrition-rates-in-ph-contact-center-firms-continue-to-go-down/" TargetMode="External"/><Relationship Id="rId4" Type="http://schemas.openxmlformats.org/officeDocument/2006/relationships/hyperlink" Target="https://stealthagents.com/research/bpo-agent-attrition-statistics-2026" TargetMode="External"/><Relationship Id="rId5" Type="http://schemas.openxmlformats.org/officeDocument/2006/relationships/hyperlink" Target="https://etd.lib.ncu.edu.tw/detail/56554d0867235710166b1752acffa4ba" TargetMode="External"/><Relationship Id="rId6" Type="http://schemas.openxmlformats.org/officeDocument/2006/relationships/hyperlink" Target="https://www.leeandli.com/EN/Newsletters/7287.htm" TargetMode="External"/><Relationship Id="rId7" Type="http://schemas.openxmlformats.org/officeDocument/2006/relationships/hyperlink" Target="https://www.hyperbound.ai/blog/series-a" TargetMode="External"/><Relationship Id="rId8" Type="http://schemas.openxmlformats.org/officeDocument/2006/relationships/hyperlink" Target="https://pulse2.com/second-nature-22-million-series-b-raised-for-expanding-ai-based-sales-and-service-training" TargetMode="External"/><Relationship Id="rId9" Type="http://schemas.openxmlformats.org/officeDocument/2006/relationships/hyperlink" Target="https://www.hkma.gov.hk/eng/news-and-media/press-releases/2025/01/20250127-4" TargetMode="External"/><Relationship Id="rId10" Type="http://schemas.openxmlformats.org/officeDocument/2006/relationships/hyperlink" Target="https://www.mas.gov.sg/news/media-releases/2025/key-regulatory-and-enforcement-actions-taken-by-mas-in-q3-2025" TargetMode="External"/><Relationship Id="rId11" Type="http://schemas.openxmlformats.org/officeDocument/2006/relationships/hyperlink" Target="https://www.inc.com/sophie-downes/mursion-virtual-reality-simulation-empathy-workplace-training-learning.html" TargetMode="External"/><Relationship Id="rId12" Type="http://schemas.openxmlformats.org/officeDocument/2006/relationships/hyperlink" Target="https://docs.cloud.google.com/vertex-ai/generative-ai/docs/learn/data-residency" TargetMode="External"/><Relationship Id="rId13" Type="http://schemas.openxmlformats.org/officeDocument/2006/relationships/hyperlink" Target="https://www.mas.gov.sg/-/media/mas-media-library/fair-dealing-guidelines-30-may-2024.pdf" TargetMode="External"/><Relationship Id="rId14" Type="http://schemas.openxmlformats.org/officeDocument/2006/relationships/hyperlink" Target="https://www.insurancebusinessmag.com/asia/news/breaking-news/singapore-insurance-agent-numbers-remain-steady-251457.aspx" TargetMode="External"/><Relationship Id="rId15" Type="http://schemas.openxmlformats.org/officeDocument/2006/relationships/slideLayout" Target="../slideLayouts/slideLayout2.xml"/><Relationship Id="rId1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548640"/>
            <a:ext cx="457200" cy="457200"/>
          </a:xfrm>
          <a:prstGeom prst="roundRect">
            <a:avLst>
              <a:gd name="adj" fmla="val 20000"/>
            </a:avLst>
          </a:prstGeom>
          <a:solidFill>
            <a:srgbClr val="4F46E5"/>
          </a:solidFill>
          <a:ln w="12700">
            <a:solidFill>
              <a:srgbClr val="4F46E5"/>
            </a:solidFill>
            <a:prstDash val="solid"/>
          </a:ln>
        </p:spPr>
      </p:sp>
      <p:sp>
        <p:nvSpPr>
          <p:cNvPr id="3" name="Text 1"/>
          <p:cNvSpPr txBox="1"/>
          <p:nvPr/>
        </p:nvSpPr>
        <p:spPr>
          <a:xfrm>
            <a:off x="548640" y="54864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S</a:t>
            </a:r>
            <a:endParaRPr lang="en-US" sz="2000" dirty="0"/>
          </a:p>
        </p:txBody>
      </p:sp>
      <p:sp>
        <p:nvSpPr>
          <p:cNvPr id="4" name="Text 2"/>
          <p:cNvSpPr txBox="1"/>
          <p:nvPr/>
        </p:nvSpPr>
        <p:spPr>
          <a:xfrm>
            <a:off x="1143000" y="548640"/>
            <a:ext cx="2743200" cy="457200"/>
          </a:xfrm>
          <a:prstGeom prst="rect">
            <a:avLst/>
          </a:prstGeom>
          <a:noFill/>
          <a:ln/>
        </p:spPr>
        <p:txBody>
          <a:bodyPr wrap="square" lIns="0" tIns="0" rIns="0" bIns="0"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SkillCoach</a:t>
            </a:r>
            <a:endParaRPr lang="en-US" sz="2000" dirty="0"/>
          </a:p>
        </p:txBody>
      </p:sp>
      <p:sp>
        <p:nvSpPr>
          <p:cNvPr id="5" name="Text 3"/>
          <p:cNvSpPr txBox="1"/>
          <p:nvPr/>
        </p:nvSpPr>
        <p:spPr>
          <a:xfrm>
            <a:off x="548640" y="1234440"/>
            <a:ext cx="6035040" cy="457200"/>
          </a:xfrm>
          <a:prstGeom prst="rect">
            <a:avLst/>
          </a:prstGeom>
          <a:noFill/>
          <a:ln/>
        </p:spPr>
        <p:txBody>
          <a:bodyPr wrap="square" lIns="0" tIns="0" rIns="0" bIns="0" rtlCol="0" anchor="t"/>
          <a:lstStyle/>
          <a:p>
            <a:pPr indent="0" marL="0">
              <a:buNone/>
            </a:pPr>
            <a:r>
              <a:rPr lang="en-US" sz="1200" b="1" dirty="0">
                <a:solidFill>
                  <a:srgbClr val="4F46E5"/>
                </a:solidFill>
                <a:latin typeface="Segoe UI" pitchFamily="34" charset="0"/>
                <a:ea typeface="Segoe UI" pitchFamily="34" charset="-122"/>
                <a:cs typeface="Segoe UI" pitchFamily="34" charset="-120"/>
              </a:rPr>
              <a:t>Google Cloud AI Builder Cup 2026</a:t>
            </a:r>
            <a:endParaRPr lang="en-US" sz="1200" dirty="0"/>
          </a:p>
          <a:p>
            <a:pPr indent="0" marL="0">
              <a:buNone/>
            </a:pPr>
            <a:r>
              <a:rPr lang="en-US" sz="1200" b="1" dirty="0">
                <a:solidFill>
                  <a:srgbClr val="4F46E5"/>
                </a:solidFill>
                <a:latin typeface="Segoe UI" pitchFamily="34" charset="0"/>
                <a:ea typeface="Segoe UI" pitchFamily="34" charset="-122"/>
                <a:cs typeface="Segoe UI" pitchFamily="34" charset="-120"/>
              </a:rPr>
              <a:t>Theme: Future of Work &amp; Enterprise Productivity</a:t>
            </a:r>
            <a:endParaRPr lang="en-US" sz="1200" dirty="0"/>
          </a:p>
        </p:txBody>
      </p:sp>
      <p:sp>
        <p:nvSpPr>
          <p:cNvPr id="6" name="Text 4"/>
          <p:cNvSpPr txBox="1"/>
          <p:nvPr/>
        </p:nvSpPr>
        <p:spPr>
          <a:xfrm>
            <a:off x="548640" y="1874520"/>
            <a:ext cx="6126480" cy="2103120"/>
          </a:xfrm>
          <a:prstGeom prst="rect">
            <a:avLst/>
          </a:prstGeom>
          <a:noFill/>
          <a:ln/>
        </p:spPr>
        <p:txBody>
          <a:bodyPr wrap="square" lIns="0" tIns="0" rIns="0" bIns="0" rtlCol="0" anchor="t"/>
          <a:lstStyle/>
          <a:p>
            <a:pPr indent="0" marL="0">
              <a:lnSpc>
                <a:spcPct val="95000"/>
              </a:lnSpc>
              <a:buNone/>
            </a:pPr>
            <a:r>
              <a:rPr lang="en-US" sz="4400" b="1" dirty="0">
                <a:solidFill>
                  <a:srgbClr val="0F172A"/>
                </a:solidFill>
                <a:latin typeface="Segoe UI" pitchFamily="34" charset="0"/>
                <a:ea typeface="Segoe UI" pitchFamily="34" charset="-122"/>
                <a:cs typeface="Segoe UI" pitchFamily="34" charset="-120"/>
              </a:rPr>
              <a:t>Practice the</a:t>
            </a:r>
            <a:endParaRPr lang="en-US" sz="4400" dirty="0"/>
          </a:p>
          <a:p>
            <a:pPr indent="0" marL="0">
              <a:lnSpc>
                <a:spcPct val="95000"/>
              </a:lnSpc>
              <a:buNone/>
            </a:pPr>
            <a:r>
              <a:rPr lang="en-US" sz="4400" b="1" dirty="0">
                <a:solidFill>
                  <a:srgbClr val="0F172A"/>
                </a:solidFill>
                <a:latin typeface="Segoe UI" pitchFamily="34" charset="0"/>
                <a:ea typeface="Segoe UI" pitchFamily="34" charset="-122"/>
                <a:cs typeface="Segoe UI" pitchFamily="34" charset="-120"/>
              </a:rPr>
              <a:t>conversation</a:t>
            </a:r>
            <a:endParaRPr lang="en-US" sz="4400" dirty="0"/>
          </a:p>
          <a:p>
            <a:pPr indent="0" marL="0">
              <a:lnSpc>
                <a:spcPct val="95000"/>
              </a:lnSpc>
              <a:buNone/>
            </a:pPr>
            <a:r>
              <a:rPr lang="en-US" sz="4400" b="1" dirty="0">
                <a:solidFill>
                  <a:srgbClr val="4F46E5"/>
                </a:solidFill>
                <a:latin typeface="Segoe UI" pitchFamily="34" charset="0"/>
                <a:ea typeface="Segoe UI" pitchFamily="34" charset="-122"/>
                <a:cs typeface="Segoe UI" pitchFamily="34" charset="-120"/>
              </a:rPr>
              <a:t>before it counts.</a:t>
            </a:r>
            <a:endParaRPr lang="en-US" sz="4400" dirty="0"/>
          </a:p>
        </p:txBody>
      </p:sp>
      <p:sp>
        <p:nvSpPr>
          <p:cNvPr id="7" name="Text 5"/>
          <p:cNvSpPr txBox="1"/>
          <p:nvPr/>
        </p:nvSpPr>
        <p:spPr>
          <a:xfrm>
            <a:off x="548640" y="4114800"/>
            <a:ext cx="5760720" cy="914400"/>
          </a:xfrm>
          <a:prstGeom prst="rect">
            <a:avLst/>
          </a:prstGeom>
          <a:noFill/>
          <a:ln/>
        </p:spPr>
        <p:txBody>
          <a:bodyPr wrap="square" lIns="0" tIns="0" rIns="0" bIns="0" rtlCol="0" anchor="t"/>
          <a:lstStyle/>
          <a:p>
            <a:pPr indent="0" marL="0">
              <a:buNone/>
            </a:pPr>
            <a:r>
              <a:rPr lang="en-US" sz="1800" dirty="0">
                <a:solidFill>
                  <a:srgbClr val="334155"/>
                </a:solidFill>
                <a:latin typeface="Segoe UI" pitchFamily="34" charset="0"/>
                <a:ea typeface="Segoe UI" pitchFamily="34" charset="-122"/>
                <a:cs typeface="Segoe UI" pitchFamily="34" charset="-120"/>
              </a:rPr>
              <a:t>AI customers built from your company's own documents, a Compliance Guard on every message, and scores that quote your words.</a:t>
            </a:r>
            <a:endParaRPr lang="en-US" sz="1800" dirty="0"/>
          </a:p>
        </p:txBody>
      </p:sp>
      <p:sp>
        <p:nvSpPr>
          <p:cNvPr id="8" name="Text 6"/>
          <p:cNvSpPr txBox="1"/>
          <p:nvPr/>
        </p:nvSpPr>
        <p:spPr>
          <a:xfrm>
            <a:off x="548640" y="5166360"/>
            <a:ext cx="6035040" cy="1143000"/>
          </a:xfrm>
          <a:prstGeom prst="rect">
            <a:avLst/>
          </a:prstGeom>
          <a:noFill/>
          <a:ln/>
        </p:spPr>
        <p:txBody>
          <a:bodyPr wrap="square" lIns="0" tIns="0" rIns="0" bIns="0" rtlCol="0" anchor="t"/>
          <a:lstStyle/>
          <a:p>
            <a:pPr indent="0" marL="0">
              <a:spcAft>
                <a:spcPts val="400"/>
              </a:spcAft>
              <a:buNone/>
            </a:pPr>
            <a:r>
              <a:rPr lang="en-US" sz="1300" b="1" dirty="0">
                <a:solidFill>
                  <a:srgbClr val="0F172A"/>
                </a:solidFill>
                <a:latin typeface="Segoe UI" pitchFamily="34" charset="0"/>
                <a:ea typeface="Segoe UI" pitchFamily="34" charset="-122"/>
                <a:cs typeface="Segoe UI" pitchFamily="34" charset="-120"/>
              </a:rPr>
              <a:t>[Team name]</a:t>
            </a:r>
            <a:endParaRPr lang="en-US" sz="1300" dirty="0"/>
          </a:p>
          <a:p>
            <a:pPr indent="0" marL="0">
              <a:spcAft>
                <a:spcPts val="400"/>
              </a:spcAft>
              <a:buNone/>
            </a:pPr>
            <a:r>
              <a:rPr lang="en-US" sz="1300" dirty="0">
                <a:solidFill>
                  <a:srgbClr val="334155"/>
                </a:solidFill>
                <a:latin typeface="Segoe UI" pitchFamily="34" charset="0"/>
                <a:ea typeface="Segoe UI" pitchFamily="34" charset="-122"/>
                <a:cs typeface="Segoe UI" pitchFamily="34" charset="-120"/>
              </a:rPr>
              <a:t>Live demo: skillcoach-web-817759648389.asia-east1.run.app</a:t>
            </a:r>
            <a:endParaRPr lang="en-US" sz="1300" dirty="0"/>
          </a:p>
          <a:p>
            <a:pPr indent="0" marL="0">
              <a:spcAft>
                <a:spcPts val="400"/>
              </a:spcAft>
              <a:buNone/>
            </a:pPr>
            <a:r>
              <a:rPr lang="en-US" sz="1300" dirty="0">
                <a:solidFill>
                  <a:srgbClr val="334155"/>
                </a:solidFill>
                <a:latin typeface="Segoe UI" pitchFamily="34" charset="0"/>
                <a:ea typeface="Segoe UI" pitchFamily="34" charset="-122"/>
                <a:cs typeface="Segoe UI" pitchFamily="34" charset="-120"/>
              </a:rPr>
              <a:t>Video: [Video URL]</a:t>
            </a:r>
            <a:endParaRPr lang="en-US" sz="1300" dirty="0"/>
          </a:p>
          <a:p>
            <a:pPr indent="0" marL="0">
              <a:spcAft>
                <a:spcPts val="400"/>
              </a:spcAft>
              <a:buNone/>
            </a:pPr>
            <a:r>
              <a:rPr lang="en-US" sz="1300" dirty="0">
                <a:solidFill>
                  <a:srgbClr val="334155"/>
                </a:solidFill>
                <a:latin typeface="Segoe UI" pitchFamily="34" charset="0"/>
                <a:ea typeface="Segoe UI" pitchFamily="34" charset="-122"/>
                <a:cs typeface="Segoe UI" pitchFamily="34" charset="-120"/>
              </a:rPr>
              <a:t>GitHub: github.com/jease0502/SkillCoach-AIBC</a:t>
            </a:r>
            <a:endParaRPr lang="en-US" sz="1300" dirty="0"/>
          </a:p>
        </p:txBody>
      </p:sp>
      <p:sp>
        <p:nvSpPr>
          <p:cNvPr id="9" name="Shape 7"/>
          <p:cNvSpPr/>
          <p:nvPr/>
        </p:nvSpPr>
        <p:spPr>
          <a:xfrm>
            <a:off x="6903720" y="548640"/>
            <a:ext cx="4736592" cy="5760720"/>
          </a:xfrm>
          <a:prstGeom prst="roundRect">
            <a:avLst>
              <a:gd name="adj" fmla="val 4826"/>
            </a:avLst>
          </a:prstGeom>
          <a:solidFill>
            <a:srgbClr val="EEF2FF"/>
          </a:solidFill>
          <a:ln w="12700">
            <a:solidFill>
              <a:srgbClr val="EEF2FF"/>
            </a:solidFill>
            <a:prstDash val="solid"/>
          </a:ln>
        </p:spPr>
      </p:sp>
      <p:sp>
        <p:nvSpPr>
          <p:cNvPr id="10" name="Shape 8"/>
          <p:cNvSpPr/>
          <p:nvPr/>
        </p:nvSpPr>
        <p:spPr>
          <a:xfrm>
            <a:off x="7114032" y="1682496"/>
            <a:ext cx="4315968" cy="2699777"/>
          </a:xfrm>
          <a:prstGeom prst="roundRect">
            <a:avLst>
              <a:gd name="adj" fmla="val 2710"/>
            </a:avLst>
          </a:prstGeom>
          <a:solidFill>
            <a:srgbClr val="FFFFFF"/>
          </a:solidFill>
          <a:ln w="12700">
            <a:solidFill>
              <a:srgbClr val="E2E8F0"/>
            </a:solidFill>
            <a:prstDash val="solid"/>
          </a:ln>
          <a:effectLst>
            <a:outerShdw sx="100000" sy="100000" kx="0" ky="0" algn="bl" rotWithShape="0" blurRad="101600" dist="25400" dir="5400000">
              <a:srgbClr val="0F172A">
                <a:alpha val="8000"/>
              </a:srgbClr>
            </a:outerShdw>
          </a:effectLst>
        </p:spPr>
      </p:sp>
      <p:pic>
        <p:nvPicPr>
          <p:cNvPr id="11" name="Image 0" descr="D:/github/SkillCoach-AIBC/media/deck/crop_guard_full.png">    </p:cNvPr>
          <p:cNvPicPr>
            <a:picLocks noChangeAspect="1"/>
          </p:cNvPicPr>
          <p:nvPr/>
        </p:nvPicPr>
        <p:blipFill>
          <a:blip r:embed="rId1"/>
          <a:stretch>
            <a:fillRect/>
          </a:stretch>
        </p:blipFill>
        <p:spPr>
          <a:xfrm>
            <a:off x="7168896" y="1737360"/>
            <a:ext cx="4206240" cy="2590049"/>
          </a:xfrm>
          <a:prstGeom prst="rect">
            <a:avLst/>
          </a:prstGeom>
        </p:spPr>
      </p:pic>
      <p:sp>
        <p:nvSpPr>
          <p:cNvPr id="12" name="Text 9"/>
          <p:cNvSpPr txBox="1"/>
          <p:nvPr/>
        </p:nvSpPr>
        <p:spPr>
          <a:xfrm>
            <a:off x="7168896" y="4647449"/>
            <a:ext cx="4206240" cy="82296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The trainee types a guaranteed-return promise; the Guard names rule CC-01 and offers Edit message or Send anyway.</a:t>
            </a:r>
            <a:endParaRPr lang="en-US" sz="1300" dirty="0"/>
          </a:p>
        </p:txBody>
      </p:sp>
      <p:sp>
        <p:nvSpPr>
          <p:cNvPr id="13" name="Text 10"/>
          <p:cNvSpPr txBox="1"/>
          <p:nvPr/>
        </p:nvSpPr>
        <p:spPr>
          <a:xfrm>
            <a:off x="7168896" y="1051560"/>
            <a:ext cx="4206240" cy="502920"/>
          </a:xfrm>
          <a:prstGeom prst="rect">
            <a:avLst/>
          </a:prstGeom>
          <a:noFill/>
          <a:ln/>
        </p:spPr>
        <p:txBody>
          <a:bodyPr wrap="square" lIns="0" tIns="0" rIns="0" bIns="0" rtlCol="0" anchor="t"/>
          <a:lstStyle/>
          <a:p>
            <a:pPr indent="0" marL="0">
              <a:buNone/>
            </a:pPr>
            <a:r>
              <a:rPr lang="en-US" sz="1200" b="1" dirty="0">
                <a:solidFill>
                  <a:srgbClr val="4F46E5"/>
                </a:solidFill>
                <a:latin typeface="Segoe UI" pitchFamily="34" charset="0"/>
                <a:ea typeface="Segoe UI" pitchFamily="34" charset="-122"/>
                <a:cs typeface="Segoe UI" pitchFamily="34" charset="-120"/>
              </a:rPr>
              <a:t>Live app: Compliance Guard holds a risky message before the customer hears it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lstStyle/>
          <a:p>
            <a:pPr indent="0" marL="0">
              <a:buNone/>
            </a:pPr>
            <a:r>
              <a:rPr lang="en-US" sz="1300" b="1" spc="100" kern="0" dirty="0">
                <a:solidFill>
                  <a:srgbClr val="4F46E5"/>
                </a:solidFill>
                <a:latin typeface="Segoe UI" pitchFamily="34" charset="0"/>
                <a:ea typeface="Segoe UI" pitchFamily="34" charset="-122"/>
                <a:cs typeface="Segoe UI" pitchFamily="34" charset="-120"/>
              </a:rPr>
              <a:t>VISION</a:t>
            </a:r>
            <a:endParaRPr lang="en-US" sz="1300" dirty="0"/>
          </a:p>
        </p:txBody>
      </p:sp>
      <p:sp>
        <p:nvSpPr>
          <p:cNvPr id="3" name="Text 1"/>
          <p:cNvSpPr/>
          <p:nvPr>
            <p:ph idx="102" type="title" hasCustomPrompt="1"/>
          </p:nvPr>
        </p:nvSpPr>
        <p:spPr>
          <a:xfrm>
            <a:off x="548640" y="694944"/>
            <a:ext cx="11094415" cy="914400"/>
          </a:xfrm>
          <a:prstGeom prst="rect">
            <a:avLst/>
          </a:prstGeom>
          <a:noFill/>
          <a:ln/>
        </p:spPr>
        <p:txBody>
          <a:bodyPr wrap="square" lIns="0" tIns="0" rIns="0" bIns="0" rtlCol="0" anchor="t"/>
          <a:lstStyle/>
          <a:p>
            <a:pPr algn="l" indent="0" marL="0">
              <a:buNone/>
            </a:pPr>
            <a:r>
              <a:rPr lang="en-US" sz="2800" b="1" dirty="0">
                <a:solidFill>
                  <a:srgbClr val="0F172A"/>
                </a:solidFill>
                <a:latin typeface="Segoe UI" pitchFamily="34" charset="0"/>
                <a:ea typeface="Segoe UI" pitchFamily="34" charset="-122"/>
                <a:cs typeface="Segoe UI" pitchFamily="34" charset="-120"/>
              </a:rPr>
              <a:t>Every customer-facing employee gets a tireless practice partner that knows the company's products and rules</a:t>
            </a:r>
            <a:endParaRPr lang="en-US" sz="2800" dirty="0"/>
          </a:p>
        </p:txBody>
      </p:sp>
      <p:sp>
        <p:nvSpPr>
          <p:cNvPr id="5" name="Shape 2"/>
          <p:cNvSpPr/>
          <p:nvPr/>
        </p:nvSpPr>
        <p:spPr>
          <a:xfrm>
            <a:off x="548640" y="2011680"/>
            <a:ext cx="2377440" cy="1508760"/>
          </a:xfrm>
          <a:prstGeom prst="roundRect">
            <a:avLst>
              <a:gd name="adj" fmla="val 7273"/>
            </a:avLst>
          </a:prstGeom>
          <a:solidFill>
            <a:srgbClr val="EEF2FF"/>
          </a:solidFill>
          <a:ln w="12700">
            <a:solidFill>
              <a:srgbClr val="E0E7FF"/>
            </a:solidFill>
            <a:prstDash val="solid"/>
          </a:ln>
        </p:spPr>
      </p:sp>
      <p:sp>
        <p:nvSpPr>
          <p:cNvPr id="6" name="Shape 3"/>
          <p:cNvSpPr/>
          <p:nvPr/>
        </p:nvSpPr>
        <p:spPr>
          <a:xfrm>
            <a:off x="749808" y="2212848"/>
            <a:ext cx="365760" cy="365760"/>
          </a:xfrm>
          <a:prstGeom prst="ellipse">
            <a:avLst/>
          </a:prstGeom>
          <a:solidFill>
            <a:srgbClr val="4F46E5"/>
          </a:solidFill>
          <a:ln w="12700">
            <a:solidFill>
              <a:srgbClr val="4F46E5"/>
            </a:solidFill>
            <a:prstDash val="solid"/>
          </a:ln>
        </p:spPr>
      </p:sp>
      <p:sp>
        <p:nvSpPr>
          <p:cNvPr id="7" name="Text 4"/>
          <p:cNvSpPr txBox="1"/>
          <p:nvPr/>
        </p:nvSpPr>
        <p:spPr>
          <a:xfrm>
            <a:off x="749808" y="22128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8" name="Text 5"/>
          <p:cNvSpPr txBox="1"/>
          <p:nvPr/>
        </p:nvSpPr>
        <p:spPr>
          <a:xfrm>
            <a:off x="749808" y="2670048"/>
            <a:ext cx="2011680" cy="320040"/>
          </a:xfrm>
          <a:prstGeom prst="rect">
            <a:avLst/>
          </a:prstGeom>
          <a:noFill/>
          <a:ln/>
        </p:spPr>
        <p:txBody>
          <a:bodyPr wrap="square" lIns="0" tIns="0" rIns="0" bIns="0" rtlCol="0" anchor="t"/>
          <a:lstStyle/>
          <a:p>
            <a:pPr indent="0" marL="0">
              <a:buNone/>
            </a:pPr>
            <a:r>
              <a:rPr lang="en-US" sz="1500" b="1" dirty="0">
                <a:solidFill>
                  <a:srgbClr val="0F172A"/>
                </a:solidFill>
                <a:latin typeface="Segoe UI" pitchFamily="34" charset="0"/>
                <a:ea typeface="Segoe UI" pitchFamily="34" charset="-122"/>
                <a:cs typeface="Segoe UI" pitchFamily="34" charset="-120"/>
              </a:rPr>
              <a:t>Manuals and policies</a:t>
            </a:r>
            <a:endParaRPr lang="en-US" sz="1500" dirty="0"/>
          </a:p>
        </p:txBody>
      </p:sp>
      <p:sp>
        <p:nvSpPr>
          <p:cNvPr id="9" name="Text 6"/>
          <p:cNvSpPr txBox="1"/>
          <p:nvPr/>
        </p:nvSpPr>
        <p:spPr>
          <a:xfrm>
            <a:off x="749808" y="2990088"/>
            <a:ext cx="2011680" cy="457200"/>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What the company already has</a:t>
            </a:r>
            <a:endParaRPr lang="en-US" sz="1200" dirty="0"/>
          </a:p>
        </p:txBody>
      </p:sp>
      <p:sp>
        <p:nvSpPr>
          <p:cNvPr id="10" name="Shape 7"/>
          <p:cNvSpPr/>
          <p:nvPr/>
        </p:nvSpPr>
        <p:spPr>
          <a:xfrm>
            <a:off x="2999232" y="2670048"/>
            <a:ext cx="381914" cy="914"/>
          </a:xfrm>
          <a:prstGeom prst="line">
            <a:avLst/>
          </a:prstGeom>
          <a:noFill/>
          <a:ln w="22225">
            <a:solidFill>
              <a:srgbClr val="4F46E5"/>
            </a:solidFill>
            <a:prstDash val="solid"/>
            <a:tailEnd type="triangle"/>
          </a:ln>
        </p:spPr>
      </p:sp>
      <p:sp>
        <p:nvSpPr>
          <p:cNvPr id="11" name="Shape 8"/>
          <p:cNvSpPr/>
          <p:nvPr/>
        </p:nvSpPr>
        <p:spPr>
          <a:xfrm>
            <a:off x="3454298" y="2011680"/>
            <a:ext cx="2377440" cy="1508760"/>
          </a:xfrm>
          <a:prstGeom prst="roundRect">
            <a:avLst>
              <a:gd name="adj" fmla="val 7273"/>
            </a:avLst>
          </a:prstGeom>
          <a:solidFill>
            <a:srgbClr val="EEF2FF"/>
          </a:solidFill>
          <a:ln w="12700">
            <a:solidFill>
              <a:srgbClr val="E0E7FF"/>
            </a:solidFill>
            <a:prstDash val="solid"/>
          </a:ln>
        </p:spPr>
      </p:sp>
      <p:sp>
        <p:nvSpPr>
          <p:cNvPr id="12" name="Shape 9"/>
          <p:cNvSpPr/>
          <p:nvPr/>
        </p:nvSpPr>
        <p:spPr>
          <a:xfrm>
            <a:off x="3655466" y="2212848"/>
            <a:ext cx="365760" cy="365760"/>
          </a:xfrm>
          <a:prstGeom prst="ellipse">
            <a:avLst/>
          </a:prstGeom>
          <a:solidFill>
            <a:srgbClr val="4F46E5"/>
          </a:solidFill>
          <a:ln w="12700">
            <a:solidFill>
              <a:srgbClr val="4F46E5"/>
            </a:solidFill>
            <a:prstDash val="solid"/>
          </a:ln>
        </p:spPr>
      </p:sp>
      <p:sp>
        <p:nvSpPr>
          <p:cNvPr id="13" name="Text 10"/>
          <p:cNvSpPr txBox="1"/>
          <p:nvPr/>
        </p:nvSpPr>
        <p:spPr>
          <a:xfrm>
            <a:off x="3655466" y="22128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14" name="Text 11"/>
          <p:cNvSpPr txBox="1"/>
          <p:nvPr/>
        </p:nvSpPr>
        <p:spPr>
          <a:xfrm>
            <a:off x="3655466" y="2670048"/>
            <a:ext cx="2011680" cy="320040"/>
          </a:xfrm>
          <a:prstGeom prst="rect">
            <a:avLst/>
          </a:prstGeom>
          <a:noFill/>
          <a:ln/>
        </p:spPr>
        <p:txBody>
          <a:bodyPr wrap="square" lIns="0" tIns="0" rIns="0" bIns="0" rtlCol="0" anchor="t"/>
          <a:lstStyle/>
          <a:p>
            <a:pPr indent="0" marL="0">
              <a:buNone/>
            </a:pPr>
            <a:r>
              <a:rPr lang="en-US" sz="1500" b="1" dirty="0">
                <a:solidFill>
                  <a:srgbClr val="0F172A"/>
                </a:solidFill>
                <a:latin typeface="Segoe UI" pitchFamily="34" charset="0"/>
                <a:ea typeface="Segoe UI" pitchFamily="34" charset="-122"/>
                <a:cs typeface="Segoe UI" pitchFamily="34" charset="-120"/>
              </a:rPr>
              <a:t>AI customer + coach</a:t>
            </a:r>
            <a:endParaRPr lang="en-US" sz="1500" dirty="0"/>
          </a:p>
        </p:txBody>
      </p:sp>
      <p:sp>
        <p:nvSpPr>
          <p:cNvPr id="15" name="Text 12"/>
          <p:cNvSpPr txBox="1"/>
          <p:nvPr/>
        </p:nvSpPr>
        <p:spPr>
          <a:xfrm>
            <a:off x="3655466" y="2990088"/>
            <a:ext cx="2011680" cy="457200"/>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Realistic practice, any time</a:t>
            </a:r>
            <a:endParaRPr lang="en-US" sz="1200" dirty="0"/>
          </a:p>
        </p:txBody>
      </p:sp>
      <p:sp>
        <p:nvSpPr>
          <p:cNvPr id="16" name="Shape 13"/>
          <p:cNvSpPr/>
          <p:nvPr/>
        </p:nvSpPr>
        <p:spPr>
          <a:xfrm>
            <a:off x="5904890" y="2670048"/>
            <a:ext cx="381914" cy="914"/>
          </a:xfrm>
          <a:prstGeom prst="line">
            <a:avLst/>
          </a:prstGeom>
          <a:noFill/>
          <a:ln w="22225">
            <a:solidFill>
              <a:srgbClr val="4F46E5"/>
            </a:solidFill>
            <a:prstDash val="solid"/>
            <a:tailEnd type="triangle"/>
          </a:ln>
        </p:spPr>
      </p:sp>
      <p:sp>
        <p:nvSpPr>
          <p:cNvPr id="17" name="Shape 14"/>
          <p:cNvSpPr/>
          <p:nvPr/>
        </p:nvSpPr>
        <p:spPr>
          <a:xfrm>
            <a:off x="6359957" y="2011680"/>
            <a:ext cx="2377440" cy="1508760"/>
          </a:xfrm>
          <a:prstGeom prst="roundRect">
            <a:avLst>
              <a:gd name="adj" fmla="val 7273"/>
            </a:avLst>
          </a:prstGeom>
          <a:solidFill>
            <a:srgbClr val="EEF2FF"/>
          </a:solidFill>
          <a:ln w="12700">
            <a:solidFill>
              <a:srgbClr val="E0E7FF"/>
            </a:solidFill>
            <a:prstDash val="solid"/>
          </a:ln>
        </p:spPr>
      </p:sp>
      <p:sp>
        <p:nvSpPr>
          <p:cNvPr id="18" name="Shape 15"/>
          <p:cNvSpPr/>
          <p:nvPr/>
        </p:nvSpPr>
        <p:spPr>
          <a:xfrm>
            <a:off x="6561125" y="2212848"/>
            <a:ext cx="365760" cy="365760"/>
          </a:xfrm>
          <a:prstGeom prst="ellipse">
            <a:avLst/>
          </a:prstGeom>
          <a:solidFill>
            <a:srgbClr val="4F46E5"/>
          </a:solidFill>
          <a:ln w="12700">
            <a:solidFill>
              <a:srgbClr val="4F46E5"/>
            </a:solidFill>
            <a:prstDash val="solid"/>
          </a:ln>
        </p:spPr>
      </p:sp>
      <p:sp>
        <p:nvSpPr>
          <p:cNvPr id="19" name="Text 16"/>
          <p:cNvSpPr txBox="1"/>
          <p:nvPr/>
        </p:nvSpPr>
        <p:spPr>
          <a:xfrm>
            <a:off x="6561125" y="22128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3</a:t>
            </a:r>
            <a:endParaRPr lang="en-US" sz="1300" dirty="0"/>
          </a:p>
        </p:txBody>
      </p:sp>
      <p:sp>
        <p:nvSpPr>
          <p:cNvPr id="20" name="Text 17"/>
          <p:cNvSpPr txBox="1"/>
          <p:nvPr/>
        </p:nvSpPr>
        <p:spPr>
          <a:xfrm>
            <a:off x="6561125" y="2670048"/>
            <a:ext cx="2011680" cy="320040"/>
          </a:xfrm>
          <a:prstGeom prst="rect">
            <a:avLst/>
          </a:prstGeom>
          <a:noFill/>
          <a:ln/>
        </p:spPr>
        <p:txBody>
          <a:bodyPr wrap="square" lIns="0" tIns="0" rIns="0" bIns="0" rtlCol="0" anchor="t"/>
          <a:lstStyle/>
          <a:p>
            <a:pPr indent="0" marL="0">
              <a:buNone/>
            </a:pPr>
            <a:r>
              <a:rPr lang="en-US" sz="1500" b="1" dirty="0">
                <a:solidFill>
                  <a:srgbClr val="0F172A"/>
                </a:solidFill>
                <a:latin typeface="Segoe UI" pitchFamily="34" charset="0"/>
                <a:ea typeface="Segoe UI" pitchFamily="34" charset="-122"/>
                <a:cs typeface="Segoe UI" pitchFamily="34" charset="-120"/>
              </a:rPr>
              <a:t>Verified skill report</a:t>
            </a:r>
            <a:endParaRPr lang="en-US" sz="1500" dirty="0"/>
          </a:p>
        </p:txBody>
      </p:sp>
      <p:sp>
        <p:nvSpPr>
          <p:cNvPr id="21" name="Text 18"/>
          <p:cNvSpPr txBox="1"/>
          <p:nvPr/>
        </p:nvSpPr>
        <p:spPr>
          <a:xfrm>
            <a:off x="6561125" y="2990088"/>
            <a:ext cx="2011680" cy="457200"/>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Every score quotes the trainee</a:t>
            </a:r>
            <a:endParaRPr lang="en-US" sz="1200" dirty="0"/>
          </a:p>
        </p:txBody>
      </p:sp>
      <p:sp>
        <p:nvSpPr>
          <p:cNvPr id="22" name="Shape 19"/>
          <p:cNvSpPr/>
          <p:nvPr/>
        </p:nvSpPr>
        <p:spPr>
          <a:xfrm>
            <a:off x="8810549" y="2670048"/>
            <a:ext cx="381914" cy="914"/>
          </a:xfrm>
          <a:prstGeom prst="line">
            <a:avLst/>
          </a:prstGeom>
          <a:noFill/>
          <a:ln w="22225">
            <a:solidFill>
              <a:srgbClr val="4F46E5"/>
            </a:solidFill>
            <a:prstDash val="solid"/>
            <a:tailEnd type="triangle"/>
          </a:ln>
        </p:spPr>
      </p:sp>
      <p:sp>
        <p:nvSpPr>
          <p:cNvPr id="23" name="Shape 20"/>
          <p:cNvSpPr/>
          <p:nvPr/>
        </p:nvSpPr>
        <p:spPr>
          <a:xfrm>
            <a:off x="9265615" y="2011680"/>
            <a:ext cx="2377440" cy="1508760"/>
          </a:xfrm>
          <a:prstGeom prst="roundRect">
            <a:avLst>
              <a:gd name="adj" fmla="val 7273"/>
            </a:avLst>
          </a:prstGeom>
          <a:solidFill>
            <a:srgbClr val="4F46E5"/>
          </a:solidFill>
          <a:ln w="12700">
            <a:solidFill>
              <a:srgbClr val="4F46E5"/>
            </a:solidFill>
            <a:prstDash val="solid"/>
          </a:ln>
        </p:spPr>
      </p:sp>
      <p:sp>
        <p:nvSpPr>
          <p:cNvPr id="24" name="Shape 21"/>
          <p:cNvSpPr/>
          <p:nvPr/>
        </p:nvSpPr>
        <p:spPr>
          <a:xfrm>
            <a:off x="9466783" y="2212848"/>
            <a:ext cx="365760" cy="365760"/>
          </a:xfrm>
          <a:prstGeom prst="ellipse">
            <a:avLst/>
          </a:prstGeom>
          <a:solidFill>
            <a:srgbClr val="FFFFFF"/>
          </a:solidFill>
          <a:ln w="12700">
            <a:solidFill>
              <a:srgbClr val="FFFFFF"/>
            </a:solidFill>
            <a:prstDash val="solid"/>
          </a:ln>
        </p:spPr>
      </p:sp>
      <p:sp>
        <p:nvSpPr>
          <p:cNvPr id="25" name="Text 22"/>
          <p:cNvSpPr txBox="1"/>
          <p:nvPr/>
        </p:nvSpPr>
        <p:spPr>
          <a:xfrm>
            <a:off x="9466783" y="2212848"/>
            <a:ext cx="365760" cy="365760"/>
          </a:xfrm>
          <a:prstGeom prst="rect">
            <a:avLst/>
          </a:prstGeom>
          <a:noFill/>
          <a:ln/>
        </p:spPr>
        <p:txBody>
          <a:bodyPr wrap="square" lIns="0" tIns="0" rIns="0" bIns="0" rtlCol="0" anchor="ctr"/>
          <a:lstStyle/>
          <a:p>
            <a:pPr algn="ctr" indent="0" marL="0">
              <a:buNone/>
            </a:pPr>
            <a:r>
              <a:rPr lang="en-US" sz="1300" b="1" dirty="0">
                <a:solidFill>
                  <a:srgbClr val="4F46E5"/>
                </a:solidFill>
                <a:latin typeface="Segoe UI" pitchFamily="34" charset="0"/>
                <a:ea typeface="Segoe UI" pitchFamily="34" charset="-122"/>
                <a:cs typeface="Segoe UI" pitchFamily="34" charset="-120"/>
              </a:rPr>
              <a:t>4</a:t>
            </a:r>
            <a:endParaRPr lang="en-US" sz="1300" dirty="0"/>
          </a:p>
        </p:txBody>
      </p:sp>
      <p:sp>
        <p:nvSpPr>
          <p:cNvPr id="26" name="Text 23"/>
          <p:cNvSpPr txBox="1"/>
          <p:nvPr/>
        </p:nvSpPr>
        <p:spPr>
          <a:xfrm>
            <a:off x="9466783" y="2670048"/>
            <a:ext cx="2011680" cy="320040"/>
          </a:xfrm>
          <a:prstGeom prst="rect">
            <a:avLst/>
          </a:prstGeom>
          <a:noFill/>
          <a:ln/>
        </p:spPr>
        <p:txBody>
          <a:bodyPr wrap="square" lIns="0" tIns="0" rIns="0" bIns="0" rtlCol="0" anchor="t"/>
          <a:lstStyle/>
          <a:p>
            <a:pPr indent="0" marL="0">
              <a:buNone/>
            </a:pPr>
            <a:r>
              <a:rPr lang="en-US" sz="1500" b="1" dirty="0">
                <a:solidFill>
                  <a:srgbClr val="FFFFFF"/>
                </a:solidFill>
                <a:latin typeface="Segoe UI" pitchFamily="34" charset="0"/>
                <a:ea typeface="Segoe UI" pitchFamily="34" charset="-122"/>
                <a:cs typeface="Segoe UI" pitchFamily="34" charset="-120"/>
              </a:rPr>
              <a:t>Ready to go live</a:t>
            </a:r>
            <a:endParaRPr lang="en-US" sz="1500" dirty="0"/>
          </a:p>
        </p:txBody>
      </p:sp>
      <p:sp>
        <p:nvSpPr>
          <p:cNvPr id="27" name="Text 24"/>
          <p:cNvSpPr txBox="1"/>
          <p:nvPr/>
        </p:nvSpPr>
        <p:spPr>
          <a:xfrm>
            <a:off x="9466783" y="2990088"/>
            <a:ext cx="2011680" cy="457200"/>
          </a:xfrm>
          <a:prstGeom prst="rect">
            <a:avLst/>
          </a:prstGeom>
          <a:noFill/>
          <a:ln/>
        </p:spPr>
        <p:txBody>
          <a:bodyPr wrap="square" lIns="0" tIns="0" rIns="0" bIns="0" rtlCol="0" anchor="t"/>
          <a:lstStyle/>
          <a:p>
            <a:pPr indent="0" marL="0">
              <a:buNone/>
            </a:pPr>
            <a:r>
              <a:rPr lang="en-US" sz="1200" dirty="0">
                <a:solidFill>
                  <a:srgbClr val="E0E7FF"/>
                </a:solidFill>
                <a:latin typeface="Segoe UI" pitchFamily="34" charset="0"/>
                <a:ea typeface="Segoe UI" pitchFamily="34" charset="-122"/>
                <a:cs typeface="Segoe UI" pitchFamily="34" charset="-120"/>
              </a:rPr>
              <a:t>Decided on evidence</a:t>
            </a:r>
            <a:endParaRPr lang="en-US" sz="1200" dirty="0"/>
          </a:p>
        </p:txBody>
      </p:sp>
      <p:sp>
        <p:nvSpPr>
          <p:cNvPr id="28" name="Shape 25"/>
          <p:cNvSpPr/>
          <p:nvPr/>
        </p:nvSpPr>
        <p:spPr>
          <a:xfrm>
            <a:off x="548640" y="3931920"/>
            <a:ext cx="3454298" cy="2011680"/>
          </a:xfrm>
          <a:prstGeom prst="roundRect">
            <a:avLst>
              <a:gd name="adj" fmla="val 5455"/>
            </a:avLst>
          </a:prstGeom>
          <a:solidFill>
            <a:srgbClr val="F8FAFC"/>
          </a:solidFill>
          <a:ln w="12700">
            <a:solidFill>
              <a:srgbClr val="E2E8F0"/>
            </a:solidFill>
            <a:prstDash val="solid"/>
          </a:ln>
        </p:spPr>
      </p:sp>
      <p:sp>
        <p:nvSpPr>
          <p:cNvPr id="29" name="Text 26"/>
          <p:cNvSpPr txBox="1"/>
          <p:nvPr/>
        </p:nvSpPr>
        <p:spPr>
          <a:xfrm>
            <a:off x="822960" y="4160520"/>
            <a:ext cx="2905658" cy="365760"/>
          </a:xfrm>
          <a:prstGeom prst="rect">
            <a:avLst/>
          </a:prstGeom>
          <a:noFill/>
          <a:ln/>
        </p:spPr>
        <p:txBody>
          <a:bodyPr wrap="square" lIns="0" tIns="0" rIns="0" bIns="0" rtlCol="0" anchor="t"/>
          <a:lstStyle/>
          <a:p>
            <a:pPr indent="0" marL="0">
              <a:buNone/>
            </a:pPr>
            <a:r>
              <a:rPr lang="en-US" sz="1600" b="1" dirty="0">
                <a:solidFill>
                  <a:srgbClr val="0F172A"/>
                </a:solidFill>
                <a:latin typeface="Segoe UI" pitchFamily="34" charset="0"/>
                <a:ea typeface="Segoe UI" pitchFamily="34" charset="-122"/>
                <a:cs typeface="Segoe UI" pitchFamily="34" charset="-120"/>
              </a:rPr>
              <a:t>Private, unlimited, always on</a:t>
            </a:r>
            <a:endParaRPr lang="en-US" sz="1600" dirty="0"/>
          </a:p>
        </p:txBody>
      </p:sp>
      <p:sp>
        <p:nvSpPr>
          <p:cNvPr id="30" name="Text 27"/>
          <p:cNvSpPr txBox="1"/>
          <p:nvPr/>
        </p:nvSpPr>
        <p:spPr>
          <a:xfrm>
            <a:off x="822960" y="4617720"/>
            <a:ext cx="2905658" cy="1234440"/>
          </a:xfrm>
          <a:prstGeom prst="rect">
            <a:avLst/>
          </a:prstGeom>
          <a:noFill/>
          <a:ln/>
        </p:spPr>
        <p:txBody>
          <a:bodyPr wrap="square" lIns="0" tIns="0" rIns="0" bIns="0" rtlCol="0" anchor="t"/>
          <a:lstStyle/>
          <a:p>
            <a:pPr indent="0" marL="0">
              <a:buNone/>
            </a:pPr>
            <a:r>
              <a:rPr lang="en-US" sz="1400" dirty="0">
                <a:solidFill>
                  <a:srgbClr val="334155"/>
                </a:solidFill>
                <a:latin typeface="Segoe UI" pitchFamily="34" charset="0"/>
                <a:ea typeface="Segoe UI" pitchFamily="34" charset="-122"/>
                <a:cs typeface="Segoe UI" pitchFamily="34" charset="-120"/>
              </a:rPr>
              <a:t>Practice at any time, as often as needed, with no senior colleague in the room.</a:t>
            </a:r>
            <a:endParaRPr lang="en-US" sz="1400" dirty="0"/>
          </a:p>
        </p:txBody>
      </p:sp>
      <p:sp>
        <p:nvSpPr>
          <p:cNvPr id="31" name="Shape 28"/>
          <p:cNvSpPr/>
          <p:nvPr/>
        </p:nvSpPr>
        <p:spPr>
          <a:xfrm>
            <a:off x="4368698" y="3931920"/>
            <a:ext cx="3454298" cy="2011680"/>
          </a:xfrm>
          <a:prstGeom prst="roundRect">
            <a:avLst>
              <a:gd name="adj" fmla="val 5455"/>
            </a:avLst>
          </a:prstGeom>
          <a:solidFill>
            <a:srgbClr val="F8FAFC"/>
          </a:solidFill>
          <a:ln w="12700">
            <a:solidFill>
              <a:srgbClr val="E2E8F0"/>
            </a:solidFill>
            <a:prstDash val="solid"/>
          </a:ln>
        </p:spPr>
      </p:sp>
      <p:sp>
        <p:nvSpPr>
          <p:cNvPr id="32" name="Text 29"/>
          <p:cNvSpPr txBox="1"/>
          <p:nvPr/>
        </p:nvSpPr>
        <p:spPr>
          <a:xfrm>
            <a:off x="4643018" y="4160520"/>
            <a:ext cx="2905658" cy="365760"/>
          </a:xfrm>
          <a:prstGeom prst="rect">
            <a:avLst/>
          </a:prstGeom>
          <a:noFill/>
          <a:ln/>
        </p:spPr>
        <p:txBody>
          <a:bodyPr wrap="square" lIns="0" tIns="0" rIns="0" bIns="0" rtlCol="0" anchor="t"/>
          <a:lstStyle/>
          <a:p>
            <a:pPr indent="0" marL="0">
              <a:buNone/>
            </a:pPr>
            <a:r>
              <a:rPr lang="en-US" sz="1600" b="1" dirty="0">
                <a:solidFill>
                  <a:srgbClr val="0F172A"/>
                </a:solidFill>
                <a:latin typeface="Segoe UI" pitchFamily="34" charset="0"/>
                <a:ea typeface="Segoe UI" pitchFamily="34" charset="-122"/>
                <a:cs typeface="Segoe UI" pitchFamily="34" charset="-120"/>
              </a:rPr>
              <a:t>Know-how becomes practice</a:t>
            </a:r>
            <a:endParaRPr lang="en-US" sz="1600" dirty="0"/>
          </a:p>
        </p:txBody>
      </p:sp>
      <p:sp>
        <p:nvSpPr>
          <p:cNvPr id="33" name="Text 30"/>
          <p:cNvSpPr txBox="1"/>
          <p:nvPr/>
        </p:nvSpPr>
        <p:spPr>
          <a:xfrm>
            <a:off x="4643018" y="4617720"/>
            <a:ext cx="2905658" cy="1234440"/>
          </a:xfrm>
          <a:prstGeom prst="rect">
            <a:avLst/>
          </a:prstGeom>
          <a:noFill/>
          <a:ln/>
        </p:spPr>
        <p:txBody>
          <a:bodyPr wrap="square" lIns="0" tIns="0" rIns="0" bIns="0" rtlCol="0" anchor="t"/>
          <a:lstStyle/>
          <a:p>
            <a:pPr indent="0" marL="0">
              <a:buNone/>
            </a:pPr>
            <a:r>
              <a:rPr lang="en-US" sz="1400" dirty="0">
                <a:solidFill>
                  <a:srgbClr val="334155"/>
                </a:solidFill>
                <a:latin typeface="Segoe UI" pitchFamily="34" charset="0"/>
                <a:ea typeface="Segoe UI" pitchFamily="34" charset="-122"/>
                <a:cs typeface="Segoe UI" pitchFamily="34" charset="-120"/>
              </a:rPr>
              <a:t>How the best people handle objections turns into a scenario the whole team can practice, instead of leaving with the expert.</a:t>
            </a:r>
            <a:endParaRPr lang="en-US" sz="1400" dirty="0"/>
          </a:p>
        </p:txBody>
      </p:sp>
      <p:sp>
        <p:nvSpPr>
          <p:cNvPr id="34" name="Shape 31"/>
          <p:cNvSpPr/>
          <p:nvPr/>
        </p:nvSpPr>
        <p:spPr>
          <a:xfrm>
            <a:off x="8188757" y="3931920"/>
            <a:ext cx="3454298" cy="2011680"/>
          </a:xfrm>
          <a:prstGeom prst="roundRect">
            <a:avLst>
              <a:gd name="adj" fmla="val 5455"/>
            </a:avLst>
          </a:prstGeom>
          <a:solidFill>
            <a:srgbClr val="F8FAFC"/>
          </a:solidFill>
          <a:ln w="12700">
            <a:solidFill>
              <a:srgbClr val="E2E8F0"/>
            </a:solidFill>
            <a:prstDash val="solid"/>
          </a:ln>
        </p:spPr>
      </p:sp>
      <p:sp>
        <p:nvSpPr>
          <p:cNvPr id="35" name="Text 32"/>
          <p:cNvSpPr txBox="1"/>
          <p:nvPr/>
        </p:nvSpPr>
        <p:spPr>
          <a:xfrm>
            <a:off x="8463077" y="4160520"/>
            <a:ext cx="2905658" cy="365760"/>
          </a:xfrm>
          <a:prstGeom prst="rect">
            <a:avLst/>
          </a:prstGeom>
          <a:noFill/>
          <a:ln/>
        </p:spPr>
        <p:txBody>
          <a:bodyPr wrap="square" lIns="0" tIns="0" rIns="0" bIns="0" rtlCol="0" anchor="t"/>
          <a:lstStyle/>
          <a:p>
            <a:pPr indent="0" marL="0">
              <a:buNone/>
            </a:pPr>
            <a:r>
              <a:rPr lang="en-US" sz="1600" b="1" dirty="0">
                <a:solidFill>
                  <a:srgbClr val="0F172A"/>
                </a:solidFill>
                <a:latin typeface="Segoe UI" pitchFamily="34" charset="0"/>
                <a:ea typeface="Segoe UI" pitchFamily="34" charset="-122"/>
                <a:cs typeface="Segoe UI" pitchFamily="34" charset="-120"/>
              </a:rPr>
              <a:t>Readiness based on evidence</a:t>
            </a:r>
            <a:endParaRPr lang="en-US" sz="1600" dirty="0"/>
          </a:p>
        </p:txBody>
      </p:sp>
      <p:sp>
        <p:nvSpPr>
          <p:cNvPr id="36" name="Text 33"/>
          <p:cNvSpPr txBox="1"/>
          <p:nvPr/>
        </p:nvSpPr>
        <p:spPr>
          <a:xfrm>
            <a:off x="8463077" y="4617720"/>
            <a:ext cx="2905658" cy="1234440"/>
          </a:xfrm>
          <a:prstGeom prst="rect">
            <a:avLst/>
          </a:prstGeom>
          <a:noFill/>
          <a:ln/>
        </p:spPr>
        <p:txBody>
          <a:bodyPr wrap="square" lIns="0" tIns="0" rIns="0" bIns="0" rtlCol="0" anchor="t"/>
          <a:lstStyle/>
          <a:p>
            <a:pPr indent="0" marL="0">
              <a:buNone/>
            </a:pPr>
            <a:r>
              <a:rPr lang="en-US" sz="1400" dirty="0">
                <a:solidFill>
                  <a:srgbClr val="334155"/>
                </a:solidFill>
                <a:latin typeface="Segoe UI" pitchFamily="34" charset="0"/>
                <a:ea typeface="Segoe UI" pitchFamily="34" charset="-122"/>
                <a:cs typeface="Segoe UI" pitchFamily="34" charset="-120"/>
              </a:rPr>
              <a:t>Managers decide who is ready for customers from verified reports, not gut feel.</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lstStyle/>
          <a:p>
            <a:pPr indent="0" marL="0">
              <a:buNone/>
            </a:pPr>
            <a:r>
              <a:rPr lang="en-US" sz="1300" b="1" spc="100" kern="0" dirty="0">
                <a:solidFill>
                  <a:srgbClr val="4F46E5"/>
                </a:solidFill>
                <a:latin typeface="Segoe UI" pitchFamily="34" charset="0"/>
                <a:ea typeface="Segoe UI" pitchFamily="34" charset="-122"/>
                <a:cs typeface="Segoe UI" pitchFamily="34" charset="-120"/>
              </a:rPr>
              <a:t>PROBLEM</a:t>
            </a:r>
            <a:endParaRPr lang="en-US" sz="1300" dirty="0"/>
          </a:p>
        </p:txBody>
      </p:sp>
      <p:sp>
        <p:nvSpPr>
          <p:cNvPr id="3" name="Text 1"/>
          <p:cNvSpPr/>
          <p:nvPr>
            <p:ph idx="102" type="title" hasCustomPrompt="1"/>
          </p:nvPr>
        </p:nvSpPr>
        <p:spPr>
          <a:xfrm>
            <a:off x="548640" y="694944"/>
            <a:ext cx="11094415" cy="914400"/>
          </a:xfrm>
          <a:prstGeom prst="rect">
            <a:avLst/>
          </a:prstGeom>
          <a:noFill/>
          <a:ln/>
        </p:spPr>
        <p:txBody>
          <a:bodyPr wrap="square" lIns="0" tIns="0" rIns="0" bIns="0" rtlCol="0" anchor="t"/>
          <a:lstStyle/>
          <a:p>
            <a:pPr algn="l" indent="0" marL="0">
              <a:buNone/>
            </a:pPr>
            <a:r>
              <a:rPr lang="en-US" sz="2800" b="1" dirty="0">
                <a:solidFill>
                  <a:srgbClr val="0F172A"/>
                </a:solidFill>
                <a:latin typeface="Segoe UI" pitchFamily="34" charset="0"/>
                <a:ea typeface="Segoe UI" pitchFamily="34" charset="-122"/>
                <a:cs typeface="Segoe UI" pitchFamily="34" charset="-120"/>
              </a:rPr>
              <a:t>New hires learn on real customers, because realistic practice needs senior people nobody can spare</a:t>
            </a:r>
            <a:endParaRPr lang="en-US" sz="2800" dirty="0"/>
          </a:p>
        </p:txBody>
      </p:sp>
      <p:sp>
        <p:nvSpPr>
          <p:cNvPr id="5" name="Shape 2"/>
          <p:cNvSpPr/>
          <p:nvPr/>
        </p:nvSpPr>
        <p:spPr>
          <a:xfrm>
            <a:off x="548640" y="1874520"/>
            <a:ext cx="3454298" cy="4206240"/>
          </a:xfrm>
          <a:prstGeom prst="roundRect">
            <a:avLst>
              <a:gd name="adj" fmla="val 3177"/>
            </a:avLst>
          </a:prstGeom>
          <a:solidFill>
            <a:srgbClr val="FFFFFF"/>
          </a:solidFill>
          <a:ln w="12700">
            <a:solidFill>
              <a:srgbClr val="E2E8F0"/>
            </a:solidFill>
            <a:prstDash val="solid"/>
          </a:ln>
          <a:effectLst>
            <a:outerShdw sx="100000" sy="100000" kx="0" ky="0" algn="bl" rotWithShape="0" blurRad="101600" dist="25400" dir="5400000">
              <a:srgbClr val="0F172A">
                <a:alpha val="8000"/>
              </a:srgbClr>
            </a:outerShdw>
          </a:effectLst>
        </p:spPr>
      </p:sp>
      <p:sp>
        <p:nvSpPr>
          <p:cNvPr id="6" name="Text 3"/>
          <p:cNvSpPr txBox="1"/>
          <p:nvPr/>
        </p:nvSpPr>
        <p:spPr>
          <a:xfrm>
            <a:off x="868680" y="2103120"/>
            <a:ext cx="2814218" cy="868680"/>
          </a:xfrm>
          <a:prstGeom prst="rect">
            <a:avLst/>
          </a:prstGeom>
          <a:noFill/>
          <a:ln/>
        </p:spPr>
        <p:txBody>
          <a:bodyPr wrap="square" lIns="0" tIns="0" rIns="0" bIns="0" rtlCol="0" anchor="t"/>
          <a:lstStyle/>
          <a:p>
            <a:pPr indent="0" marL="0">
              <a:buNone/>
            </a:pPr>
            <a:r>
              <a:rPr lang="en-US" sz="4000" b="1" dirty="0">
                <a:solidFill>
                  <a:srgbClr val="4F46E5"/>
                </a:solidFill>
                <a:latin typeface="Segoe UI" pitchFamily="34" charset="0"/>
                <a:ea typeface="Segoe UI" pitchFamily="34" charset="-122"/>
                <a:cs typeface="Segoe UI" pitchFamily="34" charset="-120"/>
              </a:rPr>
              <a:t>&lt; 50%</a:t>
            </a:r>
            <a:endParaRPr lang="en-US" sz="4000" dirty="0"/>
          </a:p>
        </p:txBody>
      </p:sp>
      <p:sp>
        <p:nvSpPr>
          <p:cNvPr id="7" name="Text 4"/>
          <p:cNvSpPr txBox="1"/>
          <p:nvPr/>
        </p:nvSpPr>
        <p:spPr>
          <a:xfrm>
            <a:off x="868680" y="3017520"/>
            <a:ext cx="2814218" cy="68580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one-year retention of new life-insurance reps in Taiwan </a:t>
            </a:r>
            <a:pPr indent="0" marL="0">
              <a:buNone/>
            </a:pPr>
            <a:r>
              <a:rPr lang="en-US" sz="1300" b="1" dirty="0">
                <a:solidFill>
                  <a:srgbClr val="64748B"/>
                </a:solidFill>
                <a:latin typeface="Segoe UI" pitchFamily="34" charset="0"/>
                <a:ea typeface="Segoe UI" pitchFamily="34" charset="-122"/>
                <a:cs typeface="Segoe UI" pitchFamily="34" charset="-120"/>
              </a:rPr>
              <a:t>[S9]</a:t>
            </a:r>
            <a:endParaRPr lang="en-US" sz="1300" dirty="0"/>
          </a:p>
        </p:txBody>
      </p:sp>
      <p:sp>
        <p:nvSpPr>
          <p:cNvPr id="8" name="Shape 5"/>
          <p:cNvSpPr/>
          <p:nvPr/>
        </p:nvSpPr>
        <p:spPr>
          <a:xfrm>
            <a:off x="868680" y="3840480"/>
            <a:ext cx="2814218" cy="0"/>
          </a:xfrm>
          <a:prstGeom prst="line">
            <a:avLst/>
          </a:prstGeom>
          <a:noFill/>
          <a:ln w="12700">
            <a:solidFill>
              <a:srgbClr val="E2E8F0"/>
            </a:solidFill>
            <a:prstDash val="solid"/>
          </a:ln>
        </p:spPr>
      </p:sp>
      <p:sp>
        <p:nvSpPr>
          <p:cNvPr id="9" name="Text 6"/>
          <p:cNvSpPr txBox="1"/>
          <p:nvPr/>
        </p:nvSpPr>
        <p:spPr>
          <a:xfrm>
            <a:off x="868680" y="4023360"/>
            <a:ext cx="2814218" cy="640080"/>
          </a:xfrm>
          <a:prstGeom prst="rect">
            <a:avLst/>
          </a:prstGeom>
          <a:noFill/>
          <a:ln/>
        </p:spPr>
        <p:txBody>
          <a:bodyPr wrap="square" lIns="0" tIns="0" rIns="0" bIns="0" rtlCol="0" anchor="t"/>
          <a:lstStyle/>
          <a:p>
            <a:pPr indent="0" marL="0">
              <a:buNone/>
            </a:pPr>
            <a:r>
              <a:rPr lang="en-US" sz="1600" b="1" dirty="0">
                <a:solidFill>
                  <a:srgbClr val="0F172A"/>
                </a:solidFill>
                <a:latin typeface="Segoe UI" pitchFamily="34" charset="0"/>
                <a:ea typeface="Segoe UI" pitchFamily="34" charset="-122"/>
                <a:cs typeface="Segoe UI" pitchFamily="34" charset="-120"/>
              </a:rPr>
              <a:t>People leave before they are productive</a:t>
            </a:r>
            <a:endParaRPr lang="en-US" sz="1600" dirty="0"/>
          </a:p>
        </p:txBody>
      </p:sp>
      <p:sp>
        <p:nvSpPr>
          <p:cNvPr id="10" name="Text 7"/>
          <p:cNvSpPr txBox="1"/>
          <p:nvPr/>
        </p:nvSpPr>
        <p:spPr>
          <a:xfrm>
            <a:off x="868680" y="4709160"/>
            <a:ext cx="2814218" cy="1234440"/>
          </a:xfrm>
          <a:prstGeom prst="rect">
            <a:avLst/>
          </a:prstGeom>
          <a:noFill/>
          <a:ln/>
        </p:spPr>
        <p:txBody>
          <a:bodyPr wrap="square" lIns="0" tIns="0" rIns="0" bIns="0" rtlCol="0" anchor="t"/>
          <a:lstStyle/>
          <a:p>
            <a:pPr indent="0" marL="0">
              <a:buNone/>
            </a:pPr>
            <a:r>
              <a:rPr lang="en-US" sz="1400" dirty="0">
                <a:solidFill>
                  <a:srgbClr val="334155"/>
                </a:solidFill>
                <a:latin typeface="Segoe UI" pitchFamily="34" charset="0"/>
                <a:ea typeface="Segoe UI" pitchFamily="34" charset="-122"/>
                <a:cs typeface="Segoe UI" pitchFamily="34" charset="-120"/>
              </a:rPr>
              <a:t>Contact-center attrition averages 39% globally [S7] and 43-45% in the Philippines [S6].</a:t>
            </a:r>
            <a:endParaRPr lang="en-US" sz="1400" dirty="0"/>
          </a:p>
        </p:txBody>
      </p:sp>
      <p:sp>
        <p:nvSpPr>
          <p:cNvPr id="11" name="Shape 8"/>
          <p:cNvSpPr/>
          <p:nvPr/>
        </p:nvSpPr>
        <p:spPr>
          <a:xfrm>
            <a:off x="4368698" y="1874520"/>
            <a:ext cx="3454298" cy="4206240"/>
          </a:xfrm>
          <a:prstGeom prst="roundRect">
            <a:avLst>
              <a:gd name="adj" fmla="val 3177"/>
            </a:avLst>
          </a:prstGeom>
          <a:solidFill>
            <a:srgbClr val="FFFFFF"/>
          </a:solidFill>
          <a:ln w="12700">
            <a:solidFill>
              <a:srgbClr val="E2E8F0"/>
            </a:solidFill>
            <a:prstDash val="solid"/>
          </a:ln>
          <a:effectLst>
            <a:outerShdw sx="100000" sy="100000" kx="0" ky="0" algn="bl" rotWithShape="0" blurRad="101600" dist="25400" dir="5400000">
              <a:srgbClr val="0F172A">
                <a:alpha val="8000"/>
              </a:srgbClr>
            </a:outerShdw>
          </a:effectLst>
        </p:spPr>
      </p:sp>
      <p:sp>
        <p:nvSpPr>
          <p:cNvPr id="12" name="Text 9"/>
          <p:cNvSpPr txBox="1"/>
          <p:nvPr/>
        </p:nvSpPr>
        <p:spPr>
          <a:xfrm>
            <a:off x="4688738" y="2103120"/>
            <a:ext cx="2814218" cy="868680"/>
          </a:xfrm>
          <a:prstGeom prst="rect">
            <a:avLst/>
          </a:prstGeom>
          <a:noFill/>
          <a:ln/>
        </p:spPr>
        <p:txBody>
          <a:bodyPr wrap="square" lIns="0" tIns="0" rIns="0" bIns="0" rtlCol="0" anchor="t"/>
          <a:lstStyle/>
          <a:p>
            <a:pPr indent="0" marL="0">
              <a:buNone/>
            </a:pPr>
            <a:r>
              <a:rPr lang="en-US" sz="4000" b="1" dirty="0">
                <a:solidFill>
                  <a:srgbClr val="4F46E5"/>
                </a:solidFill>
                <a:latin typeface="Segoe UI" pitchFamily="34" charset="0"/>
                <a:ea typeface="Segoe UI" pitchFamily="34" charset="-122"/>
                <a:cs typeface="Segoe UI" pitchFamily="34" charset="-120"/>
              </a:rPr>
              <a:t>13.7 h</a:t>
            </a:r>
            <a:endParaRPr lang="en-US" sz="4000" dirty="0"/>
          </a:p>
        </p:txBody>
      </p:sp>
      <p:sp>
        <p:nvSpPr>
          <p:cNvPr id="13" name="Text 10"/>
          <p:cNvSpPr txBox="1"/>
          <p:nvPr/>
        </p:nvSpPr>
        <p:spPr>
          <a:xfrm>
            <a:off x="4688738" y="3017520"/>
            <a:ext cx="2814218" cy="68580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formal learning per employee per year, down from 17.4 h </a:t>
            </a:r>
            <a:pPr indent="0" marL="0">
              <a:buNone/>
            </a:pPr>
            <a:r>
              <a:rPr lang="en-US" sz="1300" b="1" dirty="0">
                <a:solidFill>
                  <a:srgbClr val="64748B"/>
                </a:solidFill>
                <a:latin typeface="Segoe UI" pitchFamily="34" charset="0"/>
                <a:ea typeface="Segoe UI" pitchFamily="34" charset="-122"/>
                <a:cs typeface="Segoe UI" pitchFamily="34" charset="-120"/>
              </a:rPr>
              <a:t>[S1]</a:t>
            </a:r>
            <a:endParaRPr lang="en-US" sz="1300" dirty="0"/>
          </a:p>
        </p:txBody>
      </p:sp>
      <p:sp>
        <p:nvSpPr>
          <p:cNvPr id="14" name="Shape 11"/>
          <p:cNvSpPr/>
          <p:nvPr/>
        </p:nvSpPr>
        <p:spPr>
          <a:xfrm>
            <a:off x="4688738" y="3840480"/>
            <a:ext cx="2814218" cy="0"/>
          </a:xfrm>
          <a:prstGeom prst="line">
            <a:avLst/>
          </a:prstGeom>
          <a:noFill/>
          <a:ln w="12700">
            <a:solidFill>
              <a:srgbClr val="E2E8F0"/>
            </a:solidFill>
            <a:prstDash val="solid"/>
          </a:ln>
        </p:spPr>
      </p:sp>
      <p:sp>
        <p:nvSpPr>
          <p:cNvPr id="15" name="Text 12"/>
          <p:cNvSpPr txBox="1"/>
          <p:nvPr/>
        </p:nvSpPr>
        <p:spPr>
          <a:xfrm>
            <a:off x="4688738" y="4023360"/>
            <a:ext cx="2814218" cy="640080"/>
          </a:xfrm>
          <a:prstGeom prst="rect">
            <a:avLst/>
          </a:prstGeom>
          <a:noFill/>
          <a:ln/>
        </p:spPr>
        <p:txBody>
          <a:bodyPr wrap="square" lIns="0" tIns="0" rIns="0" bIns="0" rtlCol="0" anchor="t"/>
          <a:lstStyle/>
          <a:p>
            <a:pPr indent="0" marL="0">
              <a:buNone/>
            </a:pPr>
            <a:r>
              <a:rPr lang="en-US" sz="1600" b="1" dirty="0">
                <a:solidFill>
                  <a:srgbClr val="0F172A"/>
                </a:solidFill>
                <a:latin typeface="Segoe UI" pitchFamily="34" charset="0"/>
                <a:ea typeface="Segoe UI" pitchFamily="34" charset="-122"/>
                <a:cs typeface="Segoe UI" pitchFamily="34" charset="-120"/>
              </a:rPr>
              <a:t>Practice doesn't scale</a:t>
            </a:r>
            <a:endParaRPr lang="en-US" sz="1600" dirty="0"/>
          </a:p>
        </p:txBody>
      </p:sp>
      <p:sp>
        <p:nvSpPr>
          <p:cNvPr id="16" name="Text 13"/>
          <p:cNvSpPr txBox="1"/>
          <p:nvPr/>
        </p:nvSpPr>
        <p:spPr>
          <a:xfrm>
            <a:off x="4688738" y="4709160"/>
            <a:ext cx="2814218" cy="1234440"/>
          </a:xfrm>
          <a:prstGeom prst="rect">
            <a:avLst/>
          </a:prstGeom>
          <a:noFill/>
          <a:ln/>
        </p:spPr>
        <p:txBody>
          <a:bodyPr wrap="square" lIns="0" tIns="0" rIns="0" bIns="0" rtlCol="0" anchor="t"/>
          <a:lstStyle/>
          <a:p>
            <a:pPr indent="0" marL="0">
              <a:buNone/>
            </a:pPr>
            <a:r>
              <a:rPr lang="en-US" sz="1400" dirty="0">
                <a:solidFill>
                  <a:srgbClr val="334155"/>
                </a:solidFill>
                <a:latin typeface="Segoe UI" pitchFamily="34" charset="0"/>
                <a:ea typeface="Segoe UI" pitchFamily="34" charset="-122"/>
                <a:cs typeface="Segoe UI" pitchFamily="34" charset="-120"/>
              </a:rPr>
              <a:t>A human-operated simulation costs about US$49 per 30-minute session [S23].</a:t>
            </a:r>
            <a:endParaRPr lang="en-US" sz="1400" dirty="0"/>
          </a:p>
        </p:txBody>
      </p:sp>
      <p:sp>
        <p:nvSpPr>
          <p:cNvPr id="17" name="Shape 14"/>
          <p:cNvSpPr/>
          <p:nvPr/>
        </p:nvSpPr>
        <p:spPr>
          <a:xfrm>
            <a:off x="8188757" y="1874520"/>
            <a:ext cx="3454298" cy="4206240"/>
          </a:xfrm>
          <a:prstGeom prst="roundRect">
            <a:avLst>
              <a:gd name="adj" fmla="val 3177"/>
            </a:avLst>
          </a:prstGeom>
          <a:solidFill>
            <a:srgbClr val="FFFFFF"/>
          </a:solidFill>
          <a:ln w="12700">
            <a:solidFill>
              <a:srgbClr val="E2E8F0"/>
            </a:solidFill>
            <a:prstDash val="solid"/>
          </a:ln>
          <a:effectLst>
            <a:outerShdw sx="100000" sy="100000" kx="0" ky="0" algn="bl" rotWithShape="0" blurRad="101600" dist="25400" dir="5400000">
              <a:srgbClr val="0F172A">
                <a:alpha val="8000"/>
              </a:srgbClr>
            </a:outerShdw>
          </a:effectLst>
        </p:spPr>
      </p:sp>
      <p:sp>
        <p:nvSpPr>
          <p:cNvPr id="18" name="Text 15"/>
          <p:cNvSpPr txBox="1"/>
          <p:nvPr/>
        </p:nvSpPr>
        <p:spPr>
          <a:xfrm>
            <a:off x="8508797" y="2103120"/>
            <a:ext cx="2814218" cy="868680"/>
          </a:xfrm>
          <a:prstGeom prst="rect">
            <a:avLst/>
          </a:prstGeom>
          <a:noFill/>
          <a:ln/>
        </p:spPr>
        <p:txBody>
          <a:bodyPr wrap="square" lIns="0" tIns="0" rIns="0" bIns="0" rtlCol="0" anchor="t"/>
          <a:lstStyle/>
          <a:p>
            <a:pPr indent="0" marL="0">
              <a:buNone/>
            </a:pPr>
            <a:r>
              <a:rPr lang="en-US" sz="4000" b="1" dirty="0">
                <a:solidFill>
                  <a:srgbClr val="E11D48"/>
                </a:solidFill>
                <a:latin typeface="Segoe UI" pitchFamily="34" charset="0"/>
                <a:ea typeface="Segoe UI" pitchFamily="34" charset="-122"/>
                <a:cs typeface="Segoe UI" pitchFamily="34" charset="-120"/>
              </a:rPr>
              <a:t>HK$66.4M</a:t>
            </a:r>
            <a:endParaRPr lang="en-US" sz="4000" dirty="0"/>
          </a:p>
        </p:txBody>
      </p:sp>
      <p:sp>
        <p:nvSpPr>
          <p:cNvPr id="19" name="Text 16"/>
          <p:cNvSpPr txBox="1"/>
          <p:nvPr/>
        </p:nvSpPr>
        <p:spPr>
          <a:xfrm>
            <a:off x="8508797" y="3017520"/>
            <a:ext cx="2814218" cy="68580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fine on Hang Seng Bank in Hong Kong </a:t>
            </a:r>
            <a:pPr indent="0" marL="0">
              <a:buNone/>
            </a:pPr>
            <a:r>
              <a:rPr lang="en-US" sz="1300" b="1" dirty="0">
                <a:solidFill>
                  <a:srgbClr val="64748B"/>
                </a:solidFill>
                <a:latin typeface="Segoe UI" pitchFamily="34" charset="0"/>
                <a:ea typeface="Segoe UI" pitchFamily="34" charset="-122"/>
                <a:cs typeface="Segoe UI" pitchFamily="34" charset="-120"/>
              </a:rPr>
              <a:t>[S20]</a:t>
            </a:r>
            <a:endParaRPr lang="en-US" sz="1300" dirty="0"/>
          </a:p>
        </p:txBody>
      </p:sp>
      <p:sp>
        <p:nvSpPr>
          <p:cNvPr id="20" name="Shape 17"/>
          <p:cNvSpPr/>
          <p:nvPr/>
        </p:nvSpPr>
        <p:spPr>
          <a:xfrm>
            <a:off x="8508797" y="3840480"/>
            <a:ext cx="2814218" cy="0"/>
          </a:xfrm>
          <a:prstGeom prst="line">
            <a:avLst/>
          </a:prstGeom>
          <a:noFill/>
          <a:ln w="12700">
            <a:solidFill>
              <a:srgbClr val="E2E8F0"/>
            </a:solidFill>
            <a:prstDash val="solid"/>
          </a:ln>
        </p:spPr>
      </p:sp>
      <p:sp>
        <p:nvSpPr>
          <p:cNvPr id="21" name="Text 18"/>
          <p:cNvSpPr txBox="1"/>
          <p:nvPr/>
        </p:nvSpPr>
        <p:spPr>
          <a:xfrm>
            <a:off x="8508797" y="4023360"/>
            <a:ext cx="2814218" cy="640080"/>
          </a:xfrm>
          <a:prstGeom prst="rect">
            <a:avLst/>
          </a:prstGeom>
          <a:noFill/>
          <a:ln/>
        </p:spPr>
        <p:txBody>
          <a:bodyPr wrap="square" lIns="0" tIns="0" rIns="0" bIns="0" rtlCol="0" anchor="t"/>
          <a:lstStyle/>
          <a:p>
            <a:pPr indent="0" marL="0">
              <a:buNone/>
            </a:pPr>
            <a:r>
              <a:rPr lang="en-US" sz="1600" b="1" dirty="0">
                <a:solidFill>
                  <a:srgbClr val="0F172A"/>
                </a:solidFill>
                <a:latin typeface="Segoe UI" pitchFamily="34" charset="0"/>
                <a:ea typeface="Segoe UI" pitchFamily="34" charset="-122"/>
                <a:cs typeface="Segoe UI" pitchFamily="34" charset="-120"/>
              </a:rPr>
              <a:t>One sentence can be a conduct failure</a:t>
            </a:r>
            <a:endParaRPr lang="en-US" sz="1600" dirty="0"/>
          </a:p>
        </p:txBody>
      </p:sp>
      <p:sp>
        <p:nvSpPr>
          <p:cNvPr id="22" name="Text 19"/>
          <p:cNvSpPr txBox="1"/>
          <p:nvPr/>
        </p:nvSpPr>
        <p:spPr>
          <a:xfrm>
            <a:off x="8508797" y="4709160"/>
            <a:ext cx="2814218" cy="1234440"/>
          </a:xfrm>
          <a:prstGeom prst="rect">
            <a:avLst/>
          </a:prstGeom>
          <a:noFill/>
          <a:ln/>
        </p:spPr>
        <p:txBody>
          <a:bodyPr wrap="square" lIns="0" tIns="0" rIns="0" bIns="0" rtlCol="0" anchor="t"/>
          <a:lstStyle/>
          <a:p>
            <a:pPr indent="0" marL="0">
              <a:buNone/>
            </a:pPr>
            <a:r>
              <a:rPr lang="en-US" sz="1400" dirty="0">
                <a:solidFill>
                  <a:srgbClr val="334155"/>
                </a:solidFill>
                <a:latin typeface="Segoe UI" pitchFamily="34" charset="0"/>
                <a:ea typeface="Segoe UI" pitchFamily="34" charset="-122"/>
                <a:cs typeface="Segoe UI" pitchFamily="34" charset="-120"/>
              </a:rPr>
              <a:t>MAS expects representatives to be competent before they advise on their own [S29] and acts against firms and individuals [S21].</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lstStyle/>
          <a:p>
            <a:pPr indent="0" marL="0">
              <a:buNone/>
            </a:pPr>
            <a:r>
              <a:rPr lang="en-US" sz="1300" b="1" spc="100" kern="0" dirty="0">
                <a:solidFill>
                  <a:srgbClr val="4F46E5"/>
                </a:solidFill>
                <a:latin typeface="Segoe UI" pitchFamily="34" charset="0"/>
                <a:ea typeface="Segoe UI" pitchFamily="34" charset="-122"/>
                <a:cs typeface="Segoe UI" pitchFamily="34" charset="-120"/>
              </a:rPr>
              <a:t>SOLUTION</a:t>
            </a:r>
            <a:endParaRPr lang="en-US" sz="1300" dirty="0"/>
          </a:p>
        </p:txBody>
      </p:sp>
      <p:sp>
        <p:nvSpPr>
          <p:cNvPr id="3" name="Text 1"/>
          <p:cNvSpPr/>
          <p:nvPr>
            <p:ph idx="102" type="title" hasCustomPrompt="1"/>
          </p:nvPr>
        </p:nvSpPr>
        <p:spPr>
          <a:xfrm>
            <a:off x="548640" y="694944"/>
            <a:ext cx="11094415" cy="914400"/>
          </a:xfrm>
          <a:prstGeom prst="rect">
            <a:avLst/>
          </a:prstGeom>
          <a:noFill/>
          <a:ln/>
        </p:spPr>
        <p:txBody>
          <a:bodyPr wrap="square" lIns="0" tIns="0" rIns="0" bIns="0" rtlCol="0" anchor="t"/>
          <a:lstStyle/>
          <a:p>
            <a:pPr algn="l" indent="0" marL="0">
              <a:buNone/>
            </a:pPr>
            <a:r>
              <a:rPr lang="en-US" sz="2800" b="1" dirty="0">
                <a:solidFill>
                  <a:srgbClr val="0F172A"/>
                </a:solidFill>
                <a:latin typeface="Segoe UI" pitchFamily="34" charset="0"/>
                <a:ea typeface="Segoe UI" pitchFamily="34" charset="-122"/>
                <a:cs typeface="Segoe UI" pitchFamily="34" charset="-120"/>
              </a:rPr>
              <a:t>Upload your knowledge, approve AI-drafted customers, practice, and get a report you can trust</a:t>
            </a:r>
            <a:endParaRPr lang="en-US" sz="2800" dirty="0"/>
          </a:p>
        </p:txBody>
      </p:sp>
      <p:sp>
        <p:nvSpPr>
          <p:cNvPr id="5" name="Shape 2"/>
          <p:cNvSpPr/>
          <p:nvPr/>
        </p:nvSpPr>
        <p:spPr>
          <a:xfrm>
            <a:off x="548640" y="1920240"/>
            <a:ext cx="384048" cy="384048"/>
          </a:xfrm>
          <a:prstGeom prst="ellipse">
            <a:avLst/>
          </a:prstGeom>
          <a:solidFill>
            <a:srgbClr val="4F46E5"/>
          </a:solidFill>
          <a:ln w="12700">
            <a:solidFill>
              <a:srgbClr val="4F46E5"/>
            </a:solidFill>
            <a:prstDash val="solid"/>
          </a:ln>
        </p:spPr>
      </p:sp>
      <p:sp>
        <p:nvSpPr>
          <p:cNvPr id="6" name="Text 3"/>
          <p:cNvSpPr txBox="1"/>
          <p:nvPr/>
        </p:nvSpPr>
        <p:spPr>
          <a:xfrm>
            <a:off x="548640" y="1920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7" name="Text 4"/>
          <p:cNvSpPr txBox="1"/>
          <p:nvPr/>
        </p:nvSpPr>
        <p:spPr>
          <a:xfrm>
            <a:off x="1051560" y="1920240"/>
            <a:ext cx="1463040" cy="384048"/>
          </a:xfrm>
          <a:prstGeom prst="rect">
            <a:avLst/>
          </a:prstGeom>
          <a:noFill/>
          <a:ln/>
        </p:spPr>
        <p:txBody>
          <a:bodyPr wrap="square" lIns="0" tIns="0" rIns="0" bIns="0"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Build</a:t>
            </a:r>
            <a:endParaRPr lang="en-US" sz="2000" dirty="0"/>
          </a:p>
        </p:txBody>
      </p:sp>
      <p:sp>
        <p:nvSpPr>
          <p:cNvPr id="8" name="Shape 5"/>
          <p:cNvSpPr/>
          <p:nvPr/>
        </p:nvSpPr>
        <p:spPr>
          <a:xfrm>
            <a:off x="2448458" y="1965960"/>
            <a:ext cx="1554480" cy="292608"/>
          </a:xfrm>
          <a:prstGeom prst="roundRect">
            <a:avLst>
              <a:gd name="adj" fmla="val 50000"/>
            </a:avLst>
          </a:prstGeom>
          <a:solidFill>
            <a:srgbClr val="EEF2FF"/>
          </a:solidFill>
          <a:ln w="12700">
            <a:solidFill>
              <a:srgbClr val="EEF2FF"/>
            </a:solidFill>
            <a:prstDash val="solid"/>
          </a:ln>
        </p:spPr>
      </p:sp>
      <p:sp>
        <p:nvSpPr>
          <p:cNvPr id="9" name="Text 6"/>
          <p:cNvSpPr txBox="1"/>
          <p:nvPr/>
        </p:nvSpPr>
        <p:spPr>
          <a:xfrm>
            <a:off x="2448458" y="1965960"/>
            <a:ext cx="1554480" cy="292608"/>
          </a:xfrm>
          <a:prstGeom prst="rect">
            <a:avLst/>
          </a:prstGeom>
          <a:noFill/>
          <a:ln/>
        </p:spPr>
        <p:txBody>
          <a:bodyPr wrap="square" lIns="0" tIns="0" rIns="0" bIns="0" rtlCol="0" anchor="ctr"/>
          <a:lstStyle/>
          <a:p>
            <a:pPr algn="ctr" indent="0" marL="0">
              <a:buNone/>
            </a:pPr>
            <a:r>
              <a:rPr lang="en-US" sz="1100" b="1" dirty="0">
                <a:solidFill>
                  <a:srgbClr val="4F46E5"/>
                </a:solidFill>
                <a:latin typeface="Segoe UI" pitchFamily="34" charset="0"/>
                <a:ea typeface="Segoe UI" pitchFamily="34" charset="-122"/>
                <a:cs typeface="Segoe UI" pitchFamily="34" charset="-120"/>
              </a:rPr>
              <a:t>Admin + trainer</a:t>
            </a:r>
            <a:endParaRPr lang="en-US" sz="1100" dirty="0"/>
          </a:p>
        </p:txBody>
      </p:sp>
      <p:sp>
        <p:nvSpPr>
          <p:cNvPr id="10" name="Shape 7"/>
          <p:cNvSpPr/>
          <p:nvPr/>
        </p:nvSpPr>
        <p:spPr>
          <a:xfrm>
            <a:off x="548640" y="2505456"/>
            <a:ext cx="3454298" cy="2169193"/>
          </a:xfrm>
          <a:prstGeom prst="roundRect">
            <a:avLst>
              <a:gd name="adj" fmla="val 3372"/>
            </a:avLst>
          </a:prstGeom>
          <a:solidFill>
            <a:srgbClr val="FFFFFF"/>
          </a:solidFill>
          <a:ln w="12700">
            <a:solidFill>
              <a:srgbClr val="E2E8F0"/>
            </a:solidFill>
            <a:prstDash val="solid"/>
          </a:ln>
          <a:effectLst>
            <a:outerShdw sx="100000" sy="100000" kx="0" ky="0" algn="bl" rotWithShape="0" blurRad="101600" dist="25400" dir="5400000">
              <a:srgbClr val="0F172A">
                <a:alpha val="8000"/>
              </a:srgbClr>
            </a:outerShdw>
          </a:effectLst>
        </p:spPr>
      </p:sp>
      <p:pic>
        <p:nvPicPr>
          <p:cNvPr id="11" name="Image 0" descr="D:/github/SkillCoach-AIBC/media/deck/crop_persona_cite.png">    </p:cNvPr>
          <p:cNvPicPr>
            <a:picLocks noChangeAspect="1"/>
          </p:cNvPicPr>
          <p:nvPr/>
        </p:nvPicPr>
        <p:blipFill>
          <a:blip r:embed="rId1"/>
          <a:stretch>
            <a:fillRect/>
          </a:stretch>
        </p:blipFill>
        <p:spPr>
          <a:xfrm>
            <a:off x="603504" y="2560320"/>
            <a:ext cx="3344570" cy="2059465"/>
          </a:xfrm>
          <a:prstGeom prst="rect">
            <a:avLst/>
          </a:prstGeom>
        </p:spPr>
      </p:pic>
      <p:sp>
        <p:nvSpPr>
          <p:cNvPr id="12" name="Text 8"/>
          <p:cNvSpPr txBox="1"/>
          <p:nvPr/>
        </p:nvSpPr>
        <p:spPr>
          <a:xfrm>
            <a:off x="548640" y="4729513"/>
            <a:ext cx="3454298" cy="384048"/>
          </a:xfrm>
          <a:prstGeom prst="rect">
            <a:avLst/>
          </a:prstGeom>
          <a:noFill/>
          <a:ln/>
        </p:spPr>
        <p:txBody>
          <a:bodyPr wrap="square" lIns="0" tIns="0" rIns="0" bIns="0" rtlCol="0" anchor="t"/>
          <a:lstStyle/>
          <a:p>
            <a:pPr indent="0" marL="0">
              <a:buNone/>
            </a:pPr>
            <a:r>
              <a:rPr lang="en-US" sz="1000" i="1" dirty="0">
                <a:solidFill>
                  <a:srgbClr val="64748B"/>
                </a:solidFill>
                <a:latin typeface="Segoe UI" pitchFamily="34" charset="0"/>
                <a:ea typeface="Segoe UI" pitchFamily="34" charset="-122"/>
                <a:cs typeface="Segoe UI" pitchFamily="34" charset="-120"/>
              </a:rPr>
              <a:t>Persona draft: each hidden need and objection cites its source</a:t>
            </a:r>
            <a:endParaRPr lang="en-US" sz="1000" dirty="0"/>
          </a:p>
        </p:txBody>
      </p:sp>
      <p:sp>
        <p:nvSpPr>
          <p:cNvPr id="13" name="Text 9"/>
          <p:cNvSpPr txBox="1"/>
          <p:nvPr/>
        </p:nvSpPr>
        <p:spPr>
          <a:xfrm>
            <a:off x="548640" y="5168425"/>
            <a:ext cx="3454298" cy="1188720"/>
          </a:xfrm>
          <a:prstGeom prst="rect">
            <a:avLst/>
          </a:prstGeom>
          <a:noFill/>
          <a:ln/>
        </p:spPr>
        <p:txBody>
          <a:bodyPr wrap="square" lIns="0" tIns="0" rIns="0" bIns="0" rtlCol="0" anchor="t"/>
          <a:lstStyle/>
          <a:p>
            <a:pPr indent="0" marL="0">
              <a:buNone/>
            </a:pPr>
            <a:r>
              <a:rPr lang="en-US" sz="1400" dirty="0">
                <a:solidFill>
                  <a:srgbClr val="334155"/>
                </a:solidFill>
                <a:latin typeface="Segoe UI" pitchFamily="34" charset="0"/>
                <a:ea typeface="Segoe UI" pitchFamily="34" charset="-122"/>
                <a:cs typeface="Segoe UI" pitchFamily="34" charset="-120"/>
              </a:rPr>
              <a:t>Upload manuals and policies. Gemini drafts personas and scenarios that cite the source passages; a trainer approves them before anyone practices.</a:t>
            </a:r>
            <a:endParaRPr lang="en-US" sz="1400" dirty="0"/>
          </a:p>
        </p:txBody>
      </p:sp>
      <p:sp>
        <p:nvSpPr>
          <p:cNvPr id="14" name="Shape 10"/>
          <p:cNvSpPr/>
          <p:nvPr/>
        </p:nvSpPr>
        <p:spPr>
          <a:xfrm>
            <a:off x="4048658" y="2112264"/>
            <a:ext cx="274320" cy="914"/>
          </a:xfrm>
          <a:prstGeom prst="line">
            <a:avLst/>
          </a:prstGeom>
          <a:noFill/>
          <a:ln w="22225">
            <a:solidFill>
              <a:srgbClr val="4F46E5"/>
            </a:solidFill>
            <a:prstDash val="solid"/>
            <a:tailEnd type="triangle"/>
          </a:ln>
        </p:spPr>
      </p:sp>
      <p:sp>
        <p:nvSpPr>
          <p:cNvPr id="15" name="Shape 11"/>
          <p:cNvSpPr/>
          <p:nvPr/>
        </p:nvSpPr>
        <p:spPr>
          <a:xfrm>
            <a:off x="4368698" y="1920240"/>
            <a:ext cx="384048" cy="384048"/>
          </a:xfrm>
          <a:prstGeom prst="ellipse">
            <a:avLst/>
          </a:prstGeom>
          <a:solidFill>
            <a:srgbClr val="4F46E5"/>
          </a:solidFill>
          <a:ln w="12700">
            <a:solidFill>
              <a:srgbClr val="4F46E5"/>
            </a:solidFill>
            <a:prstDash val="solid"/>
          </a:ln>
        </p:spPr>
      </p:sp>
      <p:sp>
        <p:nvSpPr>
          <p:cNvPr id="16" name="Text 12"/>
          <p:cNvSpPr txBox="1"/>
          <p:nvPr/>
        </p:nvSpPr>
        <p:spPr>
          <a:xfrm>
            <a:off x="4368698" y="1920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7" name="Text 13"/>
          <p:cNvSpPr txBox="1"/>
          <p:nvPr/>
        </p:nvSpPr>
        <p:spPr>
          <a:xfrm>
            <a:off x="4871618" y="1920240"/>
            <a:ext cx="1463040" cy="384048"/>
          </a:xfrm>
          <a:prstGeom prst="rect">
            <a:avLst/>
          </a:prstGeom>
          <a:noFill/>
          <a:ln/>
        </p:spPr>
        <p:txBody>
          <a:bodyPr wrap="square" lIns="0" tIns="0" rIns="0" bIns="0"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Practice</a:t>
            </a:r>
            <a:endParaRPr lang="en-US" sz="2000" dirty="0"/>
          </a:p>
        </p:txBody>
      </p:sp>
      <p:sp>
        <p:nvSpPr>
          <p:cNvPr id="18" name="Shape 14"/>
          <p:cNvSpPr/>
          <p:nvPr/>
        </p:nvSpPr>
        <p:spPr>
          <a:xfrm>
            <a:off x="6268517" y="1965960"/>
            <a:ext cx="1554480" cy="292608"/>
          </a:xfrm>
          <a:prstGeom prst="roundRect">
            <a:avLst>
              <a:gd name="adj" fmla="val 50000"/>
            </a:avLst>
          </a:prstGeom>
          <a:solidFill>
            <a:srgbClr val="EEF2FF"/>
          </a:solidFill>
          <a:ln w="12700">
            <a:solidFill>
              <a:srgbClr val="EEF2FF"/>
            </a:solidFill>
            <a:prstDash val="solid"/>
          </a:ln>
        </p:spPr>
      </p:sp>
      <p:sp>
        <p:nvSpPr>
          <p:cNvPr id="19" name="Text 15"/>
          <p:cNvSpPr txBox="1"/>
          <p:nvPr/>
        </p:nvSpPr>
        <p:spPr>
          <a:xfrm>
            <a:off x="6268517" y="1965960"/>
            <a:ext cx="1554480" cy="292608"/>
          </a:xfrm>
          <a:prstGeom prst="rect">
            <a:avLst/>
          </a:prstGeom>
          <a:noFill/>
          <a:ln/>
        </p:spPr>
        <p:txBody>
          <a:bodyPr wrap="square" lIns="0" tIns="0" rIns="0" bIns="0" rtlCol="0" anchor="ctr"/>
          <a:lstStyle/>
          <a:p>
            <a:pPr algn="ctr" indent="0" marL="0">
              <a:buNone/>
            </a:pPr>
            <a:r>
              <a:rPr lang="en-US" sz="1100" b="1" dirty="0">
                <a:solidFill>
                  <a:srgbClr val="4F46E5"/>
                </a:solidFill>
                <a:latin typeface="Segoe UI" pitchFamily="34" charset="0"/>
                <a:ea typeface="Segoe UI" pitchFamily="34" charset="-122"/>
                <a:cs typeface="Segoe UI" pitchFamily="34" charset="-120"/>
              </a:rPr>
              <a:t>Trainee</a:t>
            </a:r>
            <a:endParaRPr lang="en-US" sz="1100" dirty="0"/>
          </a:p>
        </p:txBody>
      </p:sp>
      <p:sp>
        <p:nvSpPr>
          <p:cNvPr id="20" name="Shape 16"/>
          <p:cNvSpPr/>
          <p:nvPr/>
        </p:nvSpPr>
        <p:spPr>
          <a:xfrm>
            <a:off x="4368698" y="2505456"/>
            <a:ext cx="3454298" cy="2169193"/>
          </a:xfrm>
          <a:prstGeom prst="roundRect">
            <a:avLst>
              <a:gd name="adj" fmla="val 3372"/>
            </a:avLst>
          </a:prstGeom>
          <a:solidFill>
            <a:srgbClr val="FFFFFF"/>
          </a:solidFill>
          <a:ln w="12700">
            <a:solidFill>
              <a:srgbClr val="E2E8F0"/>
            </a:solidFill>
            <a:prstDash val="solid"/>
          </a:ln>
          <a:effectLst>
            <a:outerShdw sx="100000" sy="100000" kx="0" ky="0" algn="bl" rotWithShape="0" blurRad="101600" dist="25400" dir="5400000">
              <a:srgbClr val="0F172A">
                <a:alpha val="8000"/>
              </a:srgbClr>
            </a:outerShdw>
          </a:effectLst>
        </p:spPr>
      </p:sp>
      <p:pic>
        <p:nvPicPr>
          <p:cNvPr id="21" name="Image 1" descr="D:/github/SkillCoach-AIBC/media/deck/crop_guard.png">    </p:cNvPr>
          <p:cNvPicPr>
            <a:picLocks noChangeAspect="1"/>
          </p:cNvPicPr>
          <p:nvPr/>
        </p:nvPicPr>
        <p:blipFill>
          <a:blip r:embed="rId2"/>
          <a:stretch>
            <a:fillRect/>
          </a:stretch>
        </p:blipFill>
        <p:spPr>
          <a:xfrm>
            <a:off x="4423562" y="2560320"/>
            <a:ext cx="3344570" cy="2059465"/>
          </a:xfrm>
          <a:prstGeom prst="rect">
            <a:avLst/>
          </a:prstGeom>
        </p:spPr>
      </p:pic>
      <p:sp>
        <p:nvSpPr>
          <p:cNvPr id="22" name="Text 17"/>
          <p:cNvSpPr txBox="1"/>
          <p:nvPr/>
        </p:nvSpPr>
        <p:spPr>
          <a:xfrm>
            <a:off x="4368698" y="4729513"/>
            <a:ext cx="3454298" cy="384048"/>
          </a:xfrm>
          <a:prstGeom prst="rect">
            <a:avLst/>
          </a:prstGeom>
          <a:noFill/>
          <a:ln/>
        </p:spPr>
        <p:txBody>
          <a:bodyPr wrap="square" lIns="0" tIns="0" rIns="0" bIns="0" rtlCol="0" anchor="t"/>
          <a:lstStyle/>
          <a:p>
            <a:pPr indent="0" marL="0">
              <a:buNone/>
            </a:pPr>
            <a:r>
              <a:rPr lang="en-US" sz="1000" i="1" dirty="0">
                <a:solidFill>
                  <a:srgbClr val="64748B"/>
                </a:solidFill>
                <a:latin typeface="Segoe UI" pitchFamily="34" charset="0"/>
                <a:ea typeface="Segoe UI" pitchFamily="34" charset="-122"/>
                <a:cs typeface="Segoe UI" pitchFamily="34" charset="-120"/>
              </a:rPr>
              <a:t>Live app: Compliance Guard holds a risky message before the customer hears it</a:t>
            </a:r>
            <a:endParaRPr lang="en-US" sz="1000" dirty="0"/>
          </a:p>
        </p:txBody>
      </p:sp>
      <p:sp>
        <p:nvSpPr>
          <p:cNvPr id="23" name="Text 18"/>
          <p:cNvSpPr txBox="1"/>
          <p:nvPr/>
        </p:nvSpPr>
        <p:spPr>
          <a:xfrm>
            <a:off x="4368698" y="5168425"/>
            <a:ext cx="3454298" cy="1188720"/>
          </a:xfrm>
          <a:prstGeom prst="rect">
            <a:avLst/>
          </a:prstGeom>
          <a:noFill/>
          <a:ln/>
        </p:spPr>
        <p:txBody>
          <a:bodyPr wrap="square" lIns="0" tIns="0" rIns="0" bIns="0" rtlCol="0" anchor="t"/>
          <a:lstStyle/>
          <a:p>
            <a:pPr indent="0" marL="0">
              <a:buNone/>
            </a:pPr>
            <a:r>
              <a:rPr lang="en-US" sz="1400" dirty="0">
                <a:solidFill>
                  <a:srgbClr val="334155"/>
                </a:solidFill>
                <a:latin typeface="Segoe UI" pitchFamily="34" charset="0"/>
                <a:ea typeface="Segoe UI" pitchFamily="34" charset="-122"/>
                <a:cs typeface="Segoe UI" pitchFamily="34" charset="-120"/>
              </a:rPr>
              <a:t>A live AI customer with hidden concerns, a Compliance Guard that intercepts a risky message before it is sent, and a one-sentence coach hint every turn.</a:t>
            </a:r>
            <a:endParaRPr lang="en-US" sz="1400" dirty="0"/>
          </a:p>
        </p:txBody>
      </p:sp>
      <p:sp>
        <p:nvSpPr>
          <p:cNvPr id="24" name="Shape 19"/>
          <p:cNvSpPr/>
          <p:nvPr/>
        </p:nvSpPr>
        <p:spPr>
          <a:xfrm>
            <a:off x="7868717" y="2112264"/>
            <a:ext cx="274320" cy="914"/>
          </a:xfrm>
          <a:prstGeom prst="line">
            <a:avLst/>
          </a:prstGeom>
          <a:noFill/>
          <a:ln w="22225">
            <a:solidFill>
              <a:srgbClr val="4F46E5"/>
            </a:solidFill>
            <a:prstDash val="solid"/>
            <a:tailEnd type="triangle"/>
          </a:ln>
        </p:spPr>
      </p:sp>
      <p:sp>
        <p:nvSpPr>
          <p:cNvPr id="25" name="Shape 20"/>
          <p:cNvSpPr/>
          <p:nvPr/>
        </p:nvSpPr>
        <p:spPr>
          <a:xfrm>
            <a:off x="8188757" y="1920240"/>
            <a:ext cx="384048" cy="384048"/>
          </a:xfrm>
          <a:prstGeom prst="ellipse">
            <a:avLst/>
          </a:prstGeom>
          <a:solidFill>
            <a:srgbClr val="4F46E5"/>
          </a:solidFill>
          <a:ln w="12700">
            <a:solidFill>
              <a:srgbClr val="4F46E5"/>
            </a:solidFill>
            <a:prstDash val="solid"/>
          </a:ln>
        </p:spPr>
      </p:sp>
      <p:sp>
        <p:nvSpPr>
          <p:cNvPr id="26" name="Text 21"/>
          <p:cNvSpPr txBox="1"/>
          <p:nvPr/>
        </p:nvSpPr>
        <p:spPr>
          <a:xfrm>
            <a:off x="8188757" y="1920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27" name="Text 22"/>
          <p:cNvSpPr txBox="1"/>
          <p:nvPr/>
        </p:nvSpPr>
        <p:spPr>
          <a:xfrm>
            <a:off x="8691677" y="1920240"/>
            <a:ext cx="1463040" cy="384048"/>
          </a:xfrm>
          <a:prstGeom prst="rect">
            <a:avLst/>
          </a:prstGeom>
          <a:noFill/>
          <a:ln/>
        </p:spPr>
        <p:txBody>
          <a:bodyPr wrap="square" lIns="0" tIns="0" rIns="0" bIns="0"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Prove</a:t>
            </a:r>
            <a:endParaRPr lang="en-US" sz="2000" dirty="0"/>
          </a:p>
        </p:txBody>
      </p:sp>
      <p:sp>
        <p:nvSpPr>
          <p:cNvPr id="28" name="Shape 23"/>
          <p:cNvSpPr/>
          <p:nvPr/>
        </p:nvSpPr>
        <p:spPr>
          <a:xfrm>
            <a:off x="10088575" y="1965960"/>
            <a:ext cx="1554480" cy="292608"/>
          </a:xfrm>
          <a:prstGeom prst="roundRect">
            <a:avLst>
              <a:gd name="adj" fmla="val 50000"/>
            </a:avLst>
          </a:prstGeom>
          <a:solidFill>
            <a:srgbClr val="EEF2FF"/>
          </a:solidFill>
          <a:ln w="12700">
            <a:solidFill>
              <a:srgbClr val="EEF2FF"/>
            </a:solidFill>
            <a:prstDash val="solid"/>
          </a:ln>
        </p:spPr>
      </p:sp>
      <p:sp>
        <p:nvSpPr>
          <p:cNvPr id="29" name="Text 24"/>
          <p:cNvSpPr txBox="1"/>
          <p:nvPr/>
        </p:nvSpPr>
        <p:spPr>
          <a:xfrm>
            <a:off x="10088575" y="1965960"/>
            <a:ext cx="1554480" cy="292608"/>
          </a:xfrm>
          <a:prstGeom prst="rect">
            <a:avLst/>
          </a:prstGeom>
          <a:noFill/>
          <a:ln/>
        </p:spPr>
        <p:txBody>
          <a:bodyPr wrap="square" lIns="0" tIns="0" rIns="0" bIns="0" rtlCol="0" anchor="ctr"/>
          <a:lstStyle/>
          <a:p>
            <a:pPr algn="ctr" indent="0" marL="0">
              <a:buNone/>
            </a:pPr>
            <a:r>
              <a:rPr lang="en-US" sz="1100" b="1" dirty="0">
                <a:solidFill>
                  <a:srgbClr val="4F46E5"/>
                </a:solidFill>
                <a:latin typeface="Segoe UI" pitchFamily="34" charset="0"/>
                <a:ea typeface="Segoe UI" pitchFamily="34" charset="-122"/>
                <a:cs typeface="Segoe UI" pitchFamily="34" charset="-120"/>
              </a:rPr>
              <a:t>Manager</a:t>
            </a:r>
            <a:endParaRPr lang="en-US" sz="1100" dirty="0"/>
          </a:p>
        </p:txBody>
      </p:sp>
      <p:sp>
        <p:nvSpPr>
          <p:cNvPr id="30" name="Shape 25"/>
          <p:cNvSpPr/>
          <p:nvPr/>
        </p:nvSpPr>
        <p:spPr>
          <a:xfrm>
            <a:off x="8188757" y="2505456"/>
            <a:ext cx="3454298" cy="2169193"/>
          </a:xfrm>
          <a:prstGeom prst="roundRect">
            <a:avLst>
              <a:gd name="adj" fmla="val 3372"/>
            </a:avLst>
          </a:prstGeom>
          <a:solidFill>
            <a:srgbClr val="FFFFFF"/>
          </a:solidFill>
          <a:ln w="12700">
            <a:solidFill>
              <a:srgbClr val="E2E8F0"/>
            </a:solidFill>
            <a:prstDash val="solid"/>
          </a:ln>
          <a:effectLst>
            <a:outerShdw sx="100000" sy="100000" kx="0" ky="0" algn="bl" rotWithShape="0" blurRad="101600" dist="25400" dir="5400000">
              <a:srgbClr val="0F172A">
                <a:alpha val="8000"/>
              </a:srgbClr>
            </a:outerShdw>
          </a:effectLst>
        </p:spPr>
      </p:sp>
      <p:pic>
        <p:nvPicPr>
          <p:cNvPr id="31" name="Image 2" descr="D:/github/SkillCoach-AIBC/media/deck/crop_dashboard_top.png">    </p:cNvPr>
          <p:cNvPicPr>
            <a:picLocks noChangeAspect="1"/>
          </p:cNvPicPr>
          <p:nvPr/>
        </p:nvPicPr>
        <p:blipFill>
          <a:blip r:embed="rId3"/>
          <a:stretch>
            <a:fillRect/>
          </a:stretch>
        </p:blipFill>
        <p:spPr>
          <a:xfrm>
            <a:off x="8243621" y="2560320"/>
            <a:ext cx="3344570" cy="2059465"/>
          </a:xfrm>
          <a:prstGeom prst="rect">
            <a:avLst/>
          </a:prstGeom>
        </p:spPr>
      </p:pic>
      <p:sp>
        <p:nvSpPr>
          <p:cNvPr id="32" name="Text 26"/>
          <p:cNvSpPr txBox="1"/>
          <p:nvPr/>
        </p:nvSpPr>
        <p:spPr>
          <a:xfrm>
            <a:off x="8188757" y="4729513"/>
            <a:ext cx="3454298" cy="384048"/>
          </a:xfrm>
          <a:prstGeom prst="rect">
            <a:avLst/>
          </a:prstGeom>
          <a:noFill/>
          <a:ln/>
        </p:spPr>
        <p:txBody>
          <a:bodyPr wrap="square" lIns="0" tIns="0" rIns="0" bIns="0" rtlCol="0" anchor="t"/>
          <a:lstStyle/>
          <a:p>
            <a:pPr indent="0" marL="0">
              <a:buNone/>
            </a:pPr>
            <a:r>
              <a:rPr lang="en-US" sz="1000" i="1" dirty="0">
                <a:solidFill>
                  <a:srgbClr val="64748B"/>
                </a:solidFill>
                <a:latin typeface="Segoe UI" pitchFamily="34" charset="0"/>
                <a:ea typeface="Segoe UI" pitchFamily="34" charset="-122"/>
                <a:cs typeface="Segoe UI" pitchFamily="34" charset="-120"/>
              </a:rPr>
              <a:t>Sample team data, clearly labeled</a:t>
            </a:r>
            <a:endParaRPr lang="en-US" sz="1000" dirty="0"/>
          </a:p>
        </p:txBody>
      </p:sp>
      <p:sp>
        <p:nvSpPr>
          <p:cNvPr id="33" name="Text 27"/>
          <p:cNvSpPr txBox="1"/>
          <p:nvPr/>
        </p:nvSpPr>
        <p:spPr>
          <a:xfrm>
            <a:off x="8188757" y="5168425"/>
            <a:ext cx="3454298" cy="1188720"/>
          </a:xfrm>
          <a:prstGeom prst="rect">
            <a:avLst/>
          </a:prstGeom>
          <a:noFill/>
          <a:ln/>
        </p:spPr>
        <p:txBody>
          <a:bodyPr wrap="square" lIns="0" tIns="0" rIns="0" bIns="0" rtlCol="0" anchor="t"/>
          <a:lstStyle/>
          <a:p>
            <a:pPr indent="0" marL="0">
              <a:buNone/>
            </a:pPr>
            <a:r>
              <a:rPr lang="en-US" sz="1400" dirty="0">
                <a:solidFill>
                  <a:srgbClr val="334155"/>
                </a:solidFill>
                <a:latin typeface="Segoe UI" pitchFamily="34" charset="0"/>
                <a:ea typeface="Segoe UI" pitchFamily="34" charset="-122"/>
                <a:cs typeface="Segoe UI" pitchFamily="34" charset="-120"/>
              </a:rPr>
              <a:t>An evidence-verified report with a compliance gate, and a manager view of who is ready to go live.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lstStyle/>
          <a:p>
            <a:pPr indent="0" marL="0">
              <a:buNone/>
            </a:pPr>
            <a:r>
              <a:rPr lang="en-US" sz="1300" b="1" spc="100" kern="0" dirty="0">
                <a:solidFill>
                  <a:srgbClr val="4F46E5"/>
                </a:solidFill>
                <a:latin typeface="Segoe UI" pitchFamily="34" charset="0"/>
                <a:ea typeface="Segoe UI" pitchFamily="34" charset="-122"/>
                <a:cs typeface="Segoe UI" pitchFamily="34" charset="-120"/>
              </a:rPr>
              <a:t>DEMO · MEASURED ON THE LIVE SERVICE</a:t>
            </a:r>
            <a:endParaRPr lang="en-US" sz="1300" dirty="0"/>
          </a:p>
        </p:txBody>
      </p:sp>
      <p:sp>
        <p:nvSpPr>
          <p:cNvPr id="3" name="Text 1"/>
          <p:cNvSpPr/>
          <p:nvPr>
            <p:ph idx="102" type="title" hasCustomPrompt="1"/>
          </p:nvPr>
        </p:nvSpPr>
        <p:spPr>
          <a:xfrm>
            <a:off x="548640" y="694944"/>
            <a:ext cx="11094415" cy="914400"/>
          </a:xfrm>
          <a:prstGeom prst="rect">
            <a:avLst/>
          </a:prstGeom>
          <a:noFill/>
          <a:ln/>
        </p:spPr>
        <p:txBody>
          <a:bodyPr wrap="square" lIns="0" tIns="0" rIns="0" bIns="0" rtlCol="0" anchor="t"/>
          <a:lstStyle/>
          <a:p>
            <a:pPr algn="l" indent="0" marL="0">
              <a:buNone/>
            </a:pPr>
            <a:r>
              <a:rPr lang="en-US" sz="2800" b="1" dirty="0">
                <a:solidFill>
                  <a:srgbClr val="0F172A"/>
                </a:solidFill>
                <a:latin typeface="Segoe UI" pitchFamily="34" charset="0"/>
                <a:ea typeface="Segoe UI" pitchFamily="34" charset="-122"/>
                <a:cs typeface="Segoe UI" pitchFamily="34" charset="-120"/>
              </a:rPr>
              <a:t>Same engine, three industries, three different outcomes</a:t>
            </a:r>
            <a:endParaRPr lang="en-US" sz="2800" dirty="0"/>
          </a:p>
        </p:txBody>
      </p:sp>
      <p:sp>
        <p:nvSpPr>
          <p:cNvPr id="5" name="Shape 2"/>
          <p:cNvSpPr/>
          <p:nvPr/>
        </p:nvSpPr>
        <p:spPr>
          <a:xfrm>
            <a:off x="548640" y="1828800"/>
            <a:ext cx="3454298" cy="4041648"/>
          </a:xfrm>
          <a:prstGeom prst="roundRect">
            <a:avLst>
              <a:gd name="adj" fmla="val 3177"/>
            </a:avLst>
          </a:prstGeom>
          <a:solidFill>
            <a:srgbClr val="FFFFFF"/>
          </a:solidFill>
          <a:ln w="12700">
            <a:solidFill>
              <a:srgbClr val="E2E8F0"/>
            </a:solidFill>
            <a:prstDash val="solid"/>
          </a:ln>
          <a:effectLst>
            <a:outerShdw sx="100000" sy="100000" kx="0" ky="0" algn="bl" rotWithShape="0" blurRad="101600" dist="25400" dir="5400000">
              <a:srgbClr val="0F172A">
                <a:alpha val="8000"/>
              </a:srgbClr>
            </a:outerShdw>
          </a:effectLst>
        </p:spPr>
      </p:sp>
      <p:sp>
        <p:nvSpPr>
          <p:cNvPr id="6" name="Shape 3"/>
          <p:cNvSpPr/>
          <p:nvPr/>
        </p:nvSpPr>
        <p:spPr>
          <a:xfrm>
            <a:off x="822960" y="2103120"/>
            <a:ext cx="411480" cy="411480"/>
          </a:xfrm>
          <a:prstGeom prst="ellipse">
            <a:avLst/>
          </a:prstGeom>
          <a:solidFill>
            <a:srgbClr val="EEF2FF"/>
          </a:solidFill>
          <a:ln w="12700">
            <a:solidFill>
              <a:srgbClr val="EEF2FF"/>
            </a:solidFill>
            <a:prstDash val="solid"/>
          </a:ln>
        </p:spPr>
      </p:sp>
      <p:sp>
        <p:nvSpPr>
          <p:cNvPr id="7" name="Text 4"/>
          <p:cNvSpPr txBox="1"/>
          <p:nvPr/>
        </p:nvSpPr>
        <p:spPr>
          <a:xfrm>
            <a:off x="822960" y="2103120"/>
            <a:ext cx="411480" cy="411480"/>
          </a:xfrm>
          <a:prstGeom prst="rect">
            <a:avLst/>
          </a:prstGeom>
          <a:noFill/>
          <a:ln/>
        </p:spPr>
        <p:txBody>
          <a:bodyPr wrap="square" lIns="0" tIns="0" rIns="0" bIns="0" rtlCol="0" anchor="ctr"/>
          <a:lstStyle/>
          <a:p>
            <a:pPr algn="ctr" indent="0" marL="0">
              <a:buNone/>
            </a:pPr>
            <a:r>
              <a:rPr lang="en-US" sz="1500" b="1" dirty="0">
                <a:solidFill>
                  <a:srgbClr val="4F46E5"/>
                </a:solidFill>
                <a:latin typeface="Segoe UI" pitchFamily="34" charset="0"/>
                <a:ea typeface="Segoe UI" pitchFamily="34" charset="-122"/>
                <a:cs typeface="Segoe UI" pitchFamily="34" charset="-120"/>
              </a:rPr>
              <a:t>A</a:t>
            </a:r>
            <a:endParaRPr lang="en-US" sz="1500" dirty="0"/>
          </a:p>
        </p:txBody>
      </p:sp>
      <p:sp>
        <p:nvSpPr>
          <p:cNvPr id="8" name="Text 5"/>
          <p:cNvSpPr txBox="1"/>
          <p:nvPr/>
        </p:nvSpPr>
        <p:spPr>
          <a:xfrm>
            <a:off x="1371600" y="2103120"/>
            <a:ext cx="2402738" cy="411480"/>
          </a:xfrm>
          <a:prstGeom prst="rect">
            <a:avLst/>
          </a:prstGeom>
          <a:noFill/>
          <a:ln/>
        </p:spPr>
        <p:txBody>
          <a:bodyPr wrap="square" lIns="0" tIns="0" rIns="0" bIns="0" rtlCol="0" anchor="ctr"/>
          <a:lstStyle/>
          <a:p>
            <a:pPr indent="0" marL="0">
              <a:buNone/>
            </a:pPr>
            <a:r>
              <a:rPr lang="en-US" sz="1500" b="1" dirty="0">
                <a:solidFill>
                  <a:srgbClr val="0F172A"/>
                </a:solidFill>
                <a:latin typeface="Segoe UI" pitchFamily="34" charset="0"/>
                <a:ea typeface="Segoe UI" pitchFamily="34" charset="-122"/>
                <a:cs typeface="Segoe UI" pitchFamily="34" charset="-120"/>
              </a:rPr>
              <a:t>SaaS sales: pricing objection</a:t>
            </a:r>
            <a:endParaRPr lang="en-US" sz="1500" dirty="0"/>
          </a:p>
        </p:txBody>
      </p:sp>
      <p:sp>
        <p:nvSpPr>
          <p:cNvPr id="9" name="Text 6"/>
          <p:cNvSpPr txBox="1"/>
          <p:nvPr/>
        </p:nvSpPr>
        <p:spPr>
          <a:xfrm>
            <a:off x="822960" y="2697480"/>
            <a:ext cx="2905658" cy="1463040"/>
          </a:xfrm>
          <a:prstGeom prst="rect">
            <a:avLst/>
          </a:prstGeom>
          <a:noFill/>
          <a:ln/>
        </p:spPr>
        <p:txBody>
          <a:bodyPr wrap="square" lIns="0" tIns="0" rIns="0" bIns="0" rtlCol="0" anchor="t"/>
          <a:lstStyle/>
          <a:p>
            <a:pPr indent="0" marL="0">
              <a:buNone/>
            </a:pPr>
            <a:r>
              <a:rPr lang="en-US" sz="1400" dirty="0">
                <a:solidFill>
                  <a:srgbClr val="334155"/>
                </a:solidFill>
                <a:latin typeface="Segoe UI" pitchFamily="34" charset="0"/>
                <a:ea typeface="Segoe UI" pitchFamily="34" charset="-122"/>
                <a:cs typeface="Segoe UI" pitchFamily="34" charset="-120"/>
              </a:rPr>
              <a:t>The trainee uncovers the real concern (adoption, not price), answers with product facts and books a pilot.</a:t>
            </a:r>
            <a:endParaRPr lang="en-US" sz="1400" dirty="0"/>
          </a:p>
        </p:txBody>
      </p:sp>
      <p:sp>
        <p:nvSpPr>
          <p:cNvPr id="10" name="Shape 7"/>
          <p:cNvSpPr/>
          <p:nvPr/>
        </p:nvSpPr>
        <p:spPr>
          <a:xfrm>
            <a:off x="822960" y="4251960"/>
            <a:ext cx="2905658" cy="1371600"/>
          </a:xfrm>
          <a:prstGeom prst="roundRect">
            <a:avLst>
              <a:gd name="adj" fmla="val 8000"/>
            </a:avLst>
          </a:prstGeom>
          <a:solidFill>
            <a:srgbClr val="ECFDF5"/>
          </a:solidFill>
          <a:ln w="12700">
            <a:solidFill>
              <a:srgbClr val="ECFDF5"/>
            </a:solidFill>
            <a:prstDash val="solid"/>
          </a:ln>
        </p:spPr>
      </p:sp>
      <p:sp>
        <p:nvSpPr>
          <p:cNvPr id="11" name="Text 8"/>
          <p:cNvSpPr txBox="1"/>
          <p:nvPr/>
        </p:nvSpPr>
        <p:spPr>
          <a:xfrm>
            <a:off x="1005840" y="4279392"/>
            <a:ext cx="2539898" cy="731520"/>
          </a:xfrm>
          <a:prstGeom prst="rect">
            <a:avLst/>
          </a:prstGeom>
          <a:noFill/>
          <a:ln/>
        </p:spPr>
        <p:txBody>
          <a:bodyPr wrap="square" lIns="0" tIns="0" rIns="0" bIns="0" rtlCol="0" anchor="b"/>
          <a:lstStyle/>
          <a:p>
            <a:pPr indent="0" marL="0">
              <a:buNone/>
            </a:pPr>
            <a:r>
              <a:rPr lang="en-US" sz="4400" b="1" dirty="0">
                <a:solidFill>
                  <a:srgbClr val="059669"/>
                </a:solidFill>
                <a:latin typeface="Segoe UI" pitchFamily="34" charset="0"/>
                <a:ea typeface="Segoe UI" pitchFamily="34" charset="-122"/>
                <a:cs typeface="Segoe UI" pitchFamily="34" charset="-120"/>
              </a:rPr>
              <a:t>94</a:t>
            </a:r>
            <a:pPr indent="0" marL="0">
              <a:buNone/>
            </a:pPr>
            <a:r>
              <a:rPr lang="en-US" sz="1200" dirty="0">
                <a:solidFill>
                  <a:srgbClr val="64748B"/>
                </a:solidFill>
                <a:latin typeface="Segoe UI" pitchFamily="34" charset="0"/>
                <a:ea typeface="Segoe UI" pitchFamily="34" charset="-122"/>
                <a:cs typeface="Segoe UI" pitchFamily="34" charset="-120"/>
              </a:rPr>
              <a:t>  overall</a:t>
            </a:r>
            <a:endParaRPr lang="en-US" sz="1400" dirty="0"/>
          </a:p>
        </p:txBody>
      </p:sp>
      <p:sp>
        <p:nvSpPr>
          <p:cNvPr id="12" name="Text 9"/>
          <p:cNvSpPr txBox="1"/>
          <p:nvPr/>
        </p:nvSpPr>
        <p:spPr>
          <a:xfrm>
            <a:off x="1005840" y="5029200"/>
            <a:ext cx="2539898" cy="292608"/>
          </a:xfrm>
          <a:prstGeom prst="rect">
            <a:avLst/>
          </a:prstGeom>
          <a:noFill/>
          <a:ln/>
        </p:spPr>
        <p:txBody>
          <a:bodyPr wrap="square" lIns="0" tIns="0" rIns="0" bIns="0" rtlCol="0" anchor="t"/>
          <a:lstStyle/>
          <a:p>
            <a:pPr indent="0" marL="0">
              <a:buNone/>
            </a:pPr>
            <a:r>
              <a:rPr lang="en-US" sz="1400" b="1" dirty="0">
                <a:solidFill>
                  <a:srgbClr val="059669"/>
                </a:solidFill>
                <a:latin typeface="Segoe UI" pitchFamily="34" charset="0"/>
                <a:ea typeface="Segoe UI" pitchFamily="34" charset="-122"/>
                <a:cs typeface="Segoe UI" pitchFamily="34" charset="-120"/>
              </a:rPr>
              <a:t>Compliance PASS</a:t>
            </a:r>
            <a:endParaRPr lang="en-US" sz="1400" dirty="0"/>
          </a:p>
        </p:txBody>
      </p:sp>
      <p:sp>
        <p:nvSpPr>
          <p:cNvPr id="13" name="Text 10"/>
          <p:cNvSpPr txBox="1"/>
          <p:nvPr/>
        </p:nvSpPr>
        <p:spPr>
          <a:xfrm>
            <a:off x="1005840" y="5303520"/>
            <a:ext cx="2539898" cy="274320"/>
          </a:xfrm>
          <a:prstGeom prst="rect">
            <a:avLst/>
          </a:prstGeom>
          <a:noFill/>
          <a:ln/>
        </p:spPr>
        <p:txBody>
          <a:bodyPr wrap="square" lIns="0" tIns="0" rIns="0" bIns="0" rtlCol="0" anchor="t"/>
          <a:lstStyle/>
          <a:p>
            <a:pPr indent="0" marL="0">
              <a:buNone/>
            </a:pPr>
            <a:r>
              <a:rPr lang="en-US" sz="1200" dirty="0">
                <a:solidFill>
                  <a:srgbClr val="334155"/>
                </a:solidFill>
                <a:latin typeface="Segoe UI" pitchFamily="34" charset="0"/>
                <a:ea typeface="Segoe UI" pitchFamily="34" charset="-122"/>
                <a:cs typeface="Segoe UI" pitchFamily="34" charset="-120"/>
              </a:rPr>
              <a:t>Gemini 4 Argon, session 034508c874</a:t>
            </a:r>
            <a:endParaRPr lang="en-US" sz="1200" dirty="0"/>
          </a:p>
        </p:txBody>
      </p:sp>
      <p:sp>
        <p:nvSpPr>
          <p:cNvPr id="14" name="Shape 11"/>
          <p:cNvSpPr/>
          <p:nvPr/>
        </p:nvSpPr>
        <p:spPr>
          <a:xfrm>
            <a:off x="4368698" y="1828800"/>
            <a:ext cx="3454298" cy="4041648"/>
          </a:xfrm>
          <a:prstGeom prst="roundRect">
            <a:avLst>
              <a:gd name="adj" fmla="val 3177"/>
            </a:avLst>
          </a:prstGeom>
          <a:solidFill>
            <a:srgbClr val="FFFFFF"/>
          </a:solidFill>
          <a:ln w="12700">
            <a:solidFill>
              <a:srgbClr val="E2E8F0"/>
            </a:solidFill>
            <a:prstDash val="solid"/>
          </a:ln>
          <a:effectLst>
            <a:outerShdw sx="100000" sy="100000" kx="0" ky="0" algn="bl" rotWithShape="0" blurRad="101600" dist="25400" dir="5400000">
              <a:srgbClr val="0F172A">
                <a:alpha val="8000"/>
              </a:srgbClr>
            </a:outerShdw>
          </a:effectLst>
        </p:spPr>
      </p:sp>
      <p:sp>
        <p:nvSpPr>
          <p:cNvPr id="15" name="Shape 12"/>
          <p:cNvSpPr/>
          <p:nvPr/>
        </p:nvSpPr>
        <p:spPr>
          <a:xfrm>
            <a:off x="4643018" y="2103120"/>
            <a:ext cx="411480" cy="411480"/>
          </a:xfrm>
          <a:prstGeom prst="ellipse">
            <a:avLst/>
          </a:prstGeom>
          <a:solidFill>
            <a:srgbClr val="EEF2FF"/>
          </a:solidFill>
          <a:ln w="12700">
            <a:solidFill>
              <a:srgbClr val="EEF2FF"/>
            </a:solidFill>
            <a:prstDash val="solid"/>
          </a:ln>
        </p:spPr>
      </p:sp>
      <p:sp>
        <p:nvSpPr>
          <p:cNvPr id="16" name="Text 13"/>
          <p:cNvSpPr txBox="1"/>
          <p:nvPr/>
        </p:nvSpPr>
        <p:spPr>
          <a:xfrm>
            <a:off x="4643018" y="2103120"/>
            <a:ext cx="411480" cy="411480"/>
          </a:xfrm>
          <a:prstGeom prst="rect">
            <a:avLst/>
          </a:prstGeom>
          <a:noFill/>
          <a:ln/>
        </p:spPr>
        <p:txBody>
          <a:bodyPr wrap="square" lIns="0" tIns="0" rIns="0" bIns="0" rtlCol="0" anchor="ctr"/>
          <a:lstStyle/>
          <a:p>
            <a:pPr algn="ctr" indent="0" marL="0">
              <a:buNone/>
            </a:pPr>
            <a:r>
              <a:rPr lang="en-US" sz="1500" b="1" dirty="0">
                <a:solidFill>
                  <a:srgbClr val="4F46E5"/>
                </a:solidFill>
                <a:latin typeface="Segoe UI" pitchFamily="34" charset="0"/>
                <a:ea typeface="Segoe UI" pitchFamily="34" charset="-122"/>
                <a:cs typeface="Segoe UI" pitchFamily="34" charset="-120"/>
              </a:rPr>
              <a:t>B</a:t>
            </a:r>
            <a:endParaRPr lang="en-US" sz="1500" dirty="0"/>
          </a:p>
        </p:txBody>
      </p:sp>
      <p:sp>
        <p:nvSpPr>
          <p:cNvPr id="17" name="Text 14"/>
          <p:cNvSpPr txBox="1"/>
          <p:nvPr/>
        </p:nvSpPr>
        <p:spPr>
          <a:xfrm>
            <a:off x="5191658" y="2103120"/>
            <a:ext cx="2402738" cy="411480"/>
          </a:xfrm>
          <a:prstGeom prst="rect">
            <a:avLst/>
          </a:prstGeom>
          <a:noFill/>
          <a:ln/>
        </p:spPr>
        <p:txBody>
          <a:bodyPr wrap="square" lIns="0" tIns="0" rIns="0" bIns="0" rtlCol="0" anchor="ctr"/>
          <a:lstStyle/>
          <a:p>
            <a:pPr indent="0" marL="0">
              <a:buNone/>
            </a:pPr>
            <a:r>
              <a:rPr lang="en-US" sz="1500" b="1" dirty="0">
                <a:solidFill>
                  <a:srgbClr val="0F172A"/>
                </a:solidFill>
                <a:latin typeface="Segoe UI" pitchFamily="34" charset="0"/>
                <a:ea typeface="Segoe UI" pitchFamily="34" charset="-122"/>
                <a:cs typeface="Segoe UI" pitchFamily="34" charset="-120"/>
              </a:rPr>
              <a:t>Insurance: guaranteed-return trap</a:t>
            </a:r>
            <a:endParaRPr lang="en-US" sz="1500" dirty="0"/>
          </a:p>
        </p:txBody>
      </p:sp>
      <p:sp>
        <p:nvSpPr>
          <p:cNvPr id="18" name="Text 15"/>
          <p:cNvSpPr txBox="1"/>
          <p:nvPr/>
        </p:nvSpPr>
        <p:spPr>
          <a:xfrm>
            <a:off x="4643018" y="2697480"/>
            <a:ext cx="2905658" cy="1463040"/>
          </a:xfrm>
          <a:prstGeom prst="rect">
            <a:avLst/>
          </a:prstGeom>
          <a:noFill/>
          <a:ln/>
        </p:spPr>
        <p:txBody>
          <a:bodyPr wrap="square" lIns="0" tIns="0" rIns="0" bIns="0" rtlCol="0" anchor="t"/>
          <a:lstStyle/>
          <a:p>
            <a:pPr indent="0" marL="0">
              <a:buNone/>
            </a:pPr>
            <a:r>
              <a:rPr lang="en-US" sz="1400" dirty="0">
                <a:solidFill>
                  <a:srgbClr val="334155"/>
                </a:solidFill>
                <a:latin typeface="Segoe UI" pitchFamily="34" charset="0"/>
                <a:ea typeface="Segoe UI" pitchFamily="34" charset="-122"/>
                <a:cs typeface="Segoe UI" pitchFamily="34" charset="-120"/>
              </a:rPr>
              <a:t>“This plan guarantees you 8% a year” is held back by the Compliance Guard (rule CC-01, high). Sent anyway, it fails the session.</a:t>
            </a:r>
            <a:endParaRPr lang="en-US" sz="1400" dirty="0"/>
          </a:p>
        </p:txBody>
      </p:sp>
      <p:sp>
        <p:nvSpPr>
          <p:cNvPr id="19" name="Shape 16"/>
          <p:cNvSpPr/>
          <p:nvPr/>
        </p:nvSpPr>
        <p:spPr>
          <a:xfrm>
            <a:off x="4643018" y="4251960"/>
            <a:ext cx="2905658" cy="1371600"/>
          </a:xfrm>
          <a:prstGeom prst="roundRect">
            <a:avLst>
              <a:gd name="adj" fmla="val 8000"/>
            </a:avLst>
          </a:prstGeom>
          <a:solidFill>
            <a:srgbClr val="FFF1F2"/>
          </a:solidFill>
          <a:ln w="12700">
            <a:solidFill>
              <a:srgbClr val="FFF1F2"/>
            </a:solidFill>
            <a:prstDash val="solid"/>
          </a:ln>
        </p:spPr>
      </p:sp>
      <p:sp>
        <p:nvSpPr>
          <p:cNvPr id="20" name="Text 17"/>
          <p:cNvSpPr txBox="1"/>
          <p:nvPr/>
        </p:nvSpPr>
        <p:spPr>
          <a:xfrm>
            <a:off x="4825898" y="4279392"/>
            <a:ext cx="2539898" cy="731520"/>
          </a:xfrm>
          <a:prstGeom prst="rect">
            <a:avLst/>
          </a:prstGeom>
          <a:noFill/>
          <a:ln/>
        </p:spPr>
        <p:txBody>
          <a:bodyPr wrap="square" lIns="0" tIns="0" rIns="0" bIns="0" rtlCol="0" anchor="b"/>
          <a:lstStyle/>
          <a:p>
            <a:pPr indent="0" marL="0">
              <a:buNone/>
            </a:pPr>
            <a:r>
              <a:rPr lang="en-US" sz="4400" b="1" dirty="0">
                <a:solidFill>
                  <a:srgbClr val="E11D48"/>
                </a:solidFill>
                <a:latin typeface="Segoe UI" pitchFamily="34" charset="0"/>
                <a:ea typeface="Segoe UI" pitchFamily="34" charset="-122"/>
                <a:cs typeface="Segoe UI" pitchFamily="34" charset="-120"/>
              </a:rPr>
              <a:t>FAIL</a:t>
            </a:r>
            <a:pPr indent="0" marL="0">
              <a:buNone/>
            </a:pPr>
            <a:endParaRPr lang="en-US" sz="1400" dirty="0"/>
          </a:p>
        </p:txBody>
      </p:sp>
      <p:sp>
        <p:nvSpPr>
          <p:cNvPr id="21" name="Text 18"/>
          <p:cNvSpPr txBox="1"/>
          <p:nvPr/>
        </p:nvSpPr>
        <p:spPr>
          <a:xfrm>
            <a:off x="4825898" y="5029200"/>
            <a:ext cx="2539898" cy="292608"/>
          </a:xfrm>
          <a:prstGeom prst="rect">
            <a:avLst/>
          </a:prstGeom>
          <a:noFill/>
          <a:ln/>
        </p:spPr>
        <p:txBody>
          <a:bodyPr wrap="square" lIns="0" tIns="0" rIns="0" bIns="0" rtlCol="0" anchor="t"/>
          <a:lstStyle/>
          <a:p>
            <a:pPr indent="0" marL="0">
              <a:buNone/>
            </a:pPr>
            <a:r>
              <a:rPr lang="en-US" sz="1400" b="1" dirty="0">
                <a:solidFill>
                  <a:srgbClr val="E11D48"/>
                </a:solidFill>
                <a:latin typeface="Segoe UI" pitchFamily="34" charset="0"/>
                <a:ea typeface="Segoe UI" pitchFamily="34" charset="-122"/>
                <a:cs typeface="Segoe UI" pitchFamily="34" charset="-120"/>
              </a:rPr>
              <a:t>Score capped</a:t>
            </a:r>
            <a:endParaRPr lang="en-US" sz="1400" dirty="0"/>
          </a:p>
        </p:txBody>
      </p:sp>
      <p:sp>
        <p:nvSpPr>
          <p:cNvPr id="22" name="Text 19"/>
          <p:cNvSpPr txBox="1"/>
          <p:nvPr/>
        </p:nvSpPr>
        <p:spPr>
          <a:xfrm>
            <a:off x="4825898" y="5303520"/>
            <a:ext cx="2539898" cy="274320"/>
          </a:xfrm>
          <a:prstGeom prst="rect">
            <a:avLst/>
          </a:prstGeom>
          <a:noFill/>
          <a:ln/>
        </p:spPr>
        <p:txBody>
          <a:bodyPr wrap="square" lIns="0" tIns="0" rIns="0" bIns="0" rtlCol="0" anchor="t"/>
          <a:lstStyle/>
          <a:p>
            <a:pPr indent="0" marL="0">
              <a:buNone/>
            </a:pPr>
            <a:r>
              <a:rPr lang="en-US" sz="1200" dirty="0">
                <a:solidFill>
                  <a:srgbClr val="334155"/>
                </a:solidFill>
                <a:latin typeface="Segoe UI" pitchFamily="34" charset="0"/>
                <a:ea typeface="Segoe UI" pitchFamily="34" charset="-122"/>
                <a:cs typeface="Segoe UI" pitchFamily="34" charset="-120"/>
              </a:rPr>
              <a:t>30 in the recorded run (5867b49a17)</a:t>
            </a:r>
            <a:endParaRPr lang="en-US" sz="1200" dirty="0"/>
          </a:p>
        </p:txBody>
      </p:sp>
      <p:sp>
        <p:nvSpPr>
          <p:cNvPr id="23" name="Shape 20"/>
          <p:cNvSpPr/>
          <p:nvPr/>
        </p:nvSpPr>
        <p:spPr>
          <a:xfrm>
            <a:off x="8188757" y="1828800"/>
            <a:ext cx="3454298" cy="4041648"/>
          </a:xfrm>
          <a:prstGeom prst="roundRect">
            <a:avLst>
              <a:gd name="adj" fmla="val 3177"/>
            </a:avLst>
          </a:prstGeom>
          <a:solidFill>
            <a:srgbClr val="FFFFFF"/>
          </a:solidFill>
          <a:ln w="12700">
            <a:solidFill>
              <a:srgbClr val="E2E8F0"/>
            </a:solidFill>
            <a:prstDash val="solid"/>
          </a:ln>
          <a:effectLst>
            <a:outerShdw sx="100000" sy="100000" kx="0" ky="0" algn="bl" rotWithShape="0" blurRad="101600" dist="25400" dir="5400000">
              <a:srgbClr val="0F172A">
                <a:alpha val="8000"/>
              </a:srgbClr>
            </a:outerShdw>
          </a:effectLst>
        </p:spPr>
      </p:sp>
      <p:sp>
        <p:nvSpPr>
          <p:cNvPr id="24" name="Shape 21"/>
          <p:cNvSpPr/>
          <p:nvPr/>
        </p:nvSpPr>
        <p:spPr>
          <a:xfrm>
            <a:off x="8463077" y="2103120"/>
            <a:ext cx="411480" cy="411480"/>
          </a:xfrm>
          <a:prstGeom prst="ellipse">
            <a:avLst/>
          </a:prstGeom>
          <a:solidFill>
            <a:srgbClr val="EEF2FF"/>
          </a:solidFill>
          <a:ln w="12700">
            <a:solidFill>
              <a:srgbClr val="EEF2FF"/>
            </a:solidFill>
            <a:prstDash val="solid"/>
          </a:ln>
        </p:spPr>
      </p:sp>
      <p:sp>
        <p:nvSpPr>
          <p:cNvPr id="25" name="Text 22"/>
          <p:cNvSpPr txBox="1"/>
          <p:nvPr/>
        </p:nvSpPr>
        <p:spPr>
          <a:xfrm>
            <a:off x="8463077" y="2103120"/>
            <a:ext cx="411480" cy="411480"/>
          </a:xfrm>
          <a:prstGeom prst="rect">
            <a:avLst/>
          </a:prstGeom>
          <a:noFill/>
          <a:ln/>
        </p:spPr>
        <p:txBody>
          <a:bodyPr wrap="square" lIns="0" tIns="0" rIns="0" bIns="0" rtlCol="0" anchor="ctr"/>
          <a:lstStyle/>
          <a:p>
            <a:pPr algn="ctr" indent="0" marL="0">
              <a:buNone/>
            </a:pPr>
            <a:r>
              <a:rPr lang="en-US" sz="1500" b="1" dirty="0">
                <a:solidFill>
                  <a:srgbClr val="4F46E5"/>
                </a:solidFill>
                <a:latin typeface="Segoe UI" pitchFamily="34" charset="0"/>
                <a:ea typeface="Segoe UI" pitchFamily="34" charset="-122"/>
                <a:cs typeface="Segoe UI" pitchFamily="34" charset="-120"/>
              </a:rPr>
              <a:t>C</a:t>
            </a:r>
            <a:endParaRPr lang="en-US" sz="1500" dirty="0"/>
          </a:p>
        </p:txBody>
      </p:sp>
      <p:sp>
        <p:nvSpPr>
          <p:cNvPr id="26" name="Text 23"/>
          <p:cNvSpPr txBox="1"/>
          <p:nvPr/>
        </p:nvSpPr>
        <p:spPr>
          <a:xfrm>
            <a:off x="9011717" y="2103120"/>
            <a:ext cx="2402738" cy="411480"/>
          </a:xfrm>
          <a:prstGeom prst="rect">
            <a:avLst/>
          </a:prstGeom>
          <a:noFill/>
          <a:ln/>
        </p:spPr>
        <p:txBody>
          <a:bodyPr wrap="square" lIns="0" tIns="0" rIns="0" bIns="0" rtlCol="0" anchor="ctr"/>
          <a:lstStyle/>
          <a:p>
            <a:pPr indent="0" marL="0">
              <a:buNone/>
            </a:pPr>
            <a:r>
              <a:rPr lang="en-US" sz="1500" b="1" dirty="0">
                <a:solidFill>
                  <a:srgbClr val="0F172A"/>
                </a:solidFill>
                <a:latin typeface="Segoe UI" pitchFamily="34" charset="0"/>
                <a:ea typeface="Segoe UI" pitchFamily="34" charset="-122"/>
                <a:cs typeface="Segoe UI" pitchFamily="34" charset="-120"/>
              </a:rPr>
              <a:t>Support escalation</a:t>
            </a:r>
            <a:endParaRPr lang="en-US" sz="1500" dirty="0"/>
          </a:p>
        </p:txBody>
      </p:sp>
      <p:sp>
        <p:nvSpPr>
          <p:cNvPr id="27" name="Text 24"/>
          <p:cNvSpPr txBox="1"/>
          <p:nvPr/>
        </p:nvSpPr>
        <p:spPr>
          <a:xfrm>
            <a:off x="8463077" y="2697480"/>
            <a:ext cx="2905658" cy="1463040"/>
          </a:xfrm>
          <a:prstGeom prst="rect">
            <a:avLst/>
          </a:prstGeom>
          <a:noFill/>
          <a:ln/>
        </p:spPr>
        <p:txBody>
          <a:bodyPr wrap="square" lIns="0" tIns="0" rIns="0" bIns="0" rtlCol="0" anchor="t"/>
          <a:lstStyle/>
          <a:p>
            <a:pPr indent="0" marL="0">
              <a:buNone/>
            </a:pPr>
            <a:r>
              <a:rPr lang="en-US" sz="1400" dirty="0">
                <a:solidFill>
                  <a:srgbClr val="334155"/>
                </a:solidFill>
                <a:latin typeface="Segoe UI" pitchFamily="34" charset="0"/>
                <a:ea typeface="Segoe UI" pitchFamily="34" charset="-122"/>
                <a:cs typeface="Segoe UI" pitchFamily="34" charset="-120"/>
              </a:rPr>
              <a:t>A refund promise outside policy is flagged (RR-01, medium). The trainee recovers, and the customer reveals the story behind the anger.</a:t>
            </a:r>
            <a:endParaRPr lang="en-US" sz="1400" dirty="0"/>
          </a:p>
        </p:txBody>
      </p:sp>
      <p:sp>
        <p:nvSpPr>
          <p:cNvPr id="28" name="Shape 25"/>
          <p:cNvSpPr/>
          <p:nvPr/>
        </p:nvSpPr>
        <p:spPr>
          <a:xfrm>
            <a:off x="8463077" y="4251960"/>
            <a:ext cx="2905658" cy="1371600"/>
          </a:xfrm>
          <a:prstGeom prst="roundRect">
            <a:avLst>
              <a:gd name="adj" fmla="val 8000"/>
            </a:avLst>
          </a:prstGeom>
          <a:solidFill>
            <a:srgbClr val="FFFBEB"/>
          </a:solidFill>
          <a:ln w="12700">
            <a:solidFill>
              <a:srgbClr val="FFFBEB"/>
            </a:solidFill>
            <a:prstDash val="solid"/>
          </a:ln>
        </p:spPr>
      </p:sp>
      <p:sp>
        <p:nvSpPr>
          <p:cNvPr id="29" name="Text 26"/>
          <p:cNvSpPr txBox="1"/>
          <p:nvPr/>
        </p:nvSpPr>
        <p:spPr>
          <a:xfrm>
            <a:off x="8645957" y="4279392"/>
            <a:ext cx="2539898" cy="731520"/>
          </a:xfrm>
          <a:prstGeom prst="rect">
            <a:avLst/>
          </a:prstGeom>
          <a:noFill/>
          <a:ln/>
        </p:spPr>
        <p:txBody>
          <a:bodyPr wrap="square" lIns="0" tIns="0" rIns="0" bIns="0" rtlCol="0" anchor="b"/>
          <a:lstStyle/>
          <a:p>
            <a:pPr indent="0" marL="0">
              <a:buNone/>
            </a:pPr>
            <a:r>
              <a:rPr lang="en-US" sz="4400" b="1" dirty="0">
                <a:solidFill>
                  <a:srgbClr val="D97706"/>
                </a:solidFill>
                <a:latin typeface="Segoe UI" pitchFamily="34" charset="0"/>
                <a:ea typeface="Segoe UI" pitchFamily="34" charset="-122"/>
                <a:cs typeface="Segoe UI" pitchFamily="34" charset="-120"/>
              </a:rPr>
              <a:t>68</a:t>
            </a:r>
            <a:pPr indent="0" marL="0">
              <a:buNone/>
            </a:pPr>
            <a:r>
              <a:rPr lang="en-US" sz="1200" dirty="0">
                <a:solidFill>
                  <a:srgbClr val="64748B"/>
                </a:solidFill>
                <a:latin typeface="Segoe UI" pitchFamily="34" charset="0"/>
                <a:ea typeface="Segoe UI" pitchFamily="34" charset="-122"/>
                <a:cs typeface="Segoe UI" pitchFamily="34" charset="-120"/>
              </a:rPr>
              <a:t>  overall</a:t>
            </a:r>
            <a:endParaRPr lang="en-US" sz="1400" dirty="0"/>
          </a:p>
        </p:txBody>
      </p:sp>
      <p:sp>
        <p:nvSpPr>
          <p:cNvPr id="30" name="Text 27"/>
          <p:cNvSpPr txBox="1"/>
          <p:nvPr/>
        </p:nvSpPr>
        <p:spPr>
          <a:xfrm>
            <a:off x="8645957" y="5029200"/>
            <a:ext cx="2539898" cy="292608"/>
          </a:xfrm>
          <a:prstGeom prst="rect">
            <a:avLst/>
          </a:prstGeom>
          <a:noFill/>
          <a:ln/>
        </p:spPr>
        <p:txBody>
          <a:bodyPr wrap="square" lIns="0" tIns="0" rIns="0" bIns="0" rtlCol="0" anchor="t"/>
          <a:lstStyle/>
          <a:p>
            <a:pPr indent="0" marL="0">
              <a:buNone/>
            </a:pPr>
            <a:r>
              <a:rPr lang="en-US" sz="1400" b="1" dirty="0">
                <a:solidFill>
                  <a:srgbClr val="D97706"/>
                </a:solidFill>
                <a:latin typeface="Segoe UI" pitchFamily="34" charset="0"/>
                <a:ea typeface="Segoe UI" pitchFamily="34" charset="-122"/>
                <a:cs typeface="Segoe UI" pitchFamily="34" charset="-120"/>
              </a:rPr>
              <a:t>Compliance passed</a:t>
            </a:r>
            <a:endParaRPr lang="en-US" sz="1400" dirty="0"/>
          </a:p>
        </p:txBody>
      </p:sp>
      <p:sp>
        <p:nvSpPr>
          <p:cNvPr id="31" name="Text 28"/>
          <p:cNvSpPr txBox="1"/>
          <p:nvPr/>
        </p:nvSpPr>
        <p:spPr>
          <a:xfrm>
            <a:off x="8645957" y="5303520"/>
            <a:ext cx="2539898" cy="274320"/>
          </a:xfrm>
          <a:prstGeom prst="rect">
            <a:avLst/>
          </a:prstGeom>
          <a:noFill/>
          <a:ln/>
        </p:spPr>
        <p:txBody>
          <a:bodyPr wrap="square" lIns="0" tIns="0" rIns="0" bIns="0" rtlCol="0" anchor="t"/>
          <a:lstStyle/>
          <a:p>
            <a:pPr indent="0" marL="0">
              <a:buNone/>
            </a:pPr>
            <a:r>
              <a:rPr lang="en-US" sz="1200" dirty="0">
                <a:solidFill>
                  <a:srgbClr val="334155"/>
                </a:solidFill>
                <a:latin typeface="Segoe UI" pitchFamily="34" charset="0"/>
                <a:ea typeface="Segoe UI" pitchFamily="34" charset="-122"/>
                <a:cs typeface="Segoe UI" pitchFamily="34" charset="-120"/>
              </a:rPr>
              <a:t>Gemini 4 Argon, session 3ca9d80201</a:t>
            </a:r>
            <a:endParaRPr lang="en-US" sz="1200" dirty="0"/>
          </a:p>
        </p:txBody>
      </p:sp>
      <p:sp>
        <p:nvSpPr>
          <p:cNvPr id="32" name="Text 29"/>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rgbClr val="64748B"/>
                </a:solidFill>
                <a:latin typeface="Segoe UI" pitchFamily="34" charset="0"/>
                <a:ea typeface="Segoe UI" pitchFamily="34" charset="-122"/>
                <a:cs typeface="Segoe UI" pitchFamily="34" charset="-120"/>
              </a:rPr>
              <a:t>Gemini 4 Argon build on Cloud Run (asia-east1), 2026-10-16. Every customer line is generated live, so wording varies by run; behavior is anchored in seed rules and triggers.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lstStyle/>
          <a:p>
            <a:pPr indent="0" marL="0">
              <a:buNone/>
            </a:pPr>
            <a:r>
              <a:rPr lang="en-US" sz="1300" b="1" spc="100" kern="0" dirty="0">
                <a:solidFill>
                  <a:srgbClr val="4F46E5"/>
                </a:solidFill>
                <a:latin typeface="Segoe UI" pitchFamily="34" charset="0"/>
                <a:ea typeface="Segoe UI" pitchFamily="34" charset="-122"/>
                <a:cs typeface="Segoe UI" pitchFamily="34" charset="-120"/>
              </a:rPr>
              <a:t>ARCHITECTURE</a:t>
            </a:r>
            <a:endParaRPr lang="en-US" sz="1300" dirty="0"/>
          </a:p>
        </p:txBody>
      </p:sp>
      <p:sp>
        <p:nvSpPr>
          <p:cNvPr id="3" name="Text 1"/>
          <p:cNvSpPr/>
          <p:nvPr>
            <p:ph idx="102" type="title" hasCustomPrompt="1"/>
          </p:nvPr>
        </p:nvSpPr>
        <p:spPr>
          <a:xfrm>
            <a:off x="548640" y="694944"/>
            <a:ext cx="11094415" cy="914400"/>
          </a:xfrm>
          <a:prstGeom prst="rect">
            <a:avLst/>
          </a:prstGeom>
          <a:noFill/>
          <a:ln/>
        </p:spPr>
        <p:txBody>
          <a:bodyPr wrap="square" lIns="0" tIns="0" rIns="0" bIns="0" rtlCol="0" anchor="t"/>
          <a:lstStyle/>
          <a:p>
            <a:pPr algn="l" indent="0" marL="0">
              <a:buNone/>
            </a:pPr>
            <a:r>
              <a:rPr lang="en-US" sz="2800" b="1" dirty="0">
                <a:solidFill>
                  <a:srgbClr val="0F172A"/>
                </a:solidFill>
                <a:latin typeface="Segoe UI" pitchFamily="34" charset="0"/>
                <a:ea typeface="Segoe UI" pitchFamily="34" charset="-122"/>
                <a:cs typeface="Segoe UI" pitchFamily="34" charset="-120"/>
              </a:rPr>
              <a:t>Next.js and FastAPI on Cloud Run, Gemini on Vertex AI, Firestore for state: all managed Google Cloud</a:t>
            </a:r>
            <a:endParaRPr lang="en-US" sz="2800" dirty="0"/>
          </a:p>
        </p:txBody>
      </p:sp>
      <p:sp>
        <p:nvSpPr>
          <p:cNvPr id="5" name="Shape 2"/>
          <p:cNvSpPr/>
          <p:nvPr/>
        </p:nvSpPr>
        <p:spPr>
          <a:xfrm>
            <a:off x="548640" y="2240280"/>
            <a:ext cx="1554480" cy="960120"/>
          </a:xfrm>
          <a:prstGeom prst="roundRect">
            <a:avLst>
              <a:gd name="adj" fmla="val 11429"/>
            </a:avLst>
          </a:prstGeom>
          <a:solidFill>
            <a:srgbClr val="FFFFFF"/>
          </a:solidFill>
          <a:ln w="15875">
            <a:solidFill>
              <a:srgbClr val="E2E8F0"/>
            </a:solidFill>
            <a:prstDash val="solid"/>
          </a:ln>
        </p:spPr>
      </p:sp>
      <p:sp>
        <p:nvSpPr>
          <p:cNvPr id="6" name="Text 3"/>
          <p:cNvSpPr txBox="1"/>
          <p:nvPr/>
        </p:nvSpPr>
        <p:spPr>
          <a:xfrm>
            <a:off x="731520" y="2395728"/>
            <a:ext cx="1188720" cy="320040"/>
          </a:xfrm>
          <a:prstGeom prst="rect">
            <a:avLst/>
          </a:prstGeom>
          <a:noFill/>
          <a:ln/>
        </p:spPr>
        <p:txBody>
          <a:bodyPr wrap="square" lIns="0" tIns="0" rIns="0" bIns="0" rtlCol="0" anchor="t"/>
          <a:lstStyle/>
          <a:p>
            <a:pPr indent="0" marL="0">
              <a:buNone/>
            </a:pPr>
            <a:r>
              <a:rPr lang="en-US" sz="1400" b="1" dirty="0">
                <a:solidFill>
                  <a:srgbClr val="0F172A"/>
                </a:solidFill>
                <a:latin typeface="Segoe UI" pitchFamily="34" charset="0"/>
                <a:ea typeface="Segoe UI" pitchFamily="34" charset="-122"/>
                <a:cs typeface="Segoe UI" pitchFamily="34" charset="-120"/>
              </a:rPr>
              <a:t>Browser</a:t>
            </a:r>
            <a:endParaRPr lang="en-US" sz="1400" dirty="0"/>
          </a:p>
        </p:txBody>
      </p:sp>
      <p:sp>
        <p:nvSpPr>
          <p:cNvPr id="7" name="Text 4"/>
          <p:cNvSpPr txBox="1"/>
          <p:nvPr/>
        </p:nvSpPr>
        <p:spPr>
          <a:xfrm>
            <a:off x="731520" y="2715768"/>
            <a:ext cx="1188720" cy="411480"/>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Trainee, admin, manager</a:t>
            </a:r>
            <a:endParaRPr lang="en-US" sz="1200" dirty="0"/>
          </a:p>
        </p:txBody>
      </p:sp>
      <p:sp>
        <p:nvSpPr>
          <p:cNvPr id="8" name="Shape 5"/>
          <p:cNvSpPr/>
          <p:nvPr/>
        </p:nvSpPr>
        <p:spPr>
          <a:xfrm>
            <a:off x="2514600" y="1783080"/>
            <a:ext cx="5989320" cy="2743200"/>
          </a:xfrm>
          <a:prstGeom prst="roundRect">
            <a:avLst>
              <a:gd name="adj" fmla="val 5000"/>
            </a:avLst>
          </a:prstGeom>
          <a:solidFill>
            <a:srgbClr val="EEF2FF"/>
          </a:solidFill>
          <a:ln w="15875">
            <a:solidFill>
              <a:srgbClr val="E0E7FF"/>
            </a:solidFill>
            <a:prstDash val="dash"/>
          </a:ln>
        </p:spPr>
      </p:sp>
      <p:sp>
        <p:nvSpPr>
          <p:cNvPr id="9" name="Text 6"/>
          <p:cNvSpPr txBox="1"/>
          <p:nvPr/>
        </p:nvSpPr>
        <p:spPr>
          <a:xfrm>
            <a:off x="2697480" y="1856232"/>
            <a:ext cx="4572000" cy="274320"/>
          </a:xfrm>
          <a:prstGeom prst="rect">
            <a:avLst/>
          </a:prstGeom>
          <a:noFill/>
          <a:ln/>
        </p:spPr>
        <p:txBody>
          <a:bodyPr wrap="square" lIns="0" tIns="0" rIns="0" bIns="0" rtlCol="0" anchor="t"/>
          <a:lstStyle/>
          <a:p>
            <a:pPr indent="0" marL="0">
              <a:buNone/>
            </a:pPr>
            <a:r>
              <a:rPr lang="en-US" sz="1100" b="1" dirty="0">
                <a:solidFill>
                  <a:srgbClr val="4F46E5"/>
                </a:solidFill>
                <a:latin typeface="Segoe UI" pitchFamily="34" charset="0"/>
                <a:ea typeface="Segoe UI" pitchFamily="34" charset="-122"/>
                <a:cs typeface="Segoe UI" pitchFamily="34" charset="-120"/>
              </a:rPr>
              <a:t>Google Cloud  ·  asia-east1 (Taiwan)</a:t>
            </a:r>
            <a:endParaRPr lang="en-US" sz="1100" dirty="0"/>
          </a:p>
        </p:txBody>
      </p:sp>
      <p:sp>
        <p:nvSpPr>
          <p:cNvPr id="10" name="Shape 7"/>
          <p:cNvSpPr/>
          <p:nvPr/>
        </p:nvSpPr>
        <p:spPr>
          <a:xfrm>
            <a:off x="2743200" y="2240280"/>
            <a:ext cx="2606040" cy="960120"/>
          </a:xfrm>
          <a:prstGeom prst="roundRect">
            <a:avLst>
              <a:gd name="adj" fmla="val 11429"/>
            </a:avLst>
          </a:prstGeom>
          <a:solidFill>
            <a:srgbClr val="FFFFFF"/>
          </a:solidFill>
          <a:ln w="15875">
            <a:solidFill>
              <a:srgbClr val="E2E8F0"/>
            </a:solidFill>
            <a:prstDash val="solid"/>
          </a:ln>
        </p:spPr>
      </p:sp>
      <p:sp>
        <p:nvSpPr>
          <p:cNvPr id="11" name="Text 8"/>
          <p:cNvSpPr txBox="1"/>
          <p:nvPr/>
        </p:nvSpPr>
        <p:spPr>
          <a:xfrm>
            <a:off x="2926080" y="2395728"/>
            <a:ext cx="2240280" cy="320040"/>
          </a:xfrm>
          <a:prstGeom prst="rect">
            <a:avLst/>
          </a:prstGeom>
          <a:noFill/>
          <a:ln/>
        </p:spPr>
        <p:txBody>
          <a:bodyPr wrap="square" lIns="0" tIns="0" rIns="0" bIns="0" rtlCol="0" anchor="t"/>
          <a:lstStyle/>
          <a:p>
            <a:pPr indent="0" marL="0">
              <a:buNone/>
            </a:pPr>
            <a:r>
              <a:rPr lang="en-US" sz="1400" b="1" dirty="0">
                <a:solidFill>
                  <a:srgbClr val="0F172A"/>
                </a:solidFill>
                <a:latin typeface="Segoe UI" pitchFamily="34" charset="0"/>
                <a:ea typeface="Segoe UI" pitchFamily="34" charset="-122"/>
                <a:cs typeface="Segoe UI" pitchFamily="34" charset="-120"/>
              </a:rPr>
              <a:t>Cloud Run: skillcoach-web</a:t>
            </a:r>
            <a:endParaRPr lang="en-US" sz="1400" dirty="0"/>
          </a:p>
        </p:txBody>
      </p:sp>
      <p:sp>
        <p:nvSpPr>
          <p:cNvPr id="12" name="Text 9"/>
          <p:cNvSpPr txBox="1"/>
          <p:nvPr/>
        </p:nvSpPr>
        <p:spPr>
          <a:xfrm>
            <a:off x="2926080" y="2715768"/>
            <a:ext cx="2240280" cy="411480"/>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Next.js frontend</a:t>
            </a:r>
            <a:endParaRPr lang="en-US" sz="1200" dirty="0"/>
          </a:p>
        </p:txBody>
      </p:sp>
      <p:sp>
        <p:nvSpPr>
          <p:cNvPr id="13" name="Shape 10"/>
          <p:cNvSpPr/>
          <p:nvPr/>
        </p:nvSpPr>
        <p:spPr>
          <a:xfrm>
            <a:off x="5669280" y="2240280"/>
            <a:ext cx="2606040" cy="960120"/>
          </a:xfrm>
          <a:prstGeom prst="roundRect">
            <a:avLst>
              <a:gd name="adj" fmla="val 11429"/>
            </a:avLst>
          </a:prstGeom>
          <a:solidFill>
            <a:srgbClr val="FFFFFF"/>
          </a:solidFill>
          <a:ln w="15875">
            <a:solidFill>
              <a:srgbClr val="E2E8F0"/>
            </a:solidFill>
            <a:prstDash val="solid"/>
          </a:ln>
        </p:spPr>
      </p:sp>
      <p:sp>
        <p:nvSpPr>
          <p:cNvPr id="14" name="Text 11"/>
          <p:cNvSpPr txBox="1"/>
          <p:nvPr/>
        </p:nvSpPr>
        <p:spPr>
          <a:xfrm>
            <a:off x="5852160" y="2395728"/>
            <a:ext cx="2240280" cy="320040"/>
          </a:xfrm>
          <a:prstGeom prst="rect">
            <a:avLst/>
          </a:prstGeom>
          <a:noFill/>
          <a:ln/>
        </p:spPr>
        <p:txBody>
          <a:bodyPr wrap="square" lIns="0" tIns="0" rIns="0" bIns="0" rtlCol="0" anchor="t"/>
          <a:lstStyle/>
          <a:p>
            <a:pPr indent="0" marL="0">
              <a:buNone/>
            </a:pPr>
            <a:r>
              <a:rPr lang="en-US" sz="1400" b="1" dirty="0">
                <a:solidFill>
                  <a:srgbClr val="0F172A"/>
                </a:solidFill>
                <a:latin typeface="Segoe UI" pitchFamily="34" charset="0"/>
                <a:ea typeface="Segoe UI" pitchFamily="34" charset="-122"/>
                <a:cs typeface="Segoe UI" pitchFamily="34" charset="-120"/>
              </a:rPr>
              <a:t>Cloud Run: skillcoach-api</a:t>
            </a:r>
            <a:endParaRPr lang="en-US" sz="1400" dirty="0"/>
          </a:p>
        </p:txBody>
      </p:sp>
      <p:sp>
        <p:nvSpPr>
          <p:cNvPr id="15" name="Text 12"/>
          <p:cNvSpPr txBox="1"/>
          <p:nvPr/>
        </p:nvSpPr>
        <p:spPr>
          <a:xfrm>
            <a:off x="5852160" y="2715768"/>
            <a:ext cx="2240280" cy="411480"/>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FastAPI, Server-Sent Events</a:t>
            </a:r>
            <a:endParaRPr lang="en-US" sz="1200" dirty="0"/>
          </a:p>
        </p:txBody>
      </p:sp>
      <p:sp>
        <p:nvSpPr>
          <p:cNvPr id="16" name="Shape 13"/>
          <p:cNvSpPr/>
          <p:nvPr/>
        </p:nvSpPr>
        <p:spPr>
          <a:xfrm>
            <a:off x="2743200" y="3383280"/>
            <a:ext cx="2606040" cy="960120"/>
          </a:xfrm>
          <a:prstGeom prst="roundRect">
            <a:avLst>
              <a:gd name="adj" fmla="val 11429"/>
            </a:avLst>
          </a:prstGeom>
          <a:solidFill>
            <a:srgbClr val="FFFFFF"/>
          </a:solidFill>
          <a:ln w="15875">
            <a:solidFill>
              <a:srgbClr val="E2E8F0"/>
            </a:solidFill>
            <a:prstDash val="solid"/>
          </a:ln>
        </p:spPr>
      </p:sp>
      <p:sp>
        <p:nvSpPr>
          <p:cNvPr id="17" name="Text 14"/>
          <p:cNvSpPr txBox="1"/>
          <p:nvPr/>
        </p:nvSpPr>
        <p:spPr>
          <a:xfrm>
            <a:off x="2926080" y="3538728"/>
            <a:ext cx="2240280" cy="320040"/>
          </a:xfrm>
          <a:prstGeom prst="rect">
            <a:avLst/>
          </a:prstGeom>
          <a:noFill/>
          <a:ln/>
        </p:spPr>
        <p:txBody>
          <a:bodyPr wrap="square" lIns="0" tIns="0" rIns="0" bIns="0" rtlCol="0" anchor="t"/>
          <a:lstStyle/>
          <a:p>
            <a:pPr indent="0" marL="0">
              <a:buNone/>
            </a:pPr>
            <a:r>
              <a:rPr lang="en-US" sz="1400" b="1" dirty="0">
                <a:solidFill>
                  <a:srgbClr val="0F172A"/>
                </a:solidFill>
                <a:latin typeface="Segoe UI" pitchFamily="34" charset="0"/>
                <a:ea typeface="Segoe UI" pitchFamily="34" charset="-122"/>
                <a:cs typeface="Segoe UI" pitchFamily="34" charset="-120"/>
              </a:rPr>
              <a:t>Firestore</a:t>
            </a:r>
            <a:endParaRPr lang="en-US" sz="1400" dirty="0"/>
          </a:p>
        </p:txBody>
      </p:sp>
      <p:sp>
        <p:nvSpPr>
          <p:cNvPr id="18" name="Text 15"/>
          <p:cNvSpPr txBox="1"/>
          <p:nvPr/>
        </p:nvSpPr>
        <p:spPr>
          <a:xfrm>
            <a:off x="2926080" y="3858768"/>
            <a:ext cx="2240280" cy="411480"/>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Docs, chunks + vectors, personas, sessions, reports</a:t>
            </a:r>
            <a:endParaRPr lang="en-US" sz="1200" dirty="0"/>
          </a:p>
        </p:txBody>
      </p:sp>
      <p:sp>
        <p:nvSpPr>
          <p:cNvPr id="19" name="Shape 16"/>
          <p:cNvSpPr/>
          <p:nvPr/>
        </p:nvSpPr>
        <p:spPr>
          <a:xfrm>
            <a:off x="5669280" y="3383280"/>
            <a:ext cx="2606040" cy="960120"/>
          </a:xfrm>
          <a:prstGeom prst="roundRect">
            <a:avLst>
              <a:gd name="adj" fmla="val 11429"/>
            </a:avLst>
          </a:prstGeom>
          <a:solidFill>
            <a:srgbClr val="FFFFFF"/>
          </a:solidFill>
          <a:ln w="15875">
            <a:solidFill>
              <a:srgbClr val="E2E8F0"/>
            </a:solidFill>
            <a:prstDash val="solid"/>
          </a:ln>
        </p:spPr>
      </p:sp>
      <p:sp>
        <p:nvSpPr>
          <p:cNvPr id="20" name="Text 17"/>
          <p:cNvSpPr txBox="1"/>
          <p:nvPr/>
        </p:nvSpPr>
        <p:spPr>
          <a:xfrm>
            <a:off x="5852160" y="3538728"/>
            <a:ext cx="2240280" cy="320040"/>
          </a:xfrm>
          <a:prstGeom prst="rect">
            <a:avLst/>
          </a:prstGeom>
          <a:noFill/>
          <a:ln/>
        </p:spPr>
        <p:txBody>
          <a:bodyPr wrap="square" lIns="0" tIns="0" rIns="0" bIns="0" rtlCol="0" anchor="t"/>
          <a:lstStyle/>
          <a:p>
            <a:pPr indent="0" marL="0">
              <a:buNone/>
            </a:pPr>
            <a:r>
              <a:rPr lang="en-US" sz="1400" b="1" dirty="0">
                <a:solidFill>
                  <a:srgbClr val="0F172A"/>
                </a:solidFill>
                <a:latin typeface="Segoe UI" pitchFamily="34" charset="0"/>
                <a:ea typeface="Segoe UI" pitchFamily="34" charset="-122"/>
                <a:cs typeface="Segoe UI" pitchFamily="34" charset="-120"/>
              </a:rPr>
              <a:t>gemini-embedding-001</a:t>
            </a:r>
            <a:endParaRPr lang="en-US" sz="1400" dirty="0"/>
          </a:p>
        </p:txBody>
      </p:sp>
      <p:sp>
        <p:nvSpPr>
          <p:cNvPr id="21" name="Text 18"/>
          <p:cNvSpPr txBox="1"/>
          <p:nvPr/>
        </p:nvSpPr>
        <p:spPr>
          <a:xfrm>
            <a:off x="5852160" y="3858768"/>
            <a:ext cx="2240280" cy="411480"/>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Vertex AI, same region</a:t>
            </a:r>
            <a:endParaRPr lang="en-US" sz="1200" dirty="0"/>
          </a:p>
        </p:txBody>
      </p:sp>
      <p:sp>
        <p:nvSpPr>
          <p:cNvPr id="22" name="Shape 19"/>
          <p:cNvSpPr/>
          <p:nvPr/>
        </p:nvSpPr>
        <p:spPr>
          <a:xfrm>
            <a:off x="8915400" y="1783080"/>
            <a:ext cx="2724912" cy="2743200"/>
          </a:xfrm>
          <a:prstGeom prst="roundRect">
            <a:avLst>
              <a:gd name="adj" fmla="val 4027"/>
            </a:avLst>
          </a:prstGeom>
          <a:solidFill>
            <a:srgbClr val="4F46E5"/>
          </a:solidFill>
          <a:ln w="15875">
            <a:solidFill>
              <a:srgbClr val="4F46E5"/>
            </a:solidFill>
            <a:prstDash val="solid"/>
          </a:ln>
        </p:spPr>
      </p:sp>
      <p:sp>
        <p:nvSpPr>
          <p:cNvPr id="23" name="Text 20"/>
          <p:cNvSpPr txBox="1"/>
          <p:nvPr/>
        </p:nvSpPr>
        <p:spPr>
          <a:xfrm>
            <a:off x="9098280" y="1938528"/>
            <a:ext cx="2359152" cy="320040"/>
          </a:xfrm>
          <a:prstGeom prst="rect">
            <a:avLst/>
          </a:prstGeom>
          <a:noFill/>
          <a:ln/>
        </p:spPr>
        <p:txBody>
          <a:bodyPr wrap="square" lIns="0" tIns="0" rIns="0" bIns="0" rtlCol="0" anchor="t"/>
          <a:lstStyle/>
          <a:p>
            <a:pPr indent="0" marL="0">
              <a:buNone/>
            </a:pPr>
            <a:r>
              <a:rPr lang="en-US" sz="1400" b="1" dirty="0">
                <a:solidFill>
                  <a:srgbClr val="FFFFFF"/>
                </a:solidFill>
                <a:latin typeface="Segoe UI" pitchFamily="34" charset="0"/>
                <a:ea typeface="Segoe UI" pitchFamily="34" charset="-122"/>
                <a:cs typeface="Segoe UI" pitchFamily="34" charset="-120"/>
              </a:rPr>
              <a:t>Vertex AI: global endpoint</a:t>
            </a:r>
            <a:endParaRPr lang="en-US" sz="1400" dirty="0"/>
          </a:p>
        </p:txBody>
      </p:sp>
      <p:sp>
        <p:nvSpPr>
          <p:cNvPr id="24" name="Text 21"/>
          <p:cNvSpPr txBox="1"/>
          <p:nvPr/>
        </p:nvSpPr>
        <p:spPr>
          <a:xfrm>
            <a:off x="9098280" y="2258568"/>
            <a:ext cx="2359152" cy="2194560"/>
          </a:xfrm>
          <a:prstGeom prst="rect">
            <a:avLst/>
          </a:prstGeom>
          <a:noFill/>
          <a:ln/>
        </p:spPr>
        <p:txBody>
          <a:bodyPr wrap="square" lIns="0" tIns="0" rIns="0" bIns="0" rtlCol="0" anchor="t"/>
          <a:lstStyle/>
          <a:p>
            <a:pPr indent="0" marL="0">
              <a:buNone/>
            </a:pPr>
            <a:r>
              <a:rPr lang="en-US" sz="1200" dirty="0">
                <a:solidFill>
                  <a:srgbClr val="E0E7FF"/>
                </a:solidFill>
                <a:latin typeface="Segoe UI" pitchFamily="34" charset="0"/>
                <a:ea typeface="Segoe UI" pitchFamily="34" charset="-122"/>
                <a:cs typeface="Segoe UI" pitchFamily="34" charset="-120"/>
              </a:rPr>
              <a:t>Gemini 4 Argon + Gemini 3.5 Flash-Lite via the google-genai SDK</a:t>
            </a:r>
            <a:endParaRPr lang="en-US" sz="1200" dirty="0"/>
          </a:p>
          <a:p>
            <a:pPr indent="0" marL="0">
              <a:buNone/>
            </a:pPr>
            <a:endParaRPr lang="en-US" sz="1200" dirty="0"/>
          </a:p>
          <a:p>
            <a:pPr indent="0" marL="0">
              <a:buNone/>
            </a:pPr>
            <a:r>
              <a:rPr lang="en-US" sz="1200" dirty="0">
                <a:solidFill>
                  <a:srgbClr val="E0E7FF"/>
                </a:solidFill>
                <a:latin typeface="Segoe UI" pitchFamily="34" charset="0"/>
                <a:ea typeface="Segoe UI" pitchFamily="34" charset="-122"/>
                <a:cs typeface="Segoe UI" pitchFamily="34" charset="-120"/>
              </a:rPr>
              <a:t>Per-tier fallback chains</a:t>
            </a:r>
            <a:endParaRPr lang="en-US" sz="1200" dirty="0"/>
          </a:p>
          <a:p>
            <a:pPr indent="0" marL="0">
              <a:buNone/>
            </a:pPr>
            <a:r>
              <a:rPr lang="en-US" sz="1200" dirty="0">
                <a:solidFill>
                  <a:srgbClr val="E0E7FF"/>
                </a:solidFill>
                <a:latin typeface="Segoe UI" pitchFamily="34" charset="0"/>
                <a:ea typeface="Segoe UI" pitchFamily="34" charset="-122"/>
                <a:cs typeface="Segoe UI" pitchFamily="34" charset="-120"/>
              </a:rPr>
              <a:t>(7 agent roles, next slide)</a:t>
            </a:r>
            <a:endParaRPr lang="en-US" sz="1200" dirty="0"/>
          </a:p>
        </p:txBody>
      </p:sp>
      <p:sp>
        <p:nvSpPr>
          <p:cNvPr id="25" name="Shape 22"/>
          <p:cNvSpPr/>
          <p:nvPr/>
        </p:nvSpPr>
        <p:spPr>
          <a:xfrm>
            <a:off x="2121408" y="2715768"/>
            <a:ext cx="603504" cy="914"/>
          </a:xfrm>
          <a:prstGeom prst="line">
            <a:avLst/>
          </a:prstGeom>
          <a:noFill/>
          <a:ln w="22225">
            <a:solidFill>
              <a:srgbClr val="64748B"/>
            </a:solidFill>
            <a:prstDash val="solid"/>
            <a:tailEnd type="triangle"/>
          </a:ln>
        </p:spPr>
      </p:sp>
      <p:sp>
        <p:nvSpPr>
          <p:cNvPr id="26" name="Shape 23"/>
          <p:cNvSpPr/>
          <p:nvPr/>
        </p:nvSpPr>
        <p:spPr>
          <a:xfrm>
            <a:off x="5367528" y="2715768"/>
            <a:ext cx="283464" cy="914"/>
          </a:xfrm>
          <a:prstGeom prst="line">
            <a:avLst/>
          </a:prstGeom>
          <a:noFill/>
          <a:ln w="22225">
            <a:solidFill>
              <a:srgbClr val="64748B"/>
            </a:solidFill>
            <a:prstDash val="solid"/>
            <a:tailEnd type="triangle"/>
          </a:ln>
        </p:spPr>
      </p:sp>
      <p:sp>
        <p:nvSpPr>
          <p:cNvPr id="27" name="Shape 24"/>
          <p:cNvSpPr/>
          <p:nvPr/>
        </p:nvSpPr>
        <p:spPr>
          <a:xfrm>
            <a:off x="8293608" y="2715768"/>
            <a:ext cx="603504" cy="914"/>
          </a:xfrm>
          <a:prstGeom prst="line">
            <a:avLst/>
          </a:prstGeom>
          <a:noFill/>
          <a:ln w="22225">
            <a:solidFill>
              <a:srgbClr val="64748B"/>
            </a:solidFill>
            <a:prstDash val="solid"/>
            <a:tailEnd type="triangle"/>
          </a:ln>
        </p:spPr>
      </p:sp>
      <p:sp>
        <p:nvSpPr>
          <p:cNvPr id="28" name="Shape 25"/>
          <p:cNvSpPr/>
          <p:nvPr/>
        </p:nvSpPr>
        <p:spPr>
          <a:xfrm>
            <a:off x="6967728" y="3218688"/>
            <a:ext cx="914" cy="146304"/>
          </a:xfrm>
          <a:prstGeom prst="line">
            <a:avLst/>
          </a:prstGeom>
          <a:noFill/>
          <a:ln w="22225">
            <a:solidFill>
              <a:srgbClr val="64748B"/>
            </a:solidFill>
            <a:prstDash val="solid"/>
            <a:tailEnd type="triangle"/>
          </a:ln>
        </p:spPr>
      </p:sp>
      <p:sp>
        <p:nvSpPr>
          <p:cNvPr id="29" name="Shape 26"/>
          <p:cNvSpPr/>
          <p:nvPr/>
        </p:nvSpPr>
        <p:spPr>
          <a:xfrm flipH="1">
            <a:off x="5367528" y="3218688"/>
            <a:ext cx="484632" cy="210312"/>
          </a:xfrm>
          <a:prstGeom prst="line">
            <a:avLst/>
          </a:prstGeom>
          <a:noFill/>
          <a:ln w="22225">
            <a:solidFill>
              <a:srgbClr val="64748B"/>
            </a:solidFill>
            <a:prstDash val="solid"/>
            <a:tailEnd type="triangle"/>
          </a:ln>
        </p:spPr>
      </p:sp>
      <p:sp>
        <p:nvSpPr>
          <p:cNvPr id="30" name="Text 27"/>
          <p:cNvSpPr txBox="1"/>
          <p:nvPr/>
        </p:nvSpPr>
        <p:spPr>
          <a:xfrm>
            <a:off x="548640" y="4800600"/>
            <a:ext cx="11094415" cy="274320"/>
          </a:xfrm>
          <a:prstGeom prst="rect">
            <a:avLst/>
          </a:prstGeom>
          <a:noFill/>
          <a:ln/>
        </p:spPr>
        <p:txBody>
          <a:bodyPr wrap="square" lIns="0" tIns="0" rIns="0" bIns="0" rtlCol="0" anchor="t"/>
          <a:lstStyle/>
          <a:p>
            <a:pPr indent="0" marL="0">
              <a:buNone/>
            </a:pPr>
            <a:r>
              <a:rPr lang="en-US" sz="1300" b="1" dirty="0">
                <a:solidFill>
                  <a:srgbClr val="0F172A"/>
                </a:solidFill>
                <a:latin typeface="Segoe UI" pitchFamily="34" charset="0"/>
                <a:ea typeface="Segoe UI" pitchFamily="34" charset="-122"/>
                <a:cs typeface="Segoe UI" pitchFamily="34" charset="-120"/>
              </a:rPr>
              <a:t>Per-turn pipeline, one streamed HTTP request (measured on the live service)</a:t>
            </a:r>
            <a:endParaRPr lang="en-US" sz="1300" dirty="0"/>
          </a:p>
        </p:txBody>
      </p:sp>
      <p:sp>
        <p:nvSpPr>
          <p:cNvPr id="31" name="Shape 28"/>
          <p:cNvSpPr/>
          <p:nvPr/>
        </p:nvSpPr>
        <p:spPr>
          <a:xfrm>
            <a:off x="548640" y="5166360"/>
            <a:ext cx="2011680" cy="777240"/>
          </a:xfrm>
          <a:prstGeom prst="roundRect">
            <a:avLst>
              <a:gd name="adj" fmla="val 14118"/>
            </a:avLst>
          </a:prstGeom>
          <a:solidFill>
            <a:srgbClr val="F8FAFC"/>
          </a:solidFill>
          <a:ln w="12700">
            <a:solidFill>
              <a:srgbClr val="E2E8F0"/>
            </a:solidFill>
            <a:prstDash val="solid"/>
          </a:ln>
        </p:spPr>
      </p:sp>
      <p:sp>
        <p:nvSpPr>
          <p:cNvPr id="32" name="Text 29"/>
          <p:cNvSpPr txBox="1"/>
          <p:nvPr/>
        </p:nvSpPr>
        <p:spPr>
          <a:xfrm>
            <a:off x="685800" y="5230368"/>
            <a:ext cx="1737360" cy="320040"/>
          </a:xfrm>
          <a:prstGeom prst="rect">
            <a:avLst/>
          </a:prstGeom>
          <a:noFill/>
          <a:ln/>
        </p:spPr>
        <p:txBody>
          <a:bodyPr wrap="square" lIns="0" tIns="0" rIns="0" bIns="0" rtlCol="0" anchor="t"/>
          <a:lstStyle/>
          <a:p>
            <a:pPr indent="0" marL="0">
              <a:buNone/>
            </a:pPr>
            <a:r>
              <a:rPr lang="en-US" sz="1200" b="1" dirty="0">
                <a:solidFill>
                  <a:srgbClr val="0F172A"/>
                </a:solidFill>
                <a:latin typeface="Segoe UI" pitchFamily="34" charset="0"/>
                <a:ea typeface="Segoe UI" pitchFamily="34" charset="-122"/>
                <a:cs typeface="Segoe UI" pitchFamily="34" charset="-120"/>
              </a:rPr>
              <a:t>Compliance pre-check</a:t>
            </a:r>
            <a:endParaRPr lang="en-US" sz="1200" dirty="0"/>
          </a:p>
        </p:txBody>
      </p:sp>
      <p:sp>
        <p:nvSpPr>
          <p:cNvPr id="33" name="Text 30"/>
          <p:cNvSpPr txBox="1"/>
          <p:nvPr/>
        </p:nvSpPr>
        <p:spPr>
          <a:xfrm>
            <a:off x="685800" y="5550408"/>
            <a:ext cx="1737360" cy="292608"/>
          </a:xfrm>
          <a:prstGeom prst="rect">
            <a:avLst/>
          </a:prstGeom>
          <a:noFill/>
          <a:ln/>
        </p:spPr>
        <p:txBody>
          <a:bodyPr wrap="square" lIns="0" tIns="0" rIns="0" bIns="0" rtlCol="0" anchor="t"/>
          <a:lstStyle/>
          <a:p>
            <a:pPr indent="0" marL="0">
              <a:buNone/>
            </a:pPr>
            <a:r>
              <a:rPr lang="en-US" sz="1200" b="1" dirty="0">
                <a:solidFill>
                  <a:srgbClr val="4F46E5"/>
                </a:solidFill>
                <a:latin typeface="Segoe UI" pitchFamily="34" charset="0"/>
                <a:ea typeface="Segoe UI" pitchFamily="34" charset="-122"/>
                <a:cs typeface="Segoe UI" pitchFamily="34" charset="-120"/>
              </a:rPr>
              <a:t>~1 s</a:t>
            </a:r>
            <a:endParaRPr lang="en-US" sz="1200" dirty="0"/>
          </a:p>
        </p:txBody>
      </p:sp>
      <p:sp>
        <p:nvSpPr>
          <p:cNvPr id="34" name="Shape 31"/>
          <p:cNvSpPr/>
          <p:nvPr/>
        </p:nvSpPr>
        <p:spPr>
          <a:xfrm>
            <a:off x="2587752" y="5550408"/>
            <a:ext cx="204140" cy="914"/>
          </a:xfrm>
          <a:prstGeom prst="line">
            <a:avLst/>
          </a:prstGeom>
          <a:noFill/>
          <a:ln w="22225">
            <a:solidFill>
              <a:srgbClr val="64748B"/>
            </a:solidFill>
            <a:prstDash val="solid"/>
            <a:tailEnd type="triangle"/>
          </a:ln>
        </p:spPr>
      </p:sp>
      <p:sp>
        <p:nvSpPr>
          <p:cNvPr id="35" name="Shape 32"/>
          <p:cNvSpPr/>
          <p:nvPr/>
        </p:nvSpPr>
        <p:spPr>
          <a:xfrm>
            <a:off x="2819324" y="5166360"/>
            <a:ext cx="2011680" cy="777240"/>
          </a:xfrm>
          <a:prstGeom prst="roundRect">
            <a:avLst>
              <a:gd name="adj" fmla="val 14118"/>
            </a:avLst>
          </a:prstGeom>
          <a:solidFill>
            <a:srgbClr val="F8FAFC"/>
          </a:solidFill>
          <a:ln w="12700">
            <a:solidFill>
              <a:srgbClr val="E2E8F0"/>
            </a:solidFill>
            <a:prstDash val="solid"/>
          </a:ln>
        </p:spPr>
      </p:sp>
      <p:sp>
        <p:nvSpPr>
          <p:cNvPr id="36" name="Text 33"/>
          <p:cNvSpPr txBox="1"/>
          <p:nvPr/>
        </p:nvSpPr>
        <p:spPr>
          <a:xfrm>
            <a:off x="2956484" y="5230368"/>
            <a:ext cx="1737360" cy="320040"/>
          </a:xfrm>
          <a:prstGeom prst="rect">
            <a:avLst/>
          </a:prstGeom>
          <a:noFill/>
          <a:ln/>
        </p:spPr>
        <p:txBody>
          <a:bodyPr wrap="square" lIns="0" tIns="0" rIns="0" bIns="0" rtlCol="0" anchor="t"/>
          <a:lstStyle/>
          <a:p>
            <a:pPr indent="0" marL="0">
              <a:buNone/>
            </a:pPr>
            <a:r>
              <a:rPr lang="en-US" sz="1200" b="1" dirty="0">
                <a:solidFill>
                  <a:srgbClr val="0F172A"/>
                </a:solidFill>
                <a:latin typeface="Segoe UI" pitchFamily="34" charset="0"/>
                <a:ea typeface="Segoe UI" pitchFamily="34" charset="-122"/>
                <a:cs typeface="Segoe UI" pitchFamily="34" charset="-120"/>
              </a:rPr>
              <a:t>Retrieval</a:t>
            </a:r>
            <a:endParaRPr lang="en-US" sz="1200" dirty="0"/>
          </a:p>
        </p:txBody>
      </p:sp>
      <p:sp>
        <p:nvSpPr>
          <p:cNvPr id="37" name="Text 34"/>
          <p:cNvSpPr txBox="1"/>
          <p:nvPr/>
        </p:nvSpPr>
        <p:spPr>
          <a:xfrm>
            <a:off x="2956484" y="5550408"/>
            <a:ext cx="1737360" cy="292608"/>
          </a:xfrm>
          <a:prstGeom prst="rect">
            <a:avLst/>
          </a:prstGeom>
          <a:noFill/>
          <a:ln/>
        </p:spPr>
        <p:txBody>
          <a:bodyPr wrap="square" lIns="0" tIns="0" rIns="0" bIns="0" rtlCol="0" anchor="t"/>
          <a:lstStyle/>
          <a:p>
            <a:pPr indent="0" marL="0">
              <a:buNone/>
            </a:pPr>
            <a:r>
              <a:rPr lang="en-US" sz="1200" b="1" dirty="0">
                <a:solidFill>
                  <a:srgbClr val="4F46E5"/>
                </a:solidFill>
                <a:latin typeface="Segoe UI" pitchFamily="34" charset="0"/>
                <a:ea typeface="Segoe UI" pitchFamily="34" charset="-122"/>
                <a:cs typeface="Segoe UI" pitchFamily="34" charset="-120"/>
              </a:rPr>
              <a:t>~0.25 s</a:t>
            </a:r>
            <a:endParaRPr lang="en-US" sz="1200" dirty="0"/>
          </a:p>
        </p:txBody>
      </p:sp>
      <p:sp>
        <p:nvSpPr>
          <p:cNvPr id="38" name="Shape 35"/>
          <p:cNvSpPr/>
          <p:nvPr/>
        </p:nvSpPr>
        <p:spPr>
          <a:xfrm>
            <a:off x="4858436" y="5550408"/>
            <a:ext cx="204140" cy="914"/>
          </a:xfrm>
          <a:prstGeom prst="line">
            <a:avLst/>
          </a:prstGeom>
          <a:noFill/>
          <a:ln w="22225">
            <a:solidFill>
              <a:srgbClr val="64748B"/>
            </a:solidFill>
            <a:prstDash val="solid"/>
            <a:tailEnd type="triangle"/>
          </a:ln>
        </p:spPr>
      </p:sp>
      <p:sp>
        <p:nvSpPr>
          <p:cNvPr id="39" name="Shape 36"/>
          <p:cNvSpPr/>
          <p:nvPr/>
        </p:nvSpPr>
        <p:spPr>
          <a:xfrm>
            <a:off x="5090008" y="5166360"/>
            <a:ext cx="2011680" cy="777240"/>
          </a:xfrm>
          <a:prstGeom prst="roundRect">
            <a:avLst>
              <a:gd name="adj" fmla="val 14118"/>
            </a:avLst>
          </a:prstGeom>
          <a:solidFill>
            <a:srgbClr val="F8FAFC"/>
          </a:solidFill>
          <a:ln w="12700">
            <a:solidFill>
              <a:srgbClr val="E2E8F0"/>
            </a:solidFill>
            <a:prstDash val="solid"/>
          </a:ln>
        </p:spPr>
      </p:sp>
      <p:sp>
        <p:nvSpPr>
          <p:cNvPr id="40" name="Text 37"/>
          <p:cNvSpPr txBox="1"/>
          <p:nvPr/>
        </p:nvSpPr>
        <p:spPr>
          <a:xfrm>
            <a:off x="5227168" y="5230368"/>
            <a:ext cx="1737360" cy="320040"/>
          </a:xfrm>
          <a:prstGeom prst="rect">
            <a:avLst/>
          </a:prstGeom>
          <a:noFill/>
          <a:ln/>
        </p:spPr>
        <p:txBody>
          <a:bodyPr wrap="square" lIns="0" tIns="0" rIns="0" bIns="0" rtlCol="0" anchor="t"/>
          <a:lstStyle/>
          <a:p>
            <a:pPr indent="0" marL="0">
              <a:buNone/>
            </a:pPr>
            <a:r>
              <a:rPr lang="en-US" sz="1200" b="1" dirty="0">
                <a:solidFill>
                  <a:srgbClr val="0F172A"/>
                </a:solidFill>
                <a:latin typeface="Segoe UI" pitchFamily="34" charset="0"/>
                <a:ea typeface="Segoe UI" pitchFamily="34" charset="-122"/>
                <a:cs typeface="Segoe UI" pitchFamily="34" charset="-120"/>
              </a:rPr>
              <a:t>Persona reply streams</a:t>
            </a:r>
            <a:endParaRPr lang="en-US" sz="1200" dirty="0"/>
          </a:p>
        </p:txBody>
      </p:sp>
      <p:sp>
        <p:nvSpPr>
          <p:cNvPr id="41" name="Text 38"/>
          <p:cNvSpPr txBox="1"/>
          <p:nvPr/>
        </p:nvSpPr>
        <p:spPr>
          <a:xfrm>
            <a:off x="5227168" y="5550408"/>
            <a:ext cx="1737360" cy="292608"/>
          </a:xfrm>
          <a:prstGeom prst="rect">
            <a:avLst/>
          </a:prstGeom>
          <a:noFill/>
          <a:ln/>
        </p:spPr>
        <p:txBody>
          <a:bodyPr wrap="square" lIns="0" tIns="0" rIns="0" bIns="0" rtlCol="0" anchor="t"/>
          <a:lstStyle/>
          <a:p>
            <a:pPr indent="0" marL="0">
              <a:buNone/>
            </a:pPr>
            <a:r>
              <a:rPr lang="en-US" sz="1200" b="1" dirty="0">
                <a:solidFill>
                  <a:srgbClr val="4F46E5"/>
                </a:solidFill>
                <a:latin typeface="Segoe UI" pitchFamily="34" charset="0"/>
                <a:ea typeface="Segoe UI" pitchFamily="34" charset="-122"/>
                <a:cs typeface="Segoe UI" pitchFamily="34" charset="-120"/>
              </a:rPr>
              <a:t>first token 2-2.7 s</a:t>
            </a:r>
            <a:endParaRPr lang="en-US" sz="1200" dirty="0"/>
          </a:p>
        </p:txBody>
      </p:sp>
      <p:sp>
        <p:nvSpPr>
          <p:cNvPr id="42" name="Shape 39"/>
          <p:cNvSpPr/>
          <p:nvPr/>
        </p:nvSpPr>
        <p:spPr>
          <a:xfrm>
            <a:off x="7129120" y="5550408"/>
            <a:ext cx="204140" cy="914"/>
          </a:xfrm>
          <a:prstGeom prst="line">
            <a:avLst/>
          </a:prstGeom>
          <a:noFill/>
          <a:ln w="22225">
            <a:solidFill>
              <a:srgbClr val="64748B"/>
            </a:solidFill>
            <a:prstDash val="solid"/>
            <a:tailEnd type="triangle"/>
          </a:ln>
        </p:spPr>
      </p:sp>
      <p:sp>
        <p:nvSpPr>
          <p:cNvPr id="43" name="Shape 40"/>
          <p:cNvSpPr/>
          <p:nvPr/>
        </p:nvSpPr>
        <p:spPr>
          <a:xfrm>
            <a:off x="7360691" y="5166360"/>
            <a:ext cx="2011680" cy="777240"/>
          </a:xfrm>
          <a:prstGeom prst="roundRect">
            <a:avLst>
              <a:gd name="adj" fmla="val 14118"/>
            </a:avLst>
          </a:prstGeom>
          <a:solidFill>
            <a:srgbClr val="F8FAFC"/>
          </a:solidFill>
          <a:ln w="12700">
            <a:solidFill>
              <a:srgbClr val="E2E8F0"/>
            </a:solidFill>
            <a:prstDash val="solid"/>
          </a:ln>
        </p:spPr>
      </p:sp>
      <p:sp>
        <p:nvSpPr>
          <p:cNvPr id="44" name="Text 41"/>
          <p:cNvSpPr txBox="1"/>
          <p:nvPr/>
        </p:nvSpPr>
        <p:spPr>
          <a:xfrm>
            <a:off x="7497851" y="5230368"/>
            <a:ext cx="1737360" cy="320040"/>
          </a:xfrm>
          <a:prstGeom prst="rect">
            <a:avLst/>
          </a:prstGeom>
          <a:noFill/>
          <a:ln/>
        </p:spPr>
        <p:txBody>
          <a:bodyPr wrap="square" lIns="0" tIns="0" rIns="0" bIns="0" rtlCol="0" anchor="t"/>
          <a:lstStyle/>
          <a:p>
            <a:pPr indent="0" marL="0">
              <a:buNone/>
            </a:pPr>
            <a:r>
              <a:rPr lang="en-US" sz="1200" b="1" dirty="0">
                <a:solidFill>
                  <a:srgbClr val="0F172A"/>
                </a:solidFill>
                <a:latin typeface="Segoe UI" pitchFamily="34" charset="0"/>
                <a:ea typeface="Segoe UI" pitchFamily="34" charset="-122"/>
                <a:cs typeface="Segoe UI" pitchFamily="34" charset="-120"/>
              </a:rPr>
              <a:t>3 checks in parallel</a:t>
            </a:r>
            <a:endParaRPr lang="en-US" sz="1200" dirty="0"/>
          </a:p>
        </p:txBody>
      </p:sp>
      <p:sp>
        <p:nvSpPr>
          <p:cNvPr id="45" name="Text 42"/>
          <p:cNvSpPr txBox="1"/>
          <p:nvPr/>
        </p:nvSpPr>
        <p:spPr>
          <a:xfrm>
            <a:off x="7497851" y="5550408"/>
            <a:ext cx="1737360" cy="292608"/>
          </a:xfrm>
          <a:prstGeom prst="rect">
            <a:avLst/>
          </a:prstGeom>
          <a:noFill/>
          <a:ln/>
        </p:spPr>
        <p:txBody>
          <a:bodyPr wrap="square" lIns="0" tIns="0" rIns="0" bIns="0" rtlCol="0" anchor="t"/>
          <a:lstStyle/>
          <a:p>
            <a:pPr indent="0" marL="0">
              <a:buNone/>
            </a:pPr>
            <a:r>
              <a:rPr lang="en-US" sz="1200" b="1" dirty="0">
                <a:solidFill>
                  <a:srgbClr val="4F46E5"/>
                </a:solidFill>
                <a:latin typeface="Segoe UI" pitchFamily="34" charset="0"/>
                <a:ea typeface="Segoe UI" pitchFamily="34" charset="-122"/>
                <a:cs typeface="Segoe UI" pitchFamily="34" charset="-120"/>
              </a:rPr>
              <a:t>grounding, state, coach</a:t>
            </a:r>
            <a:endParaRPr lang="en-US" sz="1200" dirty="0"/>
          </a:p>
        </p:txBody>
      </p:sp>
      <p:sp>
        <p:nvSpPr>
          <p:cNvPr id="46" name="Shape 43"/>
          <p:cNvSpPr/>
          <p:nvPr/>
        </p:nvSpPr>
        <p:spPr>
          <a:xfrm>
            <a:off x="9399803" y="5550408"/>
            <a:ext cx="204140" cy="914"/>
          </a:xfrm>
          <a:prstGeom prst="line">
            <a:avLst/>
          </a:prstGeom>
          <a:noFill/>
          <a:ln w="22225">
            <a:solidFill>
              <a:srgbClr val="64748B"/>
            </a:solidFill>
            <a:prstDash val="solid"/>
            <a:tailEnd type="triangle"/>
          </a:ln>
        </p:spPr>
      </p:sp>
      <p:sp>
        <p:nvSpPr>
          <p:cNvPr id="47" name="Shape 44"/>
          <p:cNvSpPr/>
          <p:nvPr/>
        </p:nvSpPr>
        <p:spPr>
          <a:xfrm>
            <a:off x="9631375" y="5166360"/>
            <a:ext cx="2011680" cy="777240"/>
          </a:xfrm>
          <a:prstGeom prst="roundRect">
            <a:avLst>
              <a:gd name="adj" fmla="val 14118"/>
            </a:avLst>
          </a:prstGeom>
          <a:solidFill>
            <a:srgbClr val="4F46E5"/>
          </a:solidFill>
          <a:ln w="12700">
            <a:solidFill>
              <a:srgbClr val="4F46E5"/>
            </a:solidFill>
            <a:prstDash val="solid"/>
          </a:ln>
        </p:spPr>
      </p:sp>
      <p:sp>
        <p:nvSpPr>
          <p:cNvPr id="48" name="Text 45"/>
          <p:cNvSpPr txBox="1"/>
          <p:nvPr/>
        </p:nvSpPr>
        <p:spPr>
          <a:xfrm>
            <a:off x="9768535" y="5230368"/>
            <a:ext cx="1737360" cy="320040"/>
          </a:xfrm>
          <a:prstGeom prst="rect">
            <a:avLst/>
          </a:prstGeom>
          <a:noFill/>
          <a:ln/>
        </p:spPr>
        <p:txBody>
          <a:bodyPr wrap="square" lIns="0" tIns="0" rIns="0" bIns="0" rtlCol="0" anchor="t"/>
          <a:lstStyle/>
          <a:p>
            <a:pPr indent="0" marL="0">
              <a:buNone/>
            </a:pPr>
            <a:r>
              <a:rPr lang="en-US" sz="1200" b="1" dirty="0">
                <a:solidFill>
                  <a:srgbClr val="FFFFFF"/>
                </a:solidFill>
                <a:latin typeface="Segoe UI" pitchFamily="34" charset="0"/>
                <a:ea typeface="Segoe UI" pitchFamily="34" charset="-122"/>
                <a:cs typeface="Segoe UI" pitchFamily="34" charset="-120"/>
              </a:rPr>
              <a:t>Done</a:t>
            </a:r>
            <a:endParaRPr lang="en-US" sz="1200" dirty="0"/>
          </a:p>
        </p:txBody>
      </p:sp>
      <p:sp>
        <p:nvSpPr>
          <p:cNvPr id="49" name="Text 46"/>
          <p:cNvSpPr txBox="1"/>
          <p:nvPr/>
        </p:nvSpPr>
        <p:spPr>
          <a:xfrm>
            <a:off x="9768535" y="5550408"/>
            <a:ext cx="1737360" cy="292608"/>
          </a:xfrm>
          <a:prstGeom prst="rect">
            <a:avLst/>
          </a:prstGeom>
          <a:noFill/>
          <a:ln/>
        </p:spPr>
        <p:txBody>
          <a:bodyPr wrap="square" lIns="0" tIns="0" rIns="0" bIns="0" rtlCol="0" anchor="t"/>
          <a:lstStyle/>
          <a:p>
            <a:pPr indent="0" marL="0">
              <a:buNone/>
            </a:pPr>
            <a:r>
              <a:rPr lang="en-US" sz="1200" b="1" dirty="0">
                <a:solidFill>
                  <a:srgbClr val="E0E7FF"/>
                </a:solidFill>
                <a:latin typeface="Segoe UI" pitchFamily="34" charset="0"/>
                <a:ea typeface="Segoe UI" pitchFamily="34" charset="-122"/>
                <a:cs typeface="Segoe UI" pitchFamily="34" charset="-120"/>
              </a:rPr>
              <a:t>full turn ~5 s</a:t>
            </a:r>
            <a:endParaRPr lang="en-US" sz="1200" dirty="0"/>
          </a:p>
        </p:txBody>
      </p:sp>
      <p:sp>
        <p:nvSpPr>
          <p:cNvPr id="50" name="Text 47"/>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rgbClr val="64748B"/>
                </a:solidFill>
                <a:latin typeface="Segoe UI" pitchFamily="34" charset="0"/>
                <a:ea typeface="Segoe UI" pitchFamily="34" charset="-122"/>
                <a:cs typeface="Segoe UI" pitchFamily="34" charset="-120"/>
              </a:rPr>
              <a:t>Data at rest and embeddings: asia-east1. Gemini generation: Vertex AI global endpoint [S27].</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lstStyle/>
          <a:p>
            <a:pPr indent="0" marL="0">
              <a:buNone/>
            </a:pPr>
            <a:r>
              <a:rPr lang="en-US" sz="1300" b="1" spc="100" kern="0" dirty="0">
                <a:solidFill>
                  <a:srgbClr val="4F46E5"/>
                </a:solidFill>
                <a:latin typeface="Segoe UI" pitchFamily="34" charset="0"/>
                <a:ea typeface="Segoe UI" pitchFamily="34" charset="-122"/>
                <a:cs typeface="Segoe UI" pitchFamily="34" charset="-120"/>
              </a:rPr>
              <a:t>HOW GEMINI IS USED</a:t>
            </a:r>
            <a:endParaRPr lang="en-US" sz="1300" dirty="0"/>
          </a:p>
        </p:txBody>
      </p:sp>
      <p:sp>
        <p:nvSpPr>
          <p:cNvPr id="3" name="Text 1"/>
          <p:cNvSpPr/>
          <p:nvPr>
            <p:ph idx="102" type="title" hasCustomPrompt="1"/>
          </p:nvPr>
        </p:nvSpPr>
        <p:spPr>
          <a:xfrm>
            <a:off x="548640" y="694944"/>
            <a:ext cx="11094415" cy="914400"/>
          </a:xfrm>
          <a:prstGeom prst="rect">
            <a:avLst/>
          </a:prstGeom>
          <a:noFill/>
          <a:ln/>
        </p:spPr>
        <p:txBody>
          <a:bodyPr wrap="square" lIns="0" tIns="0" rIns="0" bIns="0" rtlCol="0" anchor="t"/>
          <a:lstStyle/>
          <a:p>
            <a:pPr algn="l" indent="0" marL="0">
              <a:buNone/>
            </a:pPr>
            <a:r>
              <a:rPr lang="en-US" sz="2800" b="1" dirty="0">
                <a:solidFill>
                  <a:srgbClr val="0F172A"/>
                </a:solidFill>
                <a:latin typeface="Segoe UI" pitchFamily="34" charset="0"/>
                <a:ea typeface="Segoe UI" pitchFamily="34" charset="-122"/>
                <a:cs typeface="Segoe UI" pitchFamily="34" charset="-120"/>
              </a:rPr>
              <a:t>Seven Gemini agent roles, each with its own model, schema and guardrail</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011680"/>
                <a:gridCol w="2148840"/>
                <a:gridCol w="2743200"/>
                <a:gridCol w="4190695"/>
              </a:tblGrid>
              <a:tr h="310896">
                <a:tc>
                  <a:txBody>
                    <a:bodyPr/>
                    <a:lstStyle/>
                    <a:p>
                      <a:pPr indent="0" marL="0">
                        <a:buNone/>
                      </a:pPr>
                      <a:r>
                        <a:rPr lang="en-US" sz="1200" b="1" dirty="0">
                          <a:solidFill>
                            <a:srgbClr val="FFFFFF"/>
                          </a:solidFill>
                          <a:latin typeface="Segoe UI" pitchFamily="34" charset="0"/>
                          <a:ea typeface="Segoe UI" pitchFamily="34" charset="-122"/>
                          <a:cs typeface="Segoe UI" pitchFamily="34" charset="-120"/>
                        </a:rPr>
                        <a:t>Agent</a:t>
                      </a:r>
                      <a:endParaRPr lang="en-US" sz="12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Segoe UI" pitchFamily="34" charset="0"/>
                          <a:ea typeface="Segoe UI" pitchFamily="34" charset="-122"/>
                          <a:cs typeface="Segoe UI" pitchFamily="34" charset="-120"/>
                        </a:rPr>
                        <a:t>Model</a:t>
                      </a:r>
                      <a:endParaRPr lang="en-US" sz="12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Segoe UI" pitchFamily="34" charset="0"/>
                          <a:ea typeface="Segoe UI" pitchFamily="34" charset="-122"/>
                          <a:cs typeface="Segoe UI" pitchFamily="34" charset="-120"/>
                        </a:rPr>
                        <a:t>How</a:t>
                      </a:r>
                      <a:endParaRPr lang="en-US" sz="12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Segoe UI" pitchFamily="34" charset="0"/>
                          <a:ea typeface="Segoe UI" pitchFamily="34" charset="-122"/>
                          <a:cs typeface="Segoe UI" pitchFamily="34" charset="-120"/>
                        </a:rPr>
                        <a:t>Guardrail</a:t>
                      </a:r>
                      <a:endParaRPr lang="en-US" sz="12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457200">
                <a:tc>
                  <a:txBody>
                    <a:bodyPr/>
                    <a:lstStyle/>
                    <a:p>
                      <a:pPr indent="0" marL="0">
                        <a:buNone/>
                      </a:pPr>
                      <a:r>
                        <a:rPr lang="en-US" sz="1100" b="1" dirty="0">
                          <a:solidFill>
                            <a:srgbClr val="0F172A"/>
                          </a:solidFill>
                          <a:latin typeface="Segoe UI" pitchFamily="34" charset="0"/>
                          <a:ea typeface="Segoe UI" pitchFamily="34" charset="-122"/>
                          <a:cs typeface="Segoe UI" pitchFamily="34" charset="-120"/>
                        </a:rPr>
                        <a:t>Persona &amp; scenario builder</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b="1" dirty="0">
                          <a:solidFill>
                            <a:srgbClr val="4F46E5"/>
                          </a:solidFill>
                          <a:latin typeface="Segoe UI" pitchFamily="34" charset="0"/>
                          <a:ea typeface="Segoe UI" pitchFamily="34" charset="-122"/>
                          <a:cs typeface="Segoe UI" pitchFamily="34" charset="-120"/>
                        </a:rPr>
                        <a:t>Gemini 4 Argon</a:t>
                      </a:r>
                      <a:endParaRPr lang="en-US" sz="1100" dirty="0">
                        <a:latin typeface="Segoe UI" charset="0"/>
                        <a:ea typeface="Segoe UI" charset="0"/>
                        <a:cs typeface="Segoe UI" charset="0"/>
                      </a:endParaRPr>
                    </a:p>
                    <a:p>
                      <a:pPr indent="0" marL="0">
                        <a:buNone/>
                      </a:pPr>
                      <a:r>
                        <a:rPr lang="en-US" sz="1000" dirty="0">
                          <a:solidFill>
                            <a:srgbClr val="64748B"/>
                          </a:solidFill>
                          <a:latin typeface="Segoe UI" pitchFamily="34" charset="0"/>
                          <a:ea typeface="Segoe UI" pitchFamily="34" charset="-122"/>
                          <a:cs typeface="Segoe UI" pitchFamily="34" charset="-120"/>
                        </a:rPr>
                        <a:t>gemini-4-argon → 3.8-flash</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dirty="0">
                          <a:solidFill>
                            <a:srgbClr val="334155"/>
                          </a:solidFill>
                          <a:latin typeface="Segoe UI" pitchFamily="34" charset="0"/>
                          <a:ea typeface="Segoe UI" pitchFamily="34" charset="-122"/>
                          <a:cs typeface="Segoe UI" pitchFamily="34" charset="-120"/>
                        </a:rPr>
                        <a:t>Structured output (Pydantic JSON schema); segments planned, then personas expanded in parallel</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dirty="0">
                          <a:solidFill>
                            <a:srgbClr val="334155"/>
                          </a:solidFill>
                          <a:latin typeface="Segoe UI" pitchFamily="34" charset="0"/>
                          <a:ea typeface="Segoe UI" pitchFamily="34" charset="-122"/>
                          <a:cs typeface="Segoe UI" pitchFamily="34" charset="-120"/>
                        </a:rPr>
                        <a:t>Each citation quote must appear verbatim in the cited chunk, or it is dropped; drafts need human approval</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57200">
                <a:tc>
                  <a:txBody>
                    <a:bodyPr/>
                    <a:lstStyle/>
                    <a:p>
                      <a:pPr indent="0" marL="0">
                        <a:buNone/>
                      </a:pPr>
                      <a:r>
                        <a:rPr lang="en-US" sz="1100" b="1" dirty="0">
                          <a:solidFill>
                            <a:srgbClr val="0F172A"/>
                          </a:solidFill>
                          <a:latin typeface="Segoe UI" pitchFamily="34" charset="0"/>
                          <a:ea typeface="Segoe UI" pitchFamily="34" charset="-122"/>
                          <a:cs typeface="Segoe UI" pitchFamily="34" charset="-120"/>
                        </a:rPr>
                        <a:t>Compliance Guard (/precheck)</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0284C7"/>
                          </a:solidFill>
                          <a:latin typeface="Segoe UI" pitchFamily="34" charset="0"/>
                          <a:ea typeface="Segoe UI" pitchFamily="34" charset="-122"/>
                          <a:cs typeface="Segoe UI" pitchFamily="34" charset="-120"/>
                        </a:rPr>
                        <a:t>Flash-Lite</a:t>
                      </a:r>
                      <a:endParaRPr lang="en-US" sz="1100" dirty="0">
                        <a:latin typeface="Segoe UI" charset="0"/>
                        <a:ea typeface="Segoe UI" charset="0"/>
                        <a:cs typeface="Segoe UI" charset="0"/>
                      </a:endParaRPr>
                    </a:p>
                    <a:p>
                      <a:pPr indent="0" marL="0">
                        <a:buNone/>
                      </a:pPr>
                      <a:r>
                        <a:rPr lang="en-US" sz="1000" dirty="0">
                          <a:solidFill>
                            <a:srgbClr val="64748B"/>
                          </a:solidFill>
                          <a:latin typeface="Segoe UI" pitchFamily="34" charset="0"/>
                          <a:ea typeface="Segoe UI" pitchFamily="34" charset="-122"/>
                          <a:cs typeface="Segoe UI" pitchFamily="34" charset="-120"/>
                        </a:rPr>
                        <a:t>gemini-3.5-flash-lite</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Segoe UI" pitchFamily="34" charset="0"/>
                          <a:ea typeface="Segoe UI" pitchFamily="34" charset="-122"/>
                          <a:cs typeface="Segoe UI" pitchFamily="34" charset="-120"/>
                        </a:rPr>
                        <a:t>Keyword pass plus structured JSON judge, about 1 s</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Segoe UI" pitchFamily="34" charset="0"/>
                          <a:ea typeface="Segoe UI" pitchFamily="34" charset="-122"/>
                          <a:cs typeface="Segoe UI" pitchFamily="34" charset="-120"/>
                        </a:rPr>
                        <a:t>Flag quote must be an exact span of the trainee's message</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0F172A"/>
                          </a:solidFill>
                          <a:latin typeface="Segoe UI" pitchFamily="34" charset="0"/>
                          <a:ea typeface="Segoe UI" pitchFamily="34" charset="-122"/>
                          <a:cs typeface="Segoe UI" pitchFamily="34" charset="-120"/>
                        </a:rPr>
                        <a:t>Customer persona</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b="1" dirty="0">
                          <a:solidFill>
                            <a:srgbClr val="4F46E5"/>
                          </a:solidFill>
                          <a:latin typeface="Segoe UI" pitchFamily="34" charset="0"/>
                          <a:ea typeface="Segoe UI" pitchFamily="34" charset="-122"/>
                          <a:cs typeface="Segoe UI" pitchFamily="34" charset="-120"/>
                        </a:rPr>
                        <a:t>Gemini 4 Argon</a:t>
                      </a:r>
                      <a:endParaRPr lang="en-US" sz="1100" dirty="0">
                        <a:latin typeface="Segoe UI" charset="0"/>
                        <a:ea typeface="Segoe UI" charset="0"/>
                        <a:cs typeface="Segoe UI" charset="0"/>
                      </a:endParaRPr>
                    </a:p>
                    <a:p>
                      <a:pPr indent="0" marL="0">
                        <a:buNone/>
                      </a:pPr>
                      <a:r>
                        <a:rPr lang="en-US" sz="1000" dirty="0">
                          <a:solidFill>
                            <a:srgbClr val="64748B"/>
                          </a:solidFill>
                          <a:latin typeface="Segoe UI" pitchFamily="34" charset="0"/>
                          <a:ea typeface="Segoe UI" pitchFamily="34" charset="-122"/>
                          <a:cs typeface="Segoe UI" pitchFamily="34" charset="-120"/>
                        </a:rPr>
                        <a:t>gemini-4-argon → 3.8-flash</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dirty="0">
                          <a:solidFill>
                            <a:srgbClr val="334155"/>
                          </a:solidFill>
                          <a:latin typeface="Segoe UI" pitchFamily="34" charset="0"/>
                          <a:ea typeface="Segoe UI" pitchFamily="34" charset="-122"/>
                          <a:cs typeface="Segoe UI" pitchFamily="34" charset="-120"/>
                        </a:rPr>
                        <a:t>Streamed text over SSE</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dirty="0">
                          <a:solidFill>
                            <a:srgbClr val="334155"/>
                          </a:solidFill>
                          <a:latin typeface="Segoe UI" pitchFamily="34" charset="0"/>
                          <a:ea typeface="Segoe UI" pitchFamily="34" charset="-122"/>
                          <a:cs typeface="Segoe UI" pitchFamily="34" charset="-120"/>
                        </a:rPr>
                        <a:t>Hidden needs withheld until trust is earned; only knowledge-base facts allowed</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20624">
                <a:tc>
                  <a:txBody>
                    <a:bodyPr/>
                    <a:lstStyle/>
                    <a:p>
                      <a:pPr indent="0" marL="0">
                        <a:buNone/>
                      </a:pPr>
                      <a:r>
                        <a:rPr lang="en-US" sz="1100" b="1" dirty="0">
                          <a:solidFill>
                            <a:srgbClr val="0F172A"/>
                          </a:solidFill>
                          <a:latin typeface="Segoe UI" pitchFamily="34" charset="0"/>
                          <a:ea typeface="Segoe UI" pitchFamily="34" charset="-122"/>
                          <a:cs typeface="Segoe UI" pitchFamily="34" charset="-120"/>
                        </a:rPr>
                        <a:t>Grounding post-check</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0284C7"/>
                          </a:solidFill>
                          <a:latin typeface="Segoe UI" pitchFamily="34" charset="0"/>
                          <a:ea typeface="Segoe UI" pitchFamily="34" charset="-122"/>
                          <a:cs typeface="Segoe UI" pitchFamily="34" charset="-120"/>
                        </a:rPr>
                        <a:t>Flash-Lite</a:t>
                      </a:r>
                      <a:endParaRPr lang="en-US" sz="1100" dirty="0">
                        <a:latin typeface="Segoe UI" charset="0"/>
                        <a:ea typeface="Segoe UI" charset="0"/>
                        <a:cs typeface="Segoe UI" charset="0"/>
                      </a:endParaRPr>
                    </a:p>
                    <a:p>
                      <a:pPr indent="0" marL="0">
                        <a:buNone/>
                      </a:pPr>
                      <a:r>
                        <a:rPr lang="en-US" sz="1000" dirty="0">
                          <a:solidFill>
                            <a:srgbClr val="64748B"/>
                          </a:solidFill>
                          <a:latin typeface="Segoe UI" pitchFamily="34" charset="0"/>
                          <a:ea typeface="Segoe UI" pitchFamily="34" charset="-122"/>
                          <a:cs typeface="Segoe UI" pitchFamily="34" charset="-120"/>
                        </a:rPr>
                        <a:t>gemini-3.5-flash-lite</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Segoe UI" pitchFamily="34" charset="0"/>
                          <a:ea typeface="Segoe UI" pitchFamily="34" charset="-122"/>
                          <a:cs typeface="Segoe UI" pitchFamily="34" charset="-120"/>
                        </a:rPr>
                        <a:t>Structured JSON, in parallel with state and coach</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Segoe UI" pitchFamily="34" charset="0"/>
                          <a:ea typeface="Segoe UI" pitchFamily="34" charset="-122"/>
                          <a:cs typeface="Segoe UI" pitchFamily="34" charset="-120"/>
                        </a:rPr>
                        <a:t>Flags product claims the retrieved passages don't support</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0F172A"/>
                          </a:solidFill>
                          <a:latin typeface="Segoe UI" pitchFamily="34" charset="0"/>
                          <a:ea typeface="Segoe UI" pitchFamily="34" charset="-122"/>
                          <a:cs typeface="Segoe UI" pitchFamily="34" charset="-120"/>
                        </a:rPr>
                        <a:t>State (trust / patience)</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b="1" dirty="0">
                          <a:solidFill>
                            <a:srgbClr val="0284C7"/>
                          </a:solidFill>
                          <a:latin typeface="Segoe UI" pitchFamily="34" charset="0"/>
                          <a:ea typeface="Segoe UI" pitchFamily="34" charset="-122"/>
                          <a:cs typeface="Segoe UI" pitchFamily="34" charset="-120"/>
                        </a:rPr>
                        <a:t>Flash-Lite</a:t>
                      </a:r>
                      <a:endParaRPr lang="en-US" sz="1100" dirty="0">
                        <a:latin typeface="Segoe UI" charset="0"/>
                        <a:ea typeface="Segoe UI" charset="0"/>
                        <a:cs typeface="Segoe UI" charset="0"/>
                      </a:endParaRPr>
                    </a:p>
                    <a:p>
                      <a:pPr indent="0" marL="0">
                        <a:buNone/>
                      </a:pPr>
                      <a:r>
                        <a:rPr lang="en-US" sz="1000" dirty="0">
                          <a:solidFill>
                            <a:srgbClr val="64748B"/>
                          </a:solidFill>
                          <a:latin typeface="Segoe UI" pitchFamily="34" charset="0"/>
                          <a:ea typeface="Segoe UI" pitchFamily="34" charset="-122"/>
                          <a:cs typeface="Segoe UI" pitchFamily="34" charset="-120"/>
                        </a:rPr>
                        <a:t>gemini-3.5-flash-lite</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dirty="0">
                          <a:solidFill>
                            <a:srgbClr val="334155"/>
                          </a:solidFill>
                          <a:latin typeface="Segoe UI" pitchFamily="34" charset="0"/>
                          <a:ea typeface="Segoe UI" pitchFamily="34" charset="-122"/>
                          <a:cs typeface="Segoe UI" pitchFamily="34" charset="-120"/>
                        </a:rPr>
                        <a:t>Structured JSON</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dirty="0">
                          <a:solidFill>
                            <a:srgbClr val="334155"/>
                          </a:solidFill>
                          <a:latin typeface="Segoe UI" pitchFamily="34" charset="0"/>
                          <a:ea typeface="Segoe UI" pitchFamily="34" charset="-122"/>
                          <a:cs typeface="Segoe UI" pitchFamily="34" charset="-120"/>
                        </a:rPr>
                        <a:t>Deltas clamped; a high-severity violation always costs trust</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20624">
                <a:tc>
                  <a:txBody>
                    <a:bodyPr/>
                    <a:lstStyle/>
                    <a:p>
                      <a:pPr indent="0" marL="0">
                        <a:buNone/>
                      </a:pPr>
                      <a:r>
                        <a:rPr lang="en-US" sz="1100" b="1" dirty="0">
                          <a:solidFill>
                            <a:srgbClr val="0F172A"/>
                          </a:solidFill>
                          <a:latin typeface="Segoe UI" pitchFamily="34" charset="0"/>
                          <a:ea typeface="Segoe UI" pitchFamily="34" charset="-122"/>
                          <a:cs typeface="Segoe UI" pitchFamily="34" charset="-120"/>
                        </a:rPr>
                        <a:t>Coach</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0284C7"/>
                          </a:solidFill>
                          <a:latin typeface="Segoe UI" pitchFamily="34" charset="0"/>
                          <a:ea typeface="Segoe UI" pitchFamily="34" charset="-122"/>
                          <a:cs typeface="Segoe UI" pitchFamily="34" charset="-120"/>
                        </a:rPr>
                        <a:t>Flash-Lite</a:t>
                      </a:r>
                      <a:endParaRPr lang="en-US" sz="1100" dirty="0">
                        <a:latin typeface="Segoe UI" charset="0"/>
                        <a:ea typeface="Segoe UI" charset="0"/>
                        <a:cs typeface="Segoe UI" charset="0"/>
                      </a:endParaRPr>
                    </a:p>
                    <a:p>
                      <a:pPr indent="0" marL="0">
                        <a:buNone/>
                      </a:pPr>
                      <a:r>
                        <a:rPr lang="en-US" sz="1000" dirty="0">
                          <a:solidFill>
                            <a:srgbClr val="64748B"/>
                          </a:solidFill>
                          <a:latin typeface="Segoe UI" pitchFamily="34" charset="0"/>
                          <a:ea typeface="Segoe UI" pitchFamily="34" charset="-122"/>
                          <a:cs typeface="Segoe UI" pitchFamily="34" charset="-120"/>
                        </a:rPr>
                        <a:t>gemini-3.5-flash-lite</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Segoe UI" pitchFamily="34" charset="0"/>
                          <a:ea typeface="Segoe UI" pitchFamily="34" charset="-122"/>
                          <a:cs typeface="Segoe UI" pitchFamily="34" charset="-120"/>
                        </a:rPr>
                        <a:t>Structured JSON with KB citations</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Segoe UI" pitchFamily="34" charset="0"/>
                          <a:ea typeface="Segoe UI" pitchFamily="34" charset="-122"/>
                          <a:cs typeface="Segoe UI" pitchFamily="34" charset="-120"/>
                        </a:rPr>
                        <a:t>One sentence, grounded in the playbook</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F172A"/>
                          </a:solidFill>
                          <a:latin typeface="Segoe UI" pitchFamily="34" charset="0"/>
                          <a:ea typeface="Segoe UI" pitchFamily="34" charset="-122"/>
                          <a:cs typeface="Segoe UI" pitchFamily="34" charset="-120"/>
                        </a:rPr>
                        <a:t>Report scorer</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b="1" dirty="0">
                          <a:solidFill>
                            <a:srgbClr val="4F46E5"/>
                          </a:solidFill>
                          <a:latin typeface="Segoe UI" pitchFamily="34" charset="0"/>
                          <a:ea typeface="Segoe UI" pitchFamily="34" charset="-122"/>
                          <a:cs typeface="Segoe UI" pitchFamily="34" charset="-120"/>
                        </a:rPr>
                        <a:t>Gemini 4 Argon</a:t>
                      </a:r>
                      <a:endParaRPr lang="en-US" sz="1100" dirty="0">
                        <a:latin typeface="Segoe UI" charset="0"/>
                        <a:ea typeface="Segoe UI" charset="0"/>
                        <a:cs typeface="Segoe UI" charset="0"/>
                      </a:endParaRPr>
                    </a:p>
                    <a:p>
                      <a:pPr indent="0" marL="0">
                        <a:buNone/>
                      </a:pPr>
                      <a:r>
                        <a:rPr lang="en-US" sz="1000" dirty="0">
                          <a:solidFill>
                            <a:srgbClr val="64748B"/>
                          </a:solidFill>
                          <a:latin typeface="Segoe UI" pitchFamily="34" charset="0"/>
                          <a:ea typeface="Segoe UI" pitchFamily="34" charset="-122"/>
                          <a:cs typeface="Segoe UI" pitchFamily="34" charset="-120"/>
                        </a:rPr>
                        <a:t>gemini-4-argon → 3.1-pro → 2.5-pro</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dirty="0">
                          <a:solidFill>
                            <a:srgbClr val="334155"/>
                          </a:solidFill>
                          <a:latin typeface="Segoe UI" pitchFamily="34" charset="0"/>
                          <a:ea typeface="Segoe UI" pitchFamily="34" charset="-122"/>
                          <a:cs typeface="Segoe UI" pitchFamily="34" charset="-120"/>
                        </a:rPr>
                        <a:t>Long-context structured output, ~6 s</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dirty="0">
                          <a:solidFill>
                            <a:srgbClr val="334155"/>
                          </a:solidFill>
                          <a:latin typeface="Segoe UI" pitchFamily="34" charset="0"/>
                          <a:ea typeface="Segoe UI" pitchFamily="34" charset="-122"/>
                          <a:cs typeface="Segoe UI" pitchFamily="34" charset="-120"/>
                        </a:rPr>
                        <a:t>Evidence must be a verbatim transcript quote, else the dimension caps at 50; a high-severity violation caps the score at 59</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
        <p:nvSpPr>
          <p:cNvPr id="6" name="Shape 2"/>
          <p:cNvSpPr/>
          <p:nvPr/>
        </p:nvSpPr>
        <p:spPr>
          <a:xfrm>
            <a:off x="4967935" y="429768"/>
            <a:ext cx="146304" cy="146304"/>
          </a:xfrm>
          <a:prstGeom prst="rect">
            <a:avLst/>
          </a:prstGeom>
          <a:solidFill>
            <a:srgbClr val="4F46E5"/>
          </a:solidFill>
          <a:ln w="12700">
            <a:solidFill>
              <a:srgbClr val="4F46E5"/>
            </a:solidFill>
            <a:prstDash val="solid"/>
          </a:ln>
        </p:spPr>
      </p:sp>
      <p:sp>
        <p:nvSpPr>
          <p:cNvPr id="7" name="Text 3"/>
          <p:cNvSpPr txBox="1"/>
          <p:nvPr/>
        </p:nvSpPr>
        <p:spPr>
          <a:xfrm>
            <a:off x="5187391" y="374904"/>
            <a:ext cx="1920240" cy="256032"/>
          </a:xfrm>
          <a:prstGeom prst="rect">
            <a:avLst/>
          </a:prstGeom>
          <a:noFill/>
          <a:ln/>
        </p:spPr>
        <p:txBody>
          <a:bodyPr wrap="square" lIns="0" tIns="0" rIns="0" bIns="0" rtlCol="0" anchor="t"/>
          <a:lstStyle/>
          <a:p>
            <a:pPr indent="0" marL="0">
              <a:buNone/>
            </a:pPr>
            <a:r>
              <a:rPr lang="en-US" sz="1100" b="1" dirty="0">
                <a:solidFill>
                  <a:srgbClr val="4F46E5"/>
                </a:solidFill>
                <a:latin typeface="Segoe UI" pitchFamily="34" charset="0"/>
                <a:ea typeface="Segoe UI" pitchFamily="34" charset="-122"/>
                <a:cs typeface="Segoe UI" pitchFamily="34" charset="-120"/>
              </a:rPr>
              <a:t>Gemini 4 Argon</a:t>
            </a:r>
            <a:endParaRPr lang="en-US" sz="1100" dirty="0"/>
          </a:p>
        </p:txBody>
      </p:sp>
      <p:sp>
        <p:nvSpPr>
          <p:cNvPr id="8" name="Shape 4"/>
          <p:cNvSpPr/>
          <p:nvPr/>
        </p:nvSpPr>
        <p:spPr>
          <a:xfrm>
            <a:off x="7116775" y="429768"/>
            <a:ext cx="146304" cy="146304"/>
          </a:xfrm>
          <a:prstGeom prst="rect">
            <a:avLst/>
          </a:prstGeom>
          <a:solidFill>
            <a:srgbClr val="0284C7"/>
          </a:solidFill>
          <a:ln w="12700">
            <a:solidFill>
              <a:srgbClr val="0284C7"/>
            </a:solidFill>
            <a:prstDash val="solid"/>
          </a:ln>
        </p:spPr>
      </p:sp>
      <p:sp>
        <p:nvSpPr>
          <p:cNvPr id="9" name="Text 5"/>
          <p:cNvSpPr txBox="1"/>
          <p:nvPr/>
        </p:nvSpPr>
        <p:spPr>
          <a:xfrm>
            <a:off x="7336231" y="374904"/>
            <a:ext cx="1920240" cy="256032"/>
          </a:xfrm>
          <a:prstGeom prst="rect">
            <a:avLst/>
          </a:prstGeom>
          <a:noFill/>
          <a:ln/>
        </p:spPr>
        <p:txBody>
          <a:bodyPr wrap="square" lIns="0" tIns="0" rIns="0" bIns="0" rtlCol="0" anchor="t"/>
          <a:lstStyle/>
          <a:p>
            <a:pPr indent="0" marL="0">
              <a:buNone/>
            </a:pPr>
            <a:r>
              <a:rPr lang="en-US" sz="1100" b="1" dirty="0">
                <a:solidFill>
                  <a:srgbClr val="0284C7"/>
                </a:solidFill>
                <a:latin typeface="Segoe UI" pitchFamily="34" charset="0"/>
                <a:ea typeface="Segoe UI" pitchFamily="34" charset="-122"/>
                <a:cs typeface="Segoe UI" pitchFamily="34" charset="-120"/>
              </a:rPr>
              <a:t>Gemini 3.5 Flash-Lite</a:t>
            </a:r>
            <a:endParaRPr lang="en-US" sz="1100" dirty="0"/>
          </a:p>
        </p:txBody>
      </p:sp>
      <p:sp>
        <p:nvSpPr>
          <p:cNvPr id="10" name="Text 6"/>
          <p:cNvSpPr txBox="1"/>
          <p:nvPr/>
        </p:nvSpPr>
        <p:spPr>
          <a:xfrm>
            <a:off x="9265615" y="374904"/>
            <a:ext cx="2377440" cy="256032"/>
          </a:xfrm>
          <a:prstGeom prst="rect">
            <a:avLst/>
          </a:prstGeom>
          <a:noFill/>
          <a:ln/>
        </p:spPr>
        <p:txBody>
          <a:bodyPr wrap="square" lIns="0" tIns="0" rIns="0" bIns="0" rtlCol="0" anchor="t"/>
          <a:lstStyle/>
          <a:p>
            <a:pPr algn="r" indent="0" marL="0">
              <a:buNone/>
            </a:pPr>
            <a:r>
              <a:rPr lang="en-US" sz="1100" dirty="0">
                <a:solidFill>
                  <a:srgbClr val="64748B"/>
                </a:solidFill>
                <a:latin typeface="Segoe UI" pitchFamily="34" charset="0"/>
                <a:ea typeface="Segoe UI" pitchFamily="34" charset="-122"/>
                <a:cs typeface="Segoe UI" pitchFamily="34" charset="-120"/>
              </a:rPr>
              <a:t>→ = automatic fallback order</a:t>
            </a:r>
            <a:endParaRPr lang="en-US" sz="1100" dirty="0"/>
          </a:p>
        </p:txBody>
      </p:sp>
      <p:sp>
        <p:nvSpPr>
          <p:cNvPr id="11" name="Shape 7"/>
          <p:cNvSpPr/>
          <p:nvPr/>
        </p:nvSpPr>
        <p:spPr>
          <a:xfrm>
            <a:off x="548640" y="5650992"/>
            <a:ext cx="3515258" cy="640080"/>
          </a:xfrm>
          <a:prstGeom prst="roundRect">
            <a:avLst>
              <a:gd name="adj" fmla="val 17143"/>
            </a:avLst>
          </a:prstGeom>
          <a:solidFill>
            <a:srgbClr val="EEF2FF"/>
          </a:solidFill>
          <a:ln w="12700">
            <a:solidFill>
              <a:srgbClr val="EEF2FF"/>
            </a:solidFill>
            <a:prstDash val="solid"/>
          </a:ln>
        </p:spPr>
      </p:sp>
      <p:sp>
        <p:nvSpPr>
          <p:cNvPr id="12" name="Text 8"/>
          <p:cNvSpPr txBox="1"/>
          <p:nvPr/>
        </p:nvSpPr>
        <p:spPr>
          <a:xfrm>
            <a:off x="731520" y="5696712"/>
            <a:ext cx="3149498" cy="256032"/>
          </a:xfrm>
          <a:prstGeom prst="rect">
            <a:avLst/>
          </a:prstGeom>
          <a:noFill/>
          <a:ln/>
        </p:spPr>
        <p:txBody>
          <a:bodyPr wrap="square" lIns="0" tIns="0" rIns="0" bIns="0" rtlCol="0" anchor="t"/>
          <a:lstStyle/>
          <a:p>
            <a:pPr indent="0" marL="0">
              <a:buNone/>
            </a:pPr>
            <a:r>
              <a:rPr lang="en-US" sz="1200" b="1" dirty="0">
                <a:solidFill>
                  <a:srgbClr val="4F46E5"/>
                </a:solidFill>
                <a:latin typeface="Segoe UI" pitchFamily="34" charset="0"/>
                <a:ea typeface="Segoe UI" pitchFamily="34" charset="-122"/>
                <a:cs typeface="Segoe UI" pitchFamily="34" charset="-120"/>
              </a:rPr>
              <a:t>Right model for the job</a:t>
            </a:r>
            <a:endParaRPr lang="en-US" sz="1200" dirty="0"/>
          </a:p>
        </p:txBody>
      </p:sp>
      <p:sp>
        <p:nvSpPr>
          <p:cNvPr id="13" name="Text 9"/>
          <p:cNvSpPr txBox="1"/>
          <p:nvPr/>
        </p:nvSpPr>
        <p:spPr>
          <a:xfrm>
            <a:off x="731520" y="5943600"/>
            <a:ext cx="3149498" cy="292608"/>
          </a:xfrm>
          <a:prstGeom prst="rect">
            <a:avLst/>
          </a:prstGeom>
          <a:noFill/>
          <a:ln/>
        </p:spPr>
        <p:txBody>
          <a:bodyPr wrap="square" lIns="0" tIns="0" rIns="0" bIns="0" rtlCol="0" anchor="t"/>
          <a:lstStyle/>
          <a:p>
            <a:pPr indent="0" marL="0">
              <a:buNone/>
            </a:pPr>
            <a:r>
              <a:rPr lang="en-US" sz="1100" dirty="0">
                <a:solidFill>
                  <a:srgbClr val="334155"/>
                </a:solidFill>
                <a:latin typeface="Segoe UI" pitchFamily="34" charset="0"/>
                <a:ea typeface="Segoe UI" pitchFamily="34" charset="-122"/>
                <a:cs typeface="Segoe UI" pitchFamily="34" charset="-120"/>
              </a:rPr>
              <a:t>Argon for quality; Flash-Lite for ~1 s checks</a:t>
            </a:r>
            <a:endParaRPr lang="en-US" sz="1100" dirty="0"/>
          </a:p>
        </p:txBody>
      </p:sp>
      <p:sp>
        <p:nvSpPr>
          <p:cNvPr id="14" name="Shape 10"/>
          <p:cNvSpPr/>
          <p:nvPr/>
        </p:nvSpPr>
        <p:spPr>
          <a:xfrm>
            <a:off x="4338218" y="5650992"/>
            <a:ext cx="3515258" cy="640080"/>
          </a:xfrm>
          <a:prstGeom prst="roundRect">
            <a:avLst>
              <a:gd name="adj" fmla="val 17143"/>
            </a:avLst>
          </a:prstGeom>
          <a:solidFill>
            <a:srgbClr val="EEF2FF"/>
          </a:solidFill>
          <a:ln w="12700">
            <a:solidFill>
              <a:srgbClr val="EEF2FF"/>
            </a:solidFill>
            <a:prstDash val="solid"/>
          </a:ln>
        </p:spPr>
      </p:sp>
      <p:sp>
        <p:nvSpPr>
          <p:cNvPr id="15" name="Text 11"/>
          <p:cNvSpPr txBox="1"/>
          <p:nvPr/>
        </p:nvSpPr>
        <p:spPr>
          <a:xfrm>
            <a:off x="4521098" y="5696712"/>
            <a:ext cx="3149498" cy="256032"/>
          </a:xfrm>
          <a:prstGeom prst="rect">
            <a:avLst/>
          </a:prstGeom>
          <a:noFill/>
          <a:ln/>
        </p:spPr>
        <p:txBody>
          <a:bodyPr wrap="square" lIns="0" tIns="0" rIns="0" bIns="0" rtlCol="0" anchor="t"/>
          <a:lstStyle/>
          <a:p>
            <a:pPr indent="0" marL="0">
              <a:buNone/>
            </a:pPr>
            <a:r>
              <a:rPr lang="en-US" sz="1200" b="1" dirty="0">
                <a:solidFill>
                  <a:srgbClr val="4F46E5"/>
                </a:solidFill>
                <a:latin typeface="Segoe UI" pitchFamily="34" charset="0"/>
                <a:ea typeface="Segoe UI" pitchFamily="34" charset="-122"/>
                <a:cs typeface="Segoe UI" pitchFamily="34" charset="-120"/>
              </a:rPr>
              <a:t>Fallback chains (→)</a:t>
            </a:r>
            <a:endParaRPr lang="en-US" sz="1200" dirty="0"/>
          </a:p>
        </p:txBody>
      </p:sp>
      <p:sp>
        <p:nvSpPr>
          <p:cNvPr id="16" name="Text 12"/>
          <p:cNvSpPr txBox="1"/>
          <p:nvPr/>
        </p:nvSpPr>
        <p:spPr>
          <a:xfrm>
            <a:off x="4521098" y="5943600"/>
            <a:ext cx="3149498" cy="292608"/>
          </a:xfrm>
          <a:prstGeom prst="rect">
            <a:avLst/>
          </a:prstGeom>
          <a:noFill/>
          <a:ln/>
        </p:spPr>
        <p:txBody>
          <a:bodyPr wrap="square" lIns="0" tIns="0" rIns="0" bIns="0" rtlCol="0" anchor="t"/>
          <a:lstStyle/>
          <a:p>
            <a:pPr indent="0" marL="0">
              <a:buNone/>
            </a:pPr>
            <a:r>
              <a:rPr lang="en-US" sz="1100" dirty="0">
                <a:solidFill>
                  <a:srgbClr val="334155"/>
                </a:solidFill>
                <a:latin typeface="Segoe UI" pitchFamily="34" charset="0"/>
                <a:ea typeface="Segoe UI" pitchFamily="34" charset="-122"/>
                <a:cs typeface="Segoe UI" pitchFamily="34" charset="-120"/>
              </a:rPr>
              <a:t>An outage degrades quality, not availability</a:t>
            </a:r>
            <a:endParaRPr lang="en-US" sz="1100" dirty="0"/>
          </a:p>
        </p:txBody>
      </p:sp>
      <p:sp>
        <p:nvSpPr>
          <p:cNvPr id="17" name="Shape 13"/>
          <p:cNvSpPr/>
          <p:nvPr/>
        </p:nvSpPr>
        <p:spPr>
          <a:xfrm>
            <a:off x="8127797" y="5650992"/>
            <a:ext cx="3515258" cy="640080"/>
          </a:xfrm>
          <a:prstGeom prst="roundRect">
            <a:avLst>
              <a:gd name="adj" fmla="val 17143"/>
            </a:avLst>
          </a:prstGeom>
          <a:solidFill>
            <a:srgbClr val="EEF2FF"/>
          </a:solidFill>
          <a:ln w="12700">
            <a:solidFill>
              <a:srgbClr val="EEF2FF"/>
            </a:solidFill>
            <a:prstDash val="solid"/>
          </a:ln>
        </p:spPr>
      </p:sp>
      <p:sp>
        <p:nvSpPr>
          <p:cNvPr id="18" name="Text 14"/>
          <p:cNvSpPr txBox="1"/>
          <p:nvPr/>
        </p:nvSpPr>
        <p:spPr>
          <a:xfrm>
            <a:off x="8310677" y="5696712"/>
            <a:ext cx="3149498" cy="256032"/>
          </a:xfrm>
          <a:prstGeom prst="rect">
            <a:avLst/>
          </a:prstGeom>
          <a:noFill/>
          <a:ln/>
        </p:spPr>
        <p:txBody>
          <a:bodyPr wrap="square" lIns="0" tIns="0" rIns="0" bIns="0" rtlCol="0" anchor="t"/>
          <a:lstStyle/>
          <a:p>
            <a:pPr indent="0" marL="0">
              <a:buNone/>
            </a:pPr>
            <a:r>
              <a:rPr lang="en-US" sz="1200" b="1" dirty="0">
                <a:solidFill>
                  <a:srgbClr val="4F46E5"/>
                </a:solidFill>
                <a:latin typeface="Segoe UI" pitchFamily="34" charset="0"/>
                <a:ea typeface="Segoe UI" pitchFamily="34" charset="-122"/>
                <a:cs typeface="Segoe UI" pitchFamily="34" charset="-120"/>
              </a:rPr>
              <a:t>Thinking low, quotes verified</a:t>
            </a:r>
            <a:endParaRPr lang="en-US" sz="1200" dirty="0"/>
          </a:p>
        </p:txBody>
      </p:sp>
      <p:sp>
        <p:nvSpPr>
          <p:cNvPr id="19" name="Text 15"/>
          <p:cNvSpPr txBox="1"/>
          <p:nvPr/>
        </p:nvSpPr>
        <p:spPr>
          <a:xfrm>
            <a:off x="8310677" y="5943600"/>
            <a:ext cx="3149498" cy="292608"/>
          </a:xfrm>
          <a:prstGeom prst="rect">
            <a:avLst/>
          </a:prstGeom>
          <a:noFill/>
          <a:ln/>
        </p:spPr>
        <p:txBody>
          <a:bodyPr wrap="square" lIns="0" tIns="0" rIns="0" bIns="0" rtlCol="0" anchor="t"/>
          <a:lstStyle/>
          <a:p>
            <a:pPr indent="0" marL="0">
              <a:buNone/>
            </a:pPr>
            <a:r>
              <a:rPr lang="en-US" sz="1100" dirty="0">
                <a:solidFill>
                  <a:srgbClr val="334155"/>
                </a:solidFill>
                <a:latin typeface="Segoe UI" pitchFamily="34" charset="0"/>
                <a:ea typeface="Segoe UI" pitchFamily="34" charset="-122"/>
                <a:cs typeface="Segoe UI" pitchFamily="34" charset="-120"/>
              </a:rPr>
              <a:t>Turn ~5 s; 106 of 106 builder citations verified</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lstStyle/>
          <a:p>
            <a:pPr indent="0" marL="0">
              <a:buNone/>
            </a:pPr>
            <a:r>
              <a:rPr lang="en-US" sz="1300" b="1" spc="100" kern="0" dirty="0">
                <a:solidFill>
                  <a:srgbClr val="4F46E5"/>
                </a:solidFill>
                <a:latin typeface="Segoe UI" pitchFamily="34" charset="0"/>
                <a:ea typeface="Segoe UI" pitchFamily="34" charset="-122"/>
                <a:cs typeface="Segoe UI" pitchFamily="34" charset="-120"/>
              </a:rPr>
              <a:t>TRUST BY DESIGN</a:t>
            </a:r>
            <a:endParaRPr lang="en-US" sz="1300" dirty="0"/>
          </a:p>
        </p:txBody>
      </p:sp>
      <p:sp>
        <p:nvSpPr>
          <p:cNvPr id="3" name="Text 1"/>
          <p:cNvSpPr/>
          <p:nvPr>
            <p:ph idx="102" type="title" hasCustomPrompt="1"/>
          </p:nvPr>
        </p:nvSpPr>
        <p:spPr>
          <a:xfrm>
            <a:off x="548640" y="694944"/>
            <a:ext cx="11094415" cy="914400"/>
          </a:xfrm>
          <a:prstGeom prst="rect">
            <a:avLst/>
          </a:prstGeom>
          <a:noFill/>
          <a:ln/>
        </p:spPr>
        <p:txBody>
          <a:bodyPr wrap="square" lIns="0" tIns="0" rIns="0" bIns="0" rtlCol="0" anchor="t"/>
          <a:lstStyle/>
          <a:p>
            <a:pPr algn="l" indent="0" marL="0">
              <a:buNone/>
            </a:pPr>
            <a:r>
              <a:rPr lang="en-US" sz="2800" b="1" dirty="0">
                <a:solidFill>
                  <a:srgbClr val="0F172A"/>
                </a:solidFill>
                <a:latin typeface="Segoe UI" pitchFamily="34" charset="0"/>
                <a:ea typeface="Segoe UI" pitchFamily="34" charset="-122"/>
                <a:cs typeface="Segoe UI" pitchFamily="34" charset="-120"/>
              </a:rPr>
              <a:t>Every score quotes your words. No verified evidence, no score above 50. One serious slip fails the session</a:t>
            </a:r>
            <a:endParaRPr lang="en-US" sz="2800" dirty="0"/>
          </a:p>
        </p:txBody>
      </p:sp>
      <p:sp>
        <p:nvSpPr>
          <p:cNvPr id="5" name="Shape 2"/>
          <p:cNvSpPr/>
          <p:nvPr/>
        </p:nvSpPr>
        <p:spPr>
          <a:xfrm>
            <a:off x="548640" y="1874520"/>
            <a:ext cx="457200" cy="457200"/>
          </a:xfrm>
          <a:prstGeom prst="ellipse">
            <a:avLst/>
          </a:prstGeom>
          <a:solidFill>
            <a:srgbClr val="4F46E5"/>
          </a:solidFill>
          <a:ln w="12700">
            <a:solidFill>
              <a:srgbClr val="4F46E5"/>
            </a:solidFill>
            <a:prstDash val="solid"/>
          </a:ln>
        </p:spPr>
      </p:sp>
      <p:sp>
        <p:nvSpPr>
          <p:cNvPr id="6" name="Text 3"/>
          <p:cNvSpPr txBox="1"/>
          <p:nvPr/>
        </p:nvSpPr>
        <p:spPr>
          <a:xfrm>
            <a:off x="548640" y="1874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7" name="Text 4"/>
          <p:cNvSpPr txBox="1"/>
          <p:nvPr/>
        </p:nvSpPr>
        <p:spPr>
          <a:xfrm>
            <a:off x="1188720" y="1892808"/>
            <a:ext cx="3931920" cy="365760"/>
          </a:xfrm>
          <a:prstGeom prst="rect">
            <a:avLst/>
          </a:prstGeom>
          <a:noFill/>
          <a:ln/>
        </p:spPr>
        <p:txBody>
          <a:bodyPr wrap="square" lIns="0" tIns="0" rIns="0" bIns="0" rtlCol="0" anchor="t"/>
          <a:lstStyle/>
          <a:p>
            <a:pPr indent="0" marL="0">
              <a:buNone/>
            </a:pPr>
            <a:r>
              <a:rPr lang="en-US" sz="1600" b="1" dirty="0">
                <a:solidFill>
                  <a:srgbClr val="0F172A"/>
                </a:solidFill>
                <a:latin typeface="Segoe UI" pitchFamily="34" charset="0"/>
                <a:ea typeface="Segoe UI" pitchFamily="34" charset="-122"/>
                <a:cs typeface="Segoe UI" pitchFamily="34" charset="-120"/>
              </a:rPr>
              <a:t>Before sending</a:t>
            </a:r>
            <a:endParaRPr lang="en-US" sz="1600" dirty="0"/>
          </a:p>
        </p:txBody>
      </p:sp>
      <p:sp>
        <p:nvSpPr>
          <p:cNvPr id="8" name="Text 5"/>
          <p:cNvSpPr txBox="1"/>
          <p:nvPr/>
        </p:nvSpPr>
        <p:spPr>
          <a:xfrm>
            <a:off x="1188720" y="2286000"/>
            <a:ext cx="3931920" cy="868680"/>
          </a:xfrm>
          <a:prstGeom prst="rect">
            <a:avLst/>
          </a:prstGeom>
          <a:noFill/>
          <a:ln/>
        </p:spPr>
        <p:txBody>
          <a:bodyPr wrap="square" lIns="0" tIns="0" rIns="0" bIns="0" rtlCol="0" anchor="t"/>
          <a:lstStyle/>
          <a:p>
            <a:pPr indent="0" marL="0">
              <a:buNone/>
            </a:pPr>
            <a:r>
              <a:rPr lang="en-US" sz="1400" dirty="0">
                <a:solidFill>
                  <a:srgbClr val="334155"/>
                </a:solidFill>
                <a:latin typeface="Segoe UI" pitchFamily="34" charset="0"/>
                <a:ea typeface="Segoe UI" pitchFamily="34" charset="-122"/>
                <a:cs typeface="Segoe UI" pitchFamily="34" charset="-120"/>
              </a:rPr>
              <a:t>The Compliance Guard quotes the exact phrase and names the rule (CC-01, “guarantees you 8% a year”).</a:t>
            </a:r>
            <a:endParaRPr lang="en-US" sz="1400" dirty="0"/>
          </a:p>
        </p:txBody>
      </p:sp>
      <p:sp>
        <p:nvSpPr>
          <p:cNvPr id="9" name="Shape 6"/>
          <p:cNvSpPr/>
          <p:nvPr/>
        </p:nvSpPr>
        <p:spPr>
          <a:xfrm>
            <a:off x="548640" y="3246120"/>
            <a:ext cx="457200" cy="457200"/>
          </a:xfrm>
          <a:prstGeom prst="ellipse">
            <a:avLst/>
          </a:prstGeom>
          <a:solidFill>
            <a:srgbClr val="4F46E5"/>
          </a:solidFill>
          <a:ln w="12700">
            <a:solidFill>
              <a:srgbClr val="4F46E5"/>
            </a:solidFill>
            <a:prstDash val="solid"/>
          </a:ln>
        </p:spPr>
      </p:sp>
      <p:sp>
        <p:nvSpPr>
          <p:cNvPr id="10" name="Text 7"/>
          <p:cNvSpPr txBox="1"/>
          <p:nvPr/>
        </p:nvSpPr>
        <p:spPr>
          <a:xfrm>
            <a:off x="548640" y="32461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11" name="Text 8"/>
          <p:cNvSpPr txBox="1"/>
          <p:nvPr/>
        </p:nvSpPr>
        <p:spPr>
          <a:xfrm>
            <a:off x="1188720" y="3264408"/>
            <a:ext cx="3931920" cy="365760"/>
          </a:xfrm>
          <a:prstGeom prst="rect">
            <a:avLst/>
          </a:prstGeom>
          <a:noFill/>
          <a:ln/>
        </p:spPr>
        <p:txBody>
          <a:bodyPr wrap="square" lIns="0" tIns="0" rIns="0" bIns="0" rtlCol="0" anchor="t"/>
          <a:lstStyle/>
          <a:p>
            <a:pPr indent="0" marL="0">
              <a:buNone/>
            </a:pPr>
            <a:r>
              <a:rPr lang="en-US" sz="1600" b="1" dirty="0">
                <a:solidFill>
                  <a:srgbClr val="0F172A"/>
                </a:solidFill>
                <a:latin typeface="Segoe UI" pitchFamily="34" charset="0"/>
                <a:ea typeface="Segoe UI" pitchFamily="34" charset="-122"/>
                <a:cs typeface="Segoe UI" pitchFamily="34" charset="-120"/>
              </a:rPr>
              <a:t>While talking</a:t>
            </a:r>
            <a:endParaRPr lang="en-US" sz="1600" dirty="0"/>
          </a:p>
        </p:txBody>
      </p:sp>
      <p:sp>
        <p:nvSpPr>
          <p:cNvPr id="12" name="Text 9"/>
          <p:cNvSpPr txBox="1"/>
          <p:nvPr/>
        </p:nvSpPr>
        <p:spPr>
          <a:xfrm>
            <a:off x="1188720" y="3657600"/>
            <a:ext cx="3931920" cy="868680"/>
          </a:xfrm>
          <a:prstGeom prst="rect">
            <a:avLst/>
          </a:prstGeom>
          <a:noFill/>
          <a:ln/>
        </p:spPr>
        <p:txBody>
          <a:bodyPr wrap="square" lIns="0" tIns="0" rIns="0" bIns="0" rtlCol="0" anchor="t"/>
          <a:lstStyle/>
          <a:p>
            <a:pPr indent="0" marL="0">
              <a:buNone/>
            </a:pPr>
            <a:r>
              <a:rPr lang="en-US" sz="1400" dirty="0">
                <a:solidFill>
                  <a:srgbClr val="334155"/>
                </a:solidFill>
                <a:latin typeface="Segoe UI" pitchFamily="34" charset="0"/>
                <a:ea typeface="Segoe UI" pitchFamily="34" charset="-122"/>
                <a:cs typeface="Segoe UI" pitchFamily="34" charset="-120"/>
              </a:rPr>
              <a:t>Persona drafts, scenario rules and rubric items all cite the source passage; a trainer approves every persona before use.</a:t>
            </a:r>
            <a:endParaRPr lang="en-US" sz="1400" dirty="0"/>
          </a:p>
        </p:txBody>
      </p:sp>
      <p:sp>
        <p:nvSpPr>
          <p:cNvPr id="13" name="Shape 10"/>
          <p:cNvSpPr/>
          <p:nvPr/>
        </p:nvSpPr>
        <p:spPr>
          <a:xfrm>
            <a:off x="548640" y="4617720"/>
            <a:ext cx="457200" cy="457200"/>
          </a:xfrm>
          <a:prstGeom prst="ellipse">
            <a:avLst/>
          </a:prstGeom>
          <a:solidFill>
            <a:srgbClr val="4F46E5"/>
          </a:solidFill>
          <a:ln w="12700">
            <a:solidFill>
              <a:srgbClr val="4F46E5"/>
            </a:solidFill>
            <a:prstDash val="solid"/>
          </a:ln>
        </p:spPr>
      </p:sp>
      <p:sp>
        <p:nvSpPr>
          <p:cNvPr id="14" name="Text 11"/>
          <p:cNvSpPr txBox="1"/>
          <p:nvPr/>
        </p:nvSpPr>
        <p:spPr>
          <a:xfrm>
            <a:off x="548640" y="4617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3</a:t>
            </a:r>
            <a:endParaRPr lang="en-US" sz="1500" dirty="0"/>
          </a:p>
        </p:txBody>
      </p:sp>
      <p:sp>
        <p:nvSpPr>
          <p:cNvPr id="15" name="Text 12"/>
          <p:cNvSpPr txBox="1"/>
          <p:nvPr/>
        </p:nvSpPr>
        <p:spPr>
          <a:xfrm>
            <a:off x="1188720" y="4636008"/>
            <a:ext cx="3931920" cy="365760"/>
          </a:xfrm>
          <a:prstGeom prst="rect">
            <a:avLst/>
          </a:prstGeom>
          <a:noFill/>
          <a:ln/>
        </p:spPr>
        <p:txBody>
          <a:bodyPr wrap="square" lIns="0" tIns="0" rIns="0" bIns="0" rtlCol="0" anchor="t"/>
          <a:lstStyle/>
          <a:p>
            <a:pPr indent="0" marL="0">
              <a:buNone/>
            </a:pPr>
            <a:r>
              <a:rPr lang="en-US" sz="1600" b="1" dirty="0">
                <a:solidFill>
                  <a:srgbClr val="0F172A"/>
                </a:solidFill>
                <a:latin typeface="Segoe UI" pitchFamily="34" charset="0"/>
                <a:ea typeface="Segoe UI" pitchFamily="34" charset="-122"/>
                <a:cs typeface="Segoe UI" pitchFamily="34" charset="-120"/>
              </a:rPr>
              <a:t>After the session</a:t>
            </a:r>
            <a:endParaRPr lang="en-US" sz="1600" dirty="0"/>
          </a:p>
        </p:txBody>
      </p:sp>
      <p:sp>
        <p:nvSpPr>
          <p:cNvPr id="16" name="Text 13"/>
          <p:cNvSpPr txBox="1"/>
          <p:nvPr/>
        </p:nvSpPr>
        <p:spPr>
          <a:xfrm>
            <a:off x="1188720" y="5029200"/>
            <a:ext cx="3931920" cy="868680"/>
          </a:xfrm>
          <a:prstGeom prst="rect">
            <a:avLst/>
          </a:prstGeom>
          <a:noFill/>
          <a:ln/>
        </p:spPr>
        <p:txBody>
          <a:bodyPr wrap="square" lIns="0" tIns="0" rIns="0" bIns="0" rtlCol="0" anchor="t"/>
          <a:lstStyle/>
          <a:p>
            <a:pPr indent="0" marL="0">
              <a:buNone/>
            </a:pPr>
            <a:r>
              <a:rPr lang="en-US" sz="1400" dirty="0">
                <a:solidFill>
                  <a:srgbClr val="334155"/>
                </a:solidFill>
                <a:latin typeface="Segoe UI" pitchFamily="34" charset="0"/>
                <a:ea typeface="Segoe UI" pitchFamily="34" charset="-122"/>
                <a:cs typeface="Segoe UI" pitchFamily="34" charset="-120"/>
              </a:rPr>
              <a:t>Quotes are verified against the transcript. A high-severity violation fails the compliance gate and caps the score at 59 (Scenario B: FAIL, 30 in the recorded run).</a:t>
            </a:r>
            <a:endParaRPr lang="en-US" sz="1400" dirty="0"/>
          </a:p>
        </p:txBody>
      </p:sp>
      <p:sp>
        <p:nvSpPr>
          <p:cNvPr id="17" name="Shape 14"/>
          <p:cNvSpPr/>
          <p:nvPr/>
        </p:nvSpPr>
        <p:spPr>
          <a:xfrm>
            <a:off x="5705856" y="1773936"/>
            <a:ext cx="5961888" cy="3422806"/>
          </a:xfrm>
          <a:prstGeom prst="roundRect">
            <a:avLst>
              <a:gd name="adj" fmla="val 2137"/>
            </a:avLst>
          </a:prstGeom>
          <a:solidFill>
            <a:srgbClr val="FFFFFF"/>
          </a:solidFill>
          <a:ln w="12700">
            <a:solidFill>
              <a:srgbClr val="E2E8F0"/>
            </a:solidFill>
            <a:prstDash val="solid"/>
          </a:ln>
          <a:effectLst>
            <a:outerShdw sx="100000" sy="100000" kx="0" ky="0" algn="bl" rotWithShape="0" blurRad="101600" dist="25400" dir="5400000">
              <a:srgbClr val="0F172A">
                <a:alpha val="8000"/>
              </a:srgbClr>
            </a:outerShdw>
          </a:effectLst>
        </p:spPr>
      </p:sp>
      <p:pic>
        <p:nvPicPr>
          <p:cNvPr id="18" name="Image 0" descr="D:/github/SkillCoach-AIBC/media/deck/crop_report.png">    </p:cNvPr>
          <p:cNvPicPr>
            <a:picLocks noChangeAspect="1"/>
          </p:cNvPicPr>
          <p:nvPr/>
        </p:nvPicPr>
        <p:blipFill>
          <a:blip r:embed="rId1"/>
          <a:stretch>
            <a:fillRect/>
          </a:stretch>
        </p:blipFill>
        <p:spPr>
          <a:xfrm>
            <a:off x="5760720" y="1828800"/>
            <a:ext cx="5852160" cy="3313078"/>
          </a:xfrm>
          <a:prstGeom prst="rect">
            <a:avLst/>
          </a:prstGeom>
        </p:spPr>
      </p:pic>
      <p:sp>
        <p:nvSpPr>
          <p:cNvPr id="19" name="Text 15"/>
          <p:cNvSpPr txBox="1"/>
          <p:nvPr/>
        </p:nvSpPr>
        <p:spPr>
          <a:xfrm>
            <a:off x="5705856" y="5251606"/>
            <a:ext cx="5961888" cy="256032"/>
          </a:xfrm>
          <a:prstGeom prst="rect">
            <a:avLst/>
          </a:prstGeom>
          <a:noFill/>
          <a:ln/>
        </p:spPr>
        <p:txBody>
          <a:bodyPr wrap="square" lIns="0" tIns="0" rIns="0" bIns="0" rtlCol="0" anchor="t"/>
          <a:lstStyle/>
          <a:p>
            <a:pPr indent="0" marL="0">
              <a:buNone/>
            </a:pPr>
            <a:r>
              <a:rPr lang="en-US" sz="1000" i="1" dirty="0">
                <a:solidFill>
                  <a:srgbClr val="64748B"/>
                </a:solidFill>
                <a:latin typeface="Segoe UI" pitchFamily="34" charset="0"/>
                <a:ea typeface="Segoe UI" pitchFamily="34" charset="-122"/>
                <a:cs typeface="Segoe UI" pitchFamily="34" charset="-120"/>
              </a:rPr>
              <a:t>Live report from the recorded demo session: B: FAIL, score capped (30 in the recorded run), each score backed by quoted turns.</a:t>
            </a:r>
            <a:endParaRPr lang="en-US" sz="1000" dirty="0"/>
          </a:p>
        </p:txBody>
      </p:sp>
      <p:sp>
        <p:nvSpPr>
          <p:cNvPr id="20" name="Text 16"/>
          <p:cNvSpPr txBox="1"/>
          <p:nvPr/>
        </p:nvSpPr>
        <p:spPr>
          <a:xfrm>
            <a:off x="5705856" y="5760720"/>
            <a:ext cx="5943600" cy="457200"/>
          </a:xfrm>
          <a:prstGeom prst="rect">
            <a:avLst/>
          </a:prstGeom>
          <a:noFill/>
          <a:ln/>
        </p:spPr>
        <p:txBody>
          <a:bodyPr wrap="square" lIns="0" tIns="0" rIns="0" bIns="0" rtlCol="0" anchor="t"/>
          <a:lstStyle/>
          <a:p>
            <a:pPr indent="0" marL="0">
              <a:buNone/>
            </a:pPr>
            <a:r>
              <a:rPr lang="en-US" sz="1100" dirty="0">
                <a:solidFill>
                  <a:srgbClr val="64748B"/>
                </a:solidFill>
                <a:latin typeface="Segoe UI" pitchFamily="34" charset="0"/>
                <a:ea typeface="Segoe UI" pitchFamily="34" charset="-122"/>
                <a:cs typeface="Segoe UI" pitchFamily="34" charset="-120"/>
              </a:rPr>
              <a:t>Regional regulators ask for explainable AI [S13]; MAS competence expectations need evidence [S29].</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lstStyle/>
          <a:p>
            <a:pPr indent="0" marL="0">
              <a:buNone/>
            </a:pPr>
            <a:r>
              <a:rPr lang="en-US" sz="1300" b="1" spc="100" kern="0" dirty="0">
                <a:solidFill>
                  <a:srgbClr val="4F46E5"/>
                </a:solidFill>
                <a:latin typeface="Segoe UI" pitchFamily="34" charset="0"/>
                <a:ea typeface="Segoe UI" pitchFamily="34" charset="-122"/>
                <a:cs typeface="Segoe UI" pitchFamily="34" charset="-120"/>
              </a:rPr>
              <a:t>IMPACT</a:t>
            </a:r>
            <a:endParaRPr lang="en-US" sz="1300" dirty="0"/>
          </a:p>
        </p:txBody>
      </p:sp>
      <p:sp>
        <p:nvSpPr>
          <p:cNvPr id="3" name="Text 1"/>
          <p:cNvSpPr/>
          <p:nvPr>
            <p:ph idx="102" type="title" hasCustomPrompt="1"/>
          </p:nvPr>
        </p:nvSpPr>
        <p:spPr>
          <a:xfrm>
            <a:off x="548640" y="694944"/>
            <a:ext cx="11094415" cy="914400"/>
          </a:xfrm>
          <a:prstGeom prst="rect">
            <a:avLst/>
          </a:prstGeom>
          <a:noFill/>
          <a:ln/>
        </p:spPr>
        <p:txBody>
          <a:bodyPr wrap="square" lIns="0" tIns="0" rIns="0" bIns="0" rtlCol="0" anchor="t"/>
          <a:lstStyle/>
          <a:p>
            <a:pPr algn="l" indent="0" marL="0">
              <a:buNone/>
            </a:pPr>
            <a:r>
              <a:rPr lang="en-US" sz="2800" b="1" dirty="0">
                <a:solidFill>
                  <a:srgbClr val="0F172A"/>
                </a:solidFill>
                <a:latin typeface="Segoe UI" pitchFamily="34" charset="0"/>
                <a:ea typeface="Segoe UI" pitchFamily="34" charset="-122"/>
                <a:cs typeface="Segoe UI" pitchFamily="34" charset="-120"/>
              </a:rPr>
              <a:t>Faster ramp, fewer senior hours, compliance mistakes caught in practice instead of in front of customers</a:t>
            </a:r>
            <a:endParaRPr lang="en-US" sz="2800" dirty="0"/>
          </a:p>
        </p:txBody>
      </p:sp>
      <p:sp>
        <p:nvSpPr>
          <p:cNvPr id="5" name="Shape 2"/>
          <p:cNvSpPr/>
          <p:nvPr/>
        </p:nvSpPr>
        <p:spPr>
          <a:xfrm>
            <a:off x="548640" y="1828800"/>
            <a:ext cx="4023360" cy="3063240"/>
          </a:xfrm>
          <a:prstGeom prst="roundRect">
            <a:avLst>
              <a:gd name="adj" fmla="val 3582"/>
            </a:avLst>
          </a:prstGeom>
          <a:solidFill>
            <a:srgbClr val="EEF2FF"/>
          </a:solidFill>
          <a:ln w="12700">
            <a:solidFill>
              <a:srgbClr val="EEF2FF"/>
            </a:solidFill>
            <a:prstDash val="solid"/>
          </a:ln>
        </p:spPr>
      </p:sp>
      <p:sp>
        <p:nvSpPr>
          <p:cNvPr id="6" name="Text 3"/>
          <p:cNvSpPr txBox="1"/>
          <p:nvPr/>
        </p:nvSpPr>
        <p:spPr>
          <a:xfrm>
            <a:off x="868680" y="2011680"/>
            <a:ext cx="3474720" cy="1005840"/>
          </a:xfrm>
          <a:prstGeom prst="rect">
            <a:avLst/>
          </a:prstGeom>
          <a:noFill/>
          <a:ln/>
        </p:spPr>
        <p:txBody>
          <a:bodyPr wrap="square" lIns="0" tIns="0" rIns="0" bIns="0" rtlCol="0" anchor="t"/>
          <a:lstStyle/>
          <a:p>
            <a:pPr indent="0" marL="0">
              <a:buNone/>
            </a:pPr>
            <a:r>
              <a:rPr lang="en-US" sz="6000" b="1" dirty="0">
                <a:solidFill>
                  <a:srgbClr val="4F46E5"/>
                </a:solidFill>
                <a:latin typeface="Segoe UI" pitchFamily="34" charset="0"/>
                <a:ea typeface="Segoe UI" pitchFamily="34" charset="-122"/>
                <a:cs typeface="Segoe UI" pitchFamily="34" charset="-120"/>
              </a:rPr>
              <a:t>+34%</a:t>
            </a:r>
            <a:endParaRPr lang="en-US" sz="6000" dirty="0"/>
          </a:p>
        </p:txBody>
      </p:sp>
      <p:sp>
        <p:nvSpPr>
          <p:cNvPr id="7" name="Text 4"/>
          <p:cNvSpPr txBox="1"/>
          <p:nvPr/>
        </p:nvSpPr>
        <p:spPr>
          <a:xfrm>
            <a:off x="868680" y="3063240"/>
            <a:ext cx="3429000" cy="1143000"/>
          </a:xfrm>
          <a:prstGeom prst="rect">
            <a:avLst/>
          </a:prstGeom>
          <a:noFill/>
          <a:ln/>
        </p:spPr>
        <p:txBody>
          <a:bodyPr wrap="square" lIns="0" tIns="0" rIns="0" bIns="0" rtlCol="0" anchor="t"/>
          <a:lstStyle/>
          <a:p>
            <a:pPr indent="0" marL="0">
              <a:buNone/>
            </a:pPr>
            <a:r>
              <a:rPr lang="en-US" sz="1400" dirty="0">
                <a:solidFill>
                  <a:srgbClr val="334155"/>
                </a:solidFill>
                <a:latin typeface="Segoe UI" pitchFamily="34" charset="0"/>
                <a:ea typeface="Segoe UI" pitchFamily="34" charset="-122"/>
                <a:cs typeface="Segoe UI" pitchFamily="34" charset="-120"/>
              </a:rPr>
              <a:t>issues resolved per hour for novice and low-skilled support agents with AI assistance (14% on average; 5,179 agents) </a:t>
            </a:r>
            <a:pPr indent="0" marL="0">
              <a:buNone/>
            </a:pPr>
            <a:r>
              <a:rPr lang="en-US" sz="1400" b="1" dirty="0">
                <a:solidFill>
                  <a:srgbClr val="64748B"/>
                </a:solidFill>
                <a:latin typeface="Segoe UI" pitchFamily="34" charset="0"/>
                <a:ea typeface="Segoe UI" pitchFamily="34" charset="-122"/>
                <a:cs typeface="Segoe UI" pitchFamily="34" charset="-120"/>
              </a:rPr>
              <a:t>[S3]</a:t>
            </a:r>
            <a:endParaRPr lang="en-US" sz="1400" dirty="0"/>
          </a:p>
        </p:txBody>
      </p:sp>
      <p:sp>
        <p:nvSpPr>
          <p:cNvPr id="8" name="Text 5"/>
          <p:cNvSpPr txBox="1"/>
          <p:nvPr/>
        </p:nvSpPr>
        <p:spPr>
          <a:xfrm>
            <a:off x="868680" y="4297680"/>
            <a:ext cx="3429000" cy="365760"/>
          </a:xfrm>
          <a:prstGeom prst="rect">
            <a:avLst/>
          </a:prstGeom>
          <a:noFill/>
          <a:ln/>
        </p:spPr>
        <p:txBody>
          <a:bodyPr wrap="square" lIns="0" tIns="0" rIns="0" bIns="0" rtlCol="0" anchor="t"/>
          <a:lstStyle/>
          <a:p>
            <a:pPr indent="0" marL="0">
              <a:buNone/>
            </a:pPr>
            <a:r>
              <a:rPr lang="en-US" sz="1400" b="1" dirty="0">
                <a:solidFill>
                  <a:srgbClr val="0F172A"/>
                </a:solidFill>
                <a:latin typeface="Segoe UI" pitchFamily="34" charset="0"/>
                <a:ea typeface="Segoe UI" pitchFamily="34" charset="-122"/>
                <a:cs typeface="Segoe UI" pitchFamily="34" charset="-120"/>
              </a:rPr>
              <a:t>New hires are exactly our users.</a:t>
            </a:r>
            <a:endParaRPr lang="en-US" sz="1400" dirty="0"/>
          </a:p>
        </p:txBody>
      </p:sp>
      <p:sp>
        <p:nvSpPr>
          <p:cNvPr id="9" name="Text 6"/>
          <p:cNvSpPr txBox="1"/>
          <p:nvPr/>
        </p:nvSpPr>
        <p:spPr>
          <a:xfrm>
            <a:off x="4937760" y="1828800"/>
            <a:ext cx="6675120" cy="320040"/>
          </a:xfrm>
          <a:prstGeom prst="rect">
            <a:avLst/>
          </a:prstGeom>
          <a:noFill/>
          <a:ln/>
        </p:spPr>
        <p:txBody>
          <a:bodyPr wrap="square" lIns="0" tIns="0" rIns="0" bIns="0" rtlCol="0" anchor="t"/>
          <a:lstStyle/>
          <a:p>
            <a:pPr indent="0" marL="0">
              <a:buNone/>
            </a:pPr>
            <a:r>
              <a:rPr lang="en-US" sz="1500" b="1" dirty="0">
                <a:solidFill>
                  <a:srgbClr val="0F172A"/>
                </a:solidFill>
                <a:latin typeface="Segoe UI" pitchFamily="34" charset="0"/>
                <a:ea typeface="Segoe UI" pitchFamily="34" charset="-122"/>
                <a:cs typeface="Segoe UI" pitchFamily="34" charset="-120"/>
              </a:rPr>
              <a:t>ROI for a 100-rep team, per year (estimate)</a:t>
            </a:r>
            <a:endParaRPr lang="en-US" sz="1500" dirty="0"/>
          </a:p>
        </p:txBody>
      </p:sp>
      <p:sp>
        <p:nvSpPr>
          <p:cNvPr id="10" name="Text 7"/>
          <p:cNvSpPr txBox="1"/>
          <p:nvPr/>
        </p:nvSpPr>
        <p:spPr>
          <a:xfrm>
            <a:off x="4937760" y="2377440"/>
            <a:ext cx="1371600" cy="502920"/>
          </a:xfrm>
          <a:prstGeom prst="rect">
            <a:avLst/>
          </a:prstGeom>
          <a:noFill/>
          <a:ln/>
        </p:spPr>
        <p:txBody>
          <a:bodyPr wrap="square" lIns="0" tIns="0" rIns="0" bIns="0"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Value</a:t>
            </a:r>
            <a:endParaRPr lang="en-US" sz="1400" dirty="0"/>
          </a:p>
        </p:txBody>
      </p:sp>
      <p:sp>
        <p:nvSpPr>
          <p:cNvPr id="11" name="Shape 8"/>
          <p:cNvSpPr/>
          <p:nvPr/>
        </p:nvSpPr>
        <p:spPr>
          <a:xfrm>
            <a:off x="6400800" y="2377440"/>
            <a:ext cx="1532709" cy="502920"/>
          </a:xfrm>
          <a:prstGeom prst="rect">
            <a:avLst/>
          </a:prstGeom>
          <a:solidFill>
            <a:srgbClr val="4F46E5"/>
          </a:solidFill>
          <a:ln w="12700">
            <a:solidFill>
              <a:srgbClr val="FFFFFF"/>
            </a:solidFill>
            <a:prstDash val="solid"/>
          </a:ln>
        </p:spPr>
      </p:sp>
      <p:sp>
        <p:nvSpPr>
          <p:cNvPr id="12" name="Shape 9"/>
          <p:cNvSpPr/>
          <p:nvPr/>
        </p:nvSpPr>
        <p:spPr>
          <a:xfrm>
            <a:off x="7933509" y="2377440"/>
            <a:ext cx="1995714" cy="502920"/>
          </a:xfrm>
          <a:prstGeom prst="rect">
            <a:avLst/>
          </a:prstGeom>
          <a:solidFill>
            <a:srgbClr val="6366F1"/>
          </a:solidFill>
          <a:ln w="12700">
            <a:solidFill>
              <a:srgbClr val="FFFFFF"/>
            </a:solidFill>
            <a:prstDash val="solid"/>
          </a:ln>
        </p:spPr>
      </p:sp>
      <p:sp>
        <p:nvSpPr>
          <p:cNvPr id="13" name="Shape 10"/>
          <p:cNvSpPr/>
          <p:nvPr/>
        </p:nvSpPr>
        <p:spPr>
          <a:xfrm>
            <a:off x="9929223" y="2377440"/>
            <a:ext cx="478971" cy="502920"/>
          </a:xfrm>
          <a:prstGeom prst="rect">
            <a:avLst/>
          </a:prstGeom>
          <a:solidFill>
            <a:srgbClr val="A5B4FC"/>
          </a:solidFill>
          <a:ln w="12700">
            <a:solidFill>
              <a:srgbClr val="FFFFFF"/>
            </a:solidFill>
            <a:prstDash val="solid"/>
          </a:ln>
        </p:spPr>
      </p:sp>
      <p:sp>
        <p:nvSpPr>
          <p:cNvPr id="14" name="Text 11"/>
          <p:cNvSpPr txBox="1"/>
          <p:nvPr/>
        </p:nvSpPr>
        <p:spPr>
          <a:xfrm>
            <a:off x="10499634" y="2377440"/>
            <a:ext cx="1188720" cy="502920"/>
          </a:xfrm>
          <a:prstGeom prst="rect">
            <a:avLst/>
          </a:prstGeom>
          <a:noFill/>
          <a:ln/>
        </p:spPr>
        <p:txBody>
          <a:bodyPr wrap="square" lIns="0" tIns="0" rIns="0" bIns="0"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~US$126k</a:t>
            </a:r>
            <a:endParaRPr lang="en-US" sz="1400" dirty="0"/>
          </a:p>
        </p:txBody>
      </p:sp>
      <p:sp>
        <p:nvSpPr>
          <p:cNvPr id="15" name="Text 12"/>
          <p:cNvSpPr txBox="1"/>
          <p:nvPr/>
        </p:nvSpPr>
        <p:spPr>
          <a:xfrm>
            <a:off x="4937760" y="3063240"/>
            <a:ext cx="1371600" cy="502920"/>
          </a:xfrm>
          <a:prstGeom prst="rect">
            <a:avLst/>
          </a:prstGeom>
          <a:noFill/>
          <a:ln/>
        </p:spPr>
        <p:txBody>
          <a:bodyPr wrap="square" lIns="0" tIns="0" rIns="0" bIns="0"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Cost</a:t>
            </a:r>
            <a:endParaRPr lang="en-US" sz="1400" dirty="0"/>
          </a:p>
        </p:txBody>
      </p:sp>
      <p:sp>
        <p:nvSpPr>
          <p:cNvPr id="16" name="Shape 13"/>
          <p:cNvSpPr/>
          <p:nvPr/>
        </p:nvSpPr>
        <p:spPr>
          <a:xfrm>
            <a:off x="6400800" y="3063240"/>
            <a:ext cx="1277257" cy="502920"/>
          </a:xfrm>
          <a:prstGeom prst="rect">
            <a:avLst/>
          </a:prstGeom>
          <a:solidFill>
            <a:srgbClr val="CBD5E1"/>
          </a:solidFill>
          <a:ln w="12700">
            <a:solidFill>
              <a:srgbClr val="CBD5E1"/>
            </a:solidFill>
            <a:prstDash val="solid"/>
          </a:ln>
        </p:spPr>
      </p:sp>
      <p:sp>
        <p:nvSpPr>
          <p:cNvPr id="17" name="Text 14"/>
          <p:cNvSpPr txBox="1"/>
          <p:nvPr/>
        </p:nvSpPr>
        <p:spPr>
          <a:xfrm>
            <a:off x="7769497" y="3063240"/>
            <a:ext cx="2926080" cy="502920"/>
          </a:xfrm>
          <a:prstGeom prst="rect">
            <a:avLst/>
          </a:prstGeom>
          <a:noFill/>
          <a:ln/>
        </p:spPr>
        <p:txBody>
          <a:bodyPr wrap="square" lIns="0" tIns="0" rIns="0" bIns="0"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~US$40k  ·  roughly 3x</a:t>
            </a:r>
            <a:endParaRPr lang="en-US" sz="1400" dirty="0"/>
          </a:p>
        </p:txBody>
      </p:sp>
      <p:sp>
        <p:nvSpPr>
          <p:cNvPr id="18" name="Shape 15"/>
          <p:cNvSpPr/>
          <p:nvPr/>
        </p:nvSpPr>
        <p:spPr>
          <a:xfrm>
            <a:off x="4937760" y="3840480"/>
            <a:ext cx="164592" cy="164592"/>
          </a:xfrm>
          <a:prstGeom prst="rect">
            <a:avLst/>
          </a:prstGeom>
          <a:solidFill>
            <a:srgbClr val="4F46E5"/>
          </a:solidFill>
          <a:ln w="12700">
            <a:solidFill>
              <a:srgbClr val="4F46E5"/>
            </a:solidFill>
            <a:prstDash val="solid"/>
          </a:ln>
        </p:spPr>
      </p:sp>
      <p:sp>
        <p:nvSpPr>
          <p:cNvPr id="19" name="Text 16"/>
          <p:cNvSpPr txBox="1"/>
          <p:nvPr/>
        </p:nvSpPr>
        <p:spPr>
          <a:xfrm>
            <a:off x="5184648" y="3776472"/>
            <a:ext cx="1965960" cy="292608"/>
          </a:xfrm>
          <a:prstGeom prst="rect">
            <a:avLst/>
          </a:prstGeom>
          <a:noFill/>
          <a:ln/>
        </p:spPr>
        <p:txBody>
          <a:bodyPr wrap="square" lIns="0" tIns="0" rIns="0" bIns="0" rtlCol="0" anchor="t"/>
          <a:lstStyle/>
          <a:p>
            <a:pPr indent="0" marL="0">
              <a:buNone/>
            </a:pPr>
            <a:r>
              <a:rPr lang="en-US" sz="1200" dirty="0">
                <a:solidFill>
                  <a:srgbClr val="334155"/>
                </a:solidFill>
                <a:latin typeface="Segoe UI" pitchFamily="34" charset="0"/>
                <a:ea typeface="Segoe UI" pitchFamily="34" charset="-122"/>
                <a:cs typeface="Segoe UI" pitchFamily="34" charset="-120"/>
              </a:rPr>
              <a:t>Manager time US$48k</a:t>
            </a:r>
            <a:endParaRPr lang="en-US" sz="1200" dirty="0"/>
          </a:p>
        </p:txBody>
      </p:sp>
      <p:sp>
        <p:nvSpPr>
          <p:cNvPr id="20" name="Shape 17"/>
          <p:cNvSpPr/>
          <p:nvPr/>
        </p:nvSpPr>
        <p:spPr>
          <a:xfrm>
            <a:off x="7178040" y="3840480"/>
            <a:ext cx="164592" cy="164592"/>
          </a:xfrm>
          <a:prstGeom prst="rect">
            <a:avLst/>
          </a:prstGeom>
          <a:solidFill>
            <a:srgbClr val="6366F1"/>
          </a:solidFill>
          <a:ln w="12700">
            <a:solidFill>
              <a:srgbClr val="6366F1"/>
            </a:solidFill>
            <a:prstDash val="solid"/>
          </a:ln>
        </p:spPr>
      </p:sp>
      <p:sp>
        <p:nvSpPr>
          <p:cNvPr id="21" name="Text 18"/>
          <p:cNvSpPr txBox="1"/>
          <p:nvPr/>
        </p:nvSpPr>
        <p:spPr>
          <a:xfrm>
            <a:off x="7424928" y="3776472"/>
            <a:ext cx="1965960" cy="292608"/>
          </a:xfrm>
          <a:prstGeom prst="rect">
            <a:avLst/>
          </a:prstGeom>
          <a:noFill/>
          <a:ln/>
        </p:spPr>
        <p:txBody>
          <a:bodyPr wrap="square" lIns="0" tIns="0" rIns="0" bIns="0" rtlCol="0" anchor="t"/>
          <a:lstStyle/>
          <a:p>
            <a:pPr indent="0" marL="0">
              <a:buNone/>
            </a:pPr>
            <a:r>
              <a:rPr lang="en-US" sz="1200" dirty="0">
                <a:solidFill>
                  <a:srgbClr val="334155"/>
                </a:solidFill>
                <a:latin typeface="Segoe UI" pitchFamily="34" charset="0"/>
                <a:ea typeface="Segoe UI" pitchFamily="34" charset="-122"/>
                <a:cs typeface="Segoe UI" pitchFamily="34" charset="-120"/>
              </a:rPr>
              <a:t>Faster ramp US$62.5k</a:t>
            </a:r>
            <a:endParaRPr lang="en-US" sz="1200" dirty="0"/>
          </a:p>
        </p:txBody>
      </p:sp>
      <p:sp>
        <p:nvSpPr>
          <p:cNvPr id="22" name="Shape 19"/>
          <p:cNvSpPr/>
          <p:nvPr/>
        </p:nvSpPr>
        <p:spPr>
          <a:xfrm>
            <a:off x="9418320" y="3840480"/>
            <a:ext cx="164592" cy="164592"/>
          </a:xfrm>
          <a:prstGeom prst="rect">
            <a:avLst/>
          </a:prstGeom>
          <a:solidFill>
            <a:srgbClr val="A5B4FC"/>
          </a:solidFill>
          <a:ln w="12700">
            <a:solidFill>
              <a:srgbClr val="A5B4FC"/>
            </a:solidFill>
            <a:prstDash val="solid"/>
          </a:ln>
        </p:spPr>
      </p:sp>
      <p:sp>
        <p:nvSpPr>
          <p:cNvPr id="23" name="Text 20"/>
          <p:cNvSpPr txBox="1"/>
          <p:nvPr/>
        </p:nvSpPr>
        <p:spPr>
          <a:xfrm>
            <a:off x="9665208" y="3776472"/>
            <a:ext cx="1965960" cy="292608"/>
          </a:xfrm>
          <a:prstGeom prst="rect">
            <a:avLst/>
          </a:prstGeom>
          <a:noFill/>
          <a:ln/>
        </p:spPr>
        <p:txBody>
          <a:bodyPr wrap="square" lIns="0" tIns="0" rIns="0" bIns="0" rtlCol="0" anchor="t"/>
          <a:lstStyle/>
          <a:p>
            <a:pPr indent="0" marL="0">
              <a:buNone/>
            </a:pPr>
            <a:r>
              <a:rPr lang="en-US" sz="1200" dirty="0">
                <a:solidFill>
                  <a:srgbClr val="334155"/>
                </a:solidFill>
                <a:latin typeface="Segoe UI" pitchFamily="34" charset="0"/>
                <a:ea typeface="Segoe UI" pitchFamily="34" charset="-122"/>
                <a:cs typeface="Segoe UI" pitchFamily="34" charset="-120"/>
              </a:rPr>
              <a:t>Lower attrition US$15k</a:t>
            </a:r>
            <a:endParaRPr lang="en-US" sz="1200" dirty="0"/>
          </a:p>
        </p:txBody>
      </p:sp>
      <p:sp>
        <p:nvSpPr>
          <p:cNvPr id="24" name="Text 21"/>
          <p:cNvSpPr txBox="1"/>
          <p:nvPr/>
        </p:nvSpPr>
        <p:spPr>
          <a:xfrm>
            <a:off x="4937760" y="4206240"/>
            <a:ext cx="6675120" cy="640080"/>
          </a:xfrm>
          <a:prstGeom prst="rect">
            <a:avLst/>
          </a:prstGeom>
          <a:noFill/>
          <a:ln/>
        </p:spPr>
        <p:txBody>
          <a:bodyPr wrap="square" lIns="0" tIns="0" rIns="0" bIns="0" rtlCol="0" anchor="t"/>
          <a:lstStyle/>
          <a:p>
            <a:pPr indent="0" marL="0">
              <a:buNone/>
            </a:pPr>
            <a:r>
              <a:rPr lang="en-US" sz="1300" i="1" dirty="0">
                <a:solidFill>
                  <a:srgbClr val="334155"/>
                </a:solidFill>
                <a:latin typeface="Segoe UI" pitchFamily="34" charset="0"/>
                <a:ea typeface="Segoe UI" pitchFamily="34" charset="-122"/>
                <a:cs typeface="Segoe UI" pitchFamily="34" charset="-120"/>
              </a:rPr>
              <a:t>Coaching time alone only breaks even; the case rests on ramp and retention, which the pilot measures.</a:t>
            </a:r>
            <a:endParaRPr lang="en-US" sz="1300" dirty="0"/>
          </a:p>
        </p:txBody>
      </p:sp>
      <p:sp>
        <p:nvSpPr>
          <p:cNvPr id="25" name="Text 22"/>
          <p:cNvSpPr txBox="1"/>
          <p:nvPr/>
        </p:nvSpPr>
        <p:spPr>
          <a:xfrm>
            <a:off x="548640" y="5029200"/>
            <a:ext cx="2743200" cy="320040"/>
          </a:xfrm>
          <a:prstGeom prst="rect">
            <a:avLst/>
          </a:prstGeom>
          <a:noFill/>
          <a:ln/>
        </p:spPr>
        <p:txBody>
          <a:bodyPr wrap="square" lIns="0" tIns="0" rIns="0" bIns="0" rtlCol="0" anchor="t"/>
          <a:lstStyle/>
          <a:p>
            <a:pPr indent="0" marL="0">
              <a:buNone/>
            </a:pPr>
            <a:r>
              <a:rPr lang="en-US" sz="1500" b="1" dirty="0">
                <a:solidFill>
                  <a:srgbClr val="0F172A"/>
                </a:solidFill>
                <a:latin typeface="Segoe UI" pitchFamily="34" charset="0"/>
                <a:ea typeface="Segoe UI" pitchFamily="34" charset="-122"/>
                <a:cs typeface="Segoe UI" pitchFamily="34" charset="-120"/>
              </a:rPr>
              <a:t>Who benefits</a:t>
            </a:r>
            <a:endParaRPr lang="en-US" sz="1500" dirty="0"/>
          </a:p>
        </p:txBody>
      </p:sp>
      <p:sp>
        <p:nvSpPr>
          <p:cNvPr id="26" name="Shape 23"/>
          <p:cNvSpPr/>
          <p:nvPr/>
        </p:nvSpPr>
        <p:spPr>
          <a:xfrm>
            <a:off x="548640" y="5394960"/>
            <a:ext cx="2072579" cy="868680"/>
          </a:xfrm>
          <a:prstGeom prst="roundRect">
            <a:avLst>
              <a:gd name="adj" fmla="val 12632"/>
            </a:avLst>
          </a:prstGeom>
          <a:solidFill>
            <a:srgbClr val="F8FAFC"/>
          </a:solidFill>
          <a:ln w="12700">
            <a:solidFill>
              <a:srgbClr val="E2E8F0"/>
            </a:solidFill>
            <a:prstDash val="solid"/>
          </a:ln>
        </p:spPr>
      </p:sp>
      <p:sp>
        <p:nvSpPr>
          <p:cNvPr id="27" name="Text 24"/>
          <p:cNvSpPr txBox="1"/>
          <p:nvPr/>
        </p:nvSpPr>
        <p:spPr>
          <a:xfrm>
            <a:off x="685800" y="5468112"/>
            <a:ext cx="1798259" cy="274320"/>
          </a:xfrm>
          <a:prstGeom prst="rect">
            <a:avLst/>
          </a:prstGeom>
          <a:noFill/>
          <a:ln/>
        </p:spPr>
        <p:txBody>
          <a:bodyPr wrap="square" lIns="0" tIns="0" rIns="0" bIns="0" rtlCol="0" anchor="t"/>
          <a:lstStyle/>
          <a:p>
            <a:pPr indent="0" marL="0">
              <a:buNone/>
            </a:pPr>
            <a:r>
              <a:rPr lang="en-US" sz="1300" b="1" dirty="0">
                <a:solidFill>
                  <a:srgbClr val="0F172A"/>
                </a:solidFill>
                <a:latin typeface="Segoe UI" pitchFamily="34" charset="0"/>
                <a:ea typeface="Segoe UI" pitchFamily="34" charset="-122"/>
                <a:cs typeface="Segoe UI" pitchFamily="34" charset="-120"/>
              </a:rPr>
              <a:t>Trainees</a:t>
            </a:r>
            <a:endParaRPr lang="en-US" sz="1300" dirty="0"/>
          </a:p>
        </p:txBody>
      </p:sp>
      <p:sp>
        <p:nvSpPr>
          <p:cNvPr id="28" name="Text 25"/>
          <p:cNvSpPr txBox="1"/>
          <p:nvPr/>
        </p:nvSpPr>
        <p:spPr>
          <a:xfrm>
            <a:off x="685800" y="5760720"/>
            <a:ext cx="1798259" cy="457200"/>
          </a:xfrm>
          <a:prstGeom prst="rect">
            <a:avLst/>
          </a:prstGeom>
          <a:noFill/>
          <a:ln/>
        </p:spPr>
        <p:txBody>
          <a:bodyPr wrap="square" lIns="0" tIns="0" rIns="0" bIns="0" rtlCol="0" anchor="t"/>
          <a:lstStyle/>
          <a:p>
            <a:pPr indent="0" marL="0">
              <a:buNone/>
            </a:pPr>
            <a:r>
              <a:rPr lang="en-US" sz="1100" dirty="0">
                <a:solidFill>
                  <a:srgbClr val="64748B"/>
                </a:solidFill>
                <a:latin typeface="Segoe UI" pitchFamily="34" charset="0"/>
                <a:ea typeface="Segoe UI" pitchFamily="34" charset="-122"/>
                <a:cs typeface="Segoe UI" pitchFamily="34" charset="-120"/>
              </a:rPr>
              <a:t>a safe place to fail</a:t>
            </a:r>
            <a:endParaRPr lang="en-US" sz="1100" dirty="0"/>
          </a:p>
        </p:txBody>
      </p:sp>
      <p:sp>
        <p:nvSpPr>
          <p:cNvPr id="29" name="Shape 26"/>
          <p:cNvSpPr/>
          <p:nvPr/>
        </p:nvSpPr>
        <p:spPr>
          <a:xfrm>
            <a:off x="2804099" y="5394960"/>
            <a:ext cx="2072579" cy="868680"/>
          </a:xfrm>
          <a:prstGeom prst="roundRect">
            <a:avLst>
              <a:gd name="adj" fmla="val 12632"/>
            </a:avLst>
          </a:prstGeom>
          <a:solidFill>
            <a:srgbClr val="F8FAFC"/>
          </a:solidFill>
          <a:ln w="12700">
            <a:solidFill>
              <a:srgbClr val="E2E8F0"/>
            </a:solidFill>
            <a:prstDash val="solid"/>
          </a:ln>
        </p:spPr>
      </p:sp>
      <p:sp>
        <p:nvSpPr>
          <p:cNvPr id="30" name="Text 27"/>
          <p:cNvSpPr txBox="1"/>
          <p:nvPr/>
        </p:nvSpPr>
        <p:spPr>
          <a:xfrm>
            <a:off x="2941259" y="5468112"/>
            <a:ext cx="1798259" cy="274320"/>
          </a:xfrm>
          <a:prstGeom prst="rect">
            <a:avLst/>
          </a:prstGeom>
          <a:noFill/>
          <a:ln/>
        </p:spPr>
        <p:txBody>
          <a:bodyPr wrap="square" lIns="0" tIns="0" rIns="0" bIns="0" rtlCol="0" anchor="t"/>
          <a:lstStyle/>
          <a:p>
            <a:pPr indent="0" marL="0">
              <a:buNone/>
            </a:pPr>
            <a:r>
              <a:rPr lang="en-US" sz="1300" b="1" dirty="0">
                <a:solidFill>
                  <a:srgbClr val="0F172A"/>
                </a:solidFill>
                <a:latin typeface="Segoe UI" pitchFamily="34" charset="0"/>
                <a:ea typeface="Segoe UI" pitchFamily="34" charset="-122"/>
                <a:cs typeface="Segoe UI" pitchFamily="34" charset="-120"/>
              </a:rPr>
              <a:t>Managers</a:t>
            </a:r>
            <a:endParaRPr lang="en-US" sz="1300" dirty="0"/>
          </a:p>
        </p:txBody>
      </p:sp>
      <p:sp>
        <p:nvSpPr>
          <p:cNvPr id="31" name="Text 28"/>
          <p:cNvSpPr txBox="1"/>
          <p:nvPr/>
        </p:nvSpPr>
        <p:spPr>
          <a:xfrm>
            <a:off x="2941259" y="5760720"/>
            <a:ext cx="1798259" cy="457200"/>
          </a:xfrm>
          <a:prstGeom prst="rect">
            <a:avLst/>
          </a:prstGeom>
          <a:noFill/>
          <a:ln/>
        </p:spPr>
        <p:txBody>
          <a:bodyPr wrap="square" lIns="0" tIns="0" rIns="0" bIns="0" rtlCol="0" anchor="t"/>
          <a:lstStyle/>
          <a:p>
            <a:pPr indent="0" marL="0">
              <a:buNone/>
            </a:pPr>
            <a:r>
              <a:rPr lang="en-US" sz="1100" dirty="0">
                <a:solidFill>
                  <a:srgbClr val="64748B"/>
                </a:solidFill>
                <a:latin typeface="Segoe UI" pitchFamily="34" charset="0"/>
                <a:ea typeface="Segoe UI" pitchFamily="34" charset="-122"/>
                <a:cs typeface="Segoe UI" pitchFamily="34" charset="-120"/>
              </a:rPr>
              <a:t>objective readiness data</a:t>
            </a:r>
            <a:endParaRPr lang="en-US" sz="1100" dirty="0"/>
          </a:p>
        </p:txBody>
      </p:sp>
      <p:sp>
        <p:nvSpPr>
          <p:cNvPr id="32" name="Shape 29"/>
          <p:cNvSpPr/>
          <p:nvPr/>
        </p:nvSpPr>
        <p:spPr>
          <a:xfrm>
            <a:off x="5059558" y="5394960"/>
            <a:ext cx="2072579" cy="868680"/>
          </a:xfrm>
          <a:prstGeom prst="roundRect">
            <a:avLst>
              <a:gd name="adj" fmla="val 12632"/>
            </a:avLst>
          </a:prstGeom>
          <a:solidFill>
            <a:srgbClr val="F8FAFC"/>
          </a:solidFill>
          <a:ln w="12700">
            <a:solidFill>
              <a:srgbClr val="E2E8F0"/>
            </a:solidFill>
            <a:prstDash val="solid"/>
          </a:ln>
        </p:spPr>
      </p:sp>
      <p:sp>
        <p:nvSpPr>
          <p:cNvPr id="33" name="Text 30"/>
          <p:cNvSpPr txBox="1"/>
          <p:nvPr/>
        </p:nvSpPr>
        <p:spPr>
          <a:xfrm>
            <a:off x="5196718" y="5468112"/>
            <a:ext cx="1798259" cy="274320"/>
          </a:xfrm>
          <a:prstGeom prst="rect">
            <a:avLst/>
          </a:prstGeom>
          <a:noFill/>
          <a:ln/>
        </p:spPr>
        <p:txBody>
          <a:bodyPr wrap="square" lIns="0" tIns="0" rIns="0" bIns="0" rtlCol="0" anchor="t"/>
          <a:lstStyle/>
          <a:p>
            <a:pPr indent="0" marL="0">
              <a:buNone/>
            </a:pPr>
            <a:r>
              <a:rPr lang="en-US" sz="1300" b="1" dirty="0">
                <a:solidFill>
                  <a:srgbClr val="0F172A"/>
                </a:solidFill>
                <a:latin typeface="Segoe UI" pitchFamily="34" charset="0"/>
                <a:ea typeface="Segoe UI" pitchFamily="34" charset="-122"/>
                <a:cs typeface="Segoe UI" pitchFamily="34" charset="-120"/>
              </a:rPr>
              <a:t>Compliance teams</a:t>
            </a:r>
            <a:endParaRPr lang="en-US" sz="1300" dirty="0"/>
          </a:p>
        </p:txBody>
      </p:sp>
      <p:sp>
        <p:nvSpPr>
          <p:cNvPr id="34" name="Text 31"/>
          <p:cNvSpPr txBox="1"/>
          <p:nvPr/>
        </p:nvSpPr>
        <p:spPr>
          <a:xfrm>
            <a:off x="5196718" y="5760720"/>
            <a:ext cx="1798259" cy="457200"/>
          </a:xfrm>
          <a:prstGeom prst="rect">
            <a:avLst/>
          </a:prstGeom>
          <a:noFill/>
          <a:ln/>
        </p:spPr>
        <p:txBody>
          <a:bodyPr wrap="square" lIns="0" tIns="0" rIns="0" bIns="0" rtlCol="0" anchor="t"/>
          <a:lstStyle/>
          <a:p>
            <a:pPr indent="0" marL="0">
              <a:buNone/>
            </a:pPr>
            <a:r>
              <a:rPr lang="en-US" sz="1100" dirty="0">
                <a:solidFill>
                  <a:srgbClr val="64748B"/>
                </a:solidFill>
                <a:latin typeface="Segoe UI" pitchFamily="34" charset="0"/>
                <a:ea typeface="Segoe UI" pitchFamily="34" charset="-122"/>
                <a:cs typeface="Segoe UI" pitchFamily="34" charset="-120"/>
              </a:rPr>
              <a:t>violations caught with evidence</a:t>
            </a:r>
            <a:endParaRPr lang="en-US" sz="1100" dirty="0"/>
          </a:p>
        </p:txBody>
      </p:sp>
      <p:sp>
        <p:nvSpPr>
          <p:cNvPr id="35" name="Shape 32"/>
          <p:cNvSpPr/>
          <p:nvPr/>
        </p:nvSpPr>
        <p:spPr>
          <a:xfrm>
            <a:off x="7315017" y="5394960"/>
            <a:ext cx="2072579" cy="868680"/>
          </a:xfrm>
          <a:prstGeom prst="roundRect">
            <a:avLst>
              <a:gd name="adj" fmla="val 12632"/>
            </a:avLst>
          </a:prstGeom>
          <a:solidFill>
            <a:srgbClr val="F8FAFC"/>
          </a:solidFill>
          <a:ln w="12700">
            <a:solidFill>
              <a:srgbClr val="E2E8F0"/>
            </a:solidFill>
            <a:prstDash val="solid"/>
          </a:ln>
        </p:spPr>
      </p:sp>
      <p:sp>
        <p:nvSpPr>
          <p:cNvPr id="36" name="Text 33"/>
          <p:cNvSpPr txBox="1"/>
          <p:nvPr/>
        </p:nvSpPr>
        <p:spPr>
          <a:xfrm>
            <a:off x="7452177" y="5468112"/>
            <a:ext cx="1798259" cy="274320"/>
          </a:xfrm>
          <a:prstGeom prst="rect">
            <a:avLst/>
          </a:prstGeom>
          <a:noFill/>
          <a:ln/>
        </p:spPr>
        <p:txBody>
          <a:bodyPr wrap="square" lIns="0" tIns="0" rIns="0" bIns="0" rtlCol="0" anchor="t"/>
          <a:lstStyle/>
          <a:p>
            <a:pPr indent="0" marL="0">
              <a:buNone/>
            </a:pPr>
            <a:r>
              <a:rPr lang="en-US" sz="1300" b="1" dirty="0">
                <a:solidFill>
                  <a:srgbClr val="0F172A"/>
                </a:solidFill>
                <a:latin typeface="Segoe UI" pitchFamily="34" charset="0"/>
                <a:ea typeface="Segoe UI" pitchFamily="34" charset="-122"/>
                <a:cs typeface="Segoe UI" pitchFamily="34" charset="-120"/>
              </a:rPr>
              <a:t>Customers</a:t>
            </a:r>
            <a:endParaRPr lang="en-US" sz="1300" dirty="0"/>
          </a:p>
        </p:txBody>
      </p:sp>
      <p:sp>
        <p:nvSpPr>
          <p:cNvPr id="37" name="Text 34"/>
          <p:cNvSpPr txBox="1"/>
          <p:nvPr/>
        </p:nvSpPr>
        <p:spPr>
          <a:xfrm>
            <a:off x="7452177" y="5760720"/>
            <a:ext cx="1798259" cy="457200"/>
          </a:xfrm>
          <a:prstGeom prst="rect">
            <a:avLst/>
          </a:prstGeom>
          <a:noFill/>
          <a:ln/>
        </p:spPr>
        <p:txBody>
          <a:bodyPr wrap="square" lIns="0" tIns="0" rIns="0" bIns="0" rtlCol="0" anchor="t"/>
          <a:lstStyle/>
          <a:p>
            <a:pPr indent="0" marL="0">
              <a:buNone/>
            </a:pPr>
            <a:r>
              <a:rPr lang="en-US" sz="1100" dirty="0">
                <a:solidFill>
                  <a:srgbClr val="64748B"/>
                </a:solidFill>
                <a:latin typeface="Segoe UI" pitchFamily="34" charset="0"/>
                <a:ea typeface="Segoe UI" pitchFamily="34" charset="-122"/>
                <a:cs typeface="Segoe UI" pitchFamily="34" charset="-120"/>
              </a:rPr>
              <a:t>better-informed staff</a:t>
            </a:r>
            <a:endParaRPr lang="en-US" sz="1100" dirty="0"/>
          </a:p>
        </p:txBody>
      </p:sp>
      <p:sp>
        <p:nvSpPr>
          <p:cNvPr id="38" name="Shape 35"/>
          <p:cNvSpPr/>
          <p:nvPr/>
        </p:nvSpPr>
        <p:spPr>
          <a:xfrm>
            <a:off x="9570476" y="5394960"/>
            <a:ext cx="2072579" cy="868680"/>
          </a:xfrm>
          <a:prstGeom prst="roundRect">
            <a:avLst>
              <a:gd name="adj" fmla="val 12632"/>
            </a:avLst>
          </a:prstGeom>
          <a:solidFill>
            <a:srgbClr val="F8FAFC"/>
          </a:solidFill>
          <a:ln w="12700">
            <a:solidFill>
              <a:srgbClr val="E2E8F0"/>
            </a:solidFill>
            <a:prstDash val="solid"/>
          </a:ln>
        </p:spPr>
      </p:sp>
      <p:sp>
        <p:nvSpPr>
          <p:cNvPr id="39" name="Text 36"/>
          <p:cNvSpPr txBox="1"/>
          <p:nvPr/>
        </p:nvSpPr>
        <p:spPr>
          <a:xfrm>
            <a:off x="9707636" y="5468112"/>
            <a:ext cx="1798259" cy="274320"/>
          </a:xfrm>
          <a:prstGeom prst="rect">
            <a:avLst/>
          </a:prstGeom>
          <a:noFill/>
          <a:ln/>
        </p:spPr>
        <p:txBody>
          <a:bodyPr wrap="square" lIns="0" tIns="0" rIns="0" bIns="0" rtlCol="0" anchor="t"/>
          <a:lstStyle/>
          <a:p>
            <a:pPr indent="0" marL="0">
              <a:buNone/>
            </a:pPr>
            <a:r>
              <a:rPr lang="en-US" sz="1300" b="1" dirty="0">
                <a:solidFill>
                  <a:srgbClr val="0F172A"/>
                </a:solidFill>
                <a:latin typeface="Segoe UI" pitchFamily="34" charset="0"/>
                <a:ea typeface="Segoe UI" pitchFamily="34" charset="-122"/>
                <a:cs typeface="Segoe UI" pitchFamily="34" charset="-120"/>
              </a:rPr>
              <a:t>SMEs &amp; nonprofits</a:t>
            </a:r>
            <a:endParaRPr lang="en-US" sz="1300" dirty="0"/>
          </a:p>
        </p:txBody>
      </p:sp>
      <p:sp>
        <p:nvSpPr>
          <p:cNvPr id="40" name="Text 37"/>
          <p:cNvSpPr txBox="1"/>
          <p:nvPr/>
        </p:nvSpPr>
        <p:spPr>
          <a:xfrm>
            <a:off x="9707636" y="5760720"/>
            <a:ext cx="1798259" cy="457200"/>
          </a:xfrm>
          <a:prstGeom prst="rect">
            <a:avLst/>
          </a:prstGeom>
          <a:noFill/>
          <a:ln/>
        </p:spPr>
        <p:txBody>
          <a:bodyPr wrap="square" lIns="0" tIns="0" rIns="0" bIns="0" rtlCol="0" anchor="t"/>
          <a:lstStyle/>
          <a:p>
            <a:pPr indent="0" marL="0">
              <a:buNone/>
            </a:pPr>
            <a:r>
              <a:rPr lang="en-US" sz="1100" dirty="0">
                <a:solidFill>
                  <a:srgbClr val="64748B"/>
                </a:solidFill>
                <a:latin typeface="Segoe UI" pitchFamily="34" charset="0"/>
                <a:ea typeface="Segoe UI" pitchFamily="34" charset="-122"/>
                <a:cs typeface="Segoe UI" pitchFamily="34" charset="-120"/>
              </a:rPr>
              <a:t>role-play they could never staff</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lstStyle/>
          <a:p>
            <a:pPr indent="0" marL="0">
              <a:buNone/>
            </a:pPr>
            <a:r>
              <a:rPr lang="en-US" sz="1300" b="1" spc="100" kern="0" dirty="0">
                <a:solidFill>
                  <a:srgbClr val="4F46E5"/>
                </a:solidFill>
                <a:latin typeface="Segoe UI" pitchFamily="34" charset="0"/>
                <a:ea typeface="Segoe UI" pitchFamily="34" charset="-122"/>
                <a:cs typeface="Segoe UI" pitchFamily="34" charset="-120"/>
              </a:rPr>
              <a:t>FEASIBILITY AND SCALABILITY</a:t>
            </a:r>
            <a:endParaRPr lang="en-US" sz="1300" dirty="0"/>
          </a:p>
        </p:txBody>
      </p:sp>
      <p:sp>
        <p:nvSpPr>
          <p:cNvPr id="3" name="Text 1"/>
          <p:cNvSpPr/>
          <p:nvPr>
            <p:ph idx="102" type="title" hasCustomPrompt="1"/>
          </p:nvPr>
        </p:nvSpPr>
        <p:spPr>
          <a:xfrm>
            <a:off x="548640" y="694944"/>
            <a:ext cx="11094415" cy="914400"/>
          </a:xfrm>
          <a:prstGeom prst="rect">
            <a:avLst/>
          </a:prstGeom>
          <a:noFill/>
          <a:ln/>
        </p:spPr>
        <p:txBody>
          <a:bodyPr wrap="square" lIns="0" tIns="0" rIns="0" bIns="0" rtlCol="0" anchor="t"/>
          <a:lstStyle/>
          <a:p>
            <a:pPr algn="l" indent="0" marL="0">
              <a:buNone/>
            </a:pPr>
            <a:r>
              <a:rPr lang="en-US" sz="2800" b="1" dirty="0">
                <a:solidFill>
                  <a:srgbClr val="0F172A"/>
                </a:solidFill>
                <a:latin typeface="Segoe UI" pitchFamily="34" charset="0"/>
                <a:ea typeface="Segoe UI" pitchFamily="34" charset="-122"/>
                <a:cs typeface="Segoe UI" pitchFamily="34" charset="-120"/>
              </a:rPr>
              <a:t>Working today on managed Google Cloud; onboarding a new company means uploading documents, not writing code</a:t>
            </a:r>
            <a:endParaRPr lang="en-US" sz="2800" dirty="0"/>
          </a:p>
        </p:txBody>
      </p:sp>
      <p:sp>
        <p:nvSpPr>
          <p:cNvPr id="5" name="Shape 2"/>
          <p:cNvSpPr/>
          <p:nvPr/>
        </p:nvSpPr>
        <p:spPr>
          <a:xfrm>
            <a:off x="548640" y="1828800"/>
            <a:ext cx="2036003" cy="1234440"/>
          </a:xfrm>
          <a:prstGeom prst="roundRect">
            <a:avLst>
              <a:gd name="adj" fmla="val 8889"/>
            </a:avLst>
          </a:prstGeom>
          <a:solidFill>
            <a:srgbClr val="FFFFFF"/>
          </a:solidFill>
          <a:ln w="12700">
            <a:solidFill>
              <a:srgbClr val="E2E8F0"/>
            </a:solidFill>
            <a:prstDash val="solid"/>
          </a:ln>
          <a:effectLst>
            <a:outerShdw sx="100000" sy="100000" kx="0" ky="0" algn="bl" rotWithShape="0" blurRad="101600" dist="25400" dir="5400000">
              <a:srgbClr val="0F172A">
                <a:alpha val="8000"/>
              </a:srgbClr>
            </a:outerShdw>
          </a:effectLst>
        </p:spPr>
      </p:sp>
      <p:sp>
        <p:nvSpPr>
          <p:cNvPr id="6" name="Text 3"/>
          <p:cNvSpPr txBox="1"/>
          <p:nvPr/>
        </p:nvSpPr>
        <p:spPr>
          <a:xfrm>
            <a:off x="731520" y="1938528"/>
            <a:ext cx="1670243" cy="640080"/>
          </a:xfrm>
          <a:prstGeom prst="rect">
            <a:avLst/>
          </a:prstGeom>
          <a:noFill/>
          <a:ln/>
        </p:spPr>
        <p:txBody>
          <a:bodyPr wrap="square" lIns="0" tIns="0" rIns="0" bIns="0" rtlCol="0" anchor="t"/>
          <a:lstStyle/>
          <a:p>
            <a:pPr indent="0" marL="0">
              <a:buNone/>
            </a:pPr>
            <a:r>
              <a:rPr lang="en-US" sz="3200" b="1" dirty="0">
                <a:solidFill>
                  <a:srgbClr val="4F46E5"/>
                </a:solidFill>
                <a:latin typeface="Segoe UI" pitchFamily="34" charset="0"/>
                <a:ea typeface="Segoe UI" pitchFamily="34" charset="-122"/>
                <a:cs typeface="Segoe UI" pitchFamily="34" charset="-120"/>
              </a:rPr>
              <a:t>~1 s</a:t>
            </a:r>
            <a:endParaRPr lang="en-US" sz="3200" dirty="0"/>
          </a:p>
        </p:txBody>
      </p:sp>
      <p:sp>
        <p:nvSpPr>
          <p:cNvPr id="7" name="Text 4"/>
          <p:cNvSpPr txBox="1"/>
          <p:nvPr/>
        </p:nvSpPr>
        <p:spPr>
          <a:xfrm>
            <a:off x="731520" y="2606040"/>
            <a:ext cx="1670243" cy="32004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Compliance Guard</a:t>
            </a:r>
            <a:endParaRPr lang="en-US" sz="1300" dirty="0"/>
          </a:p>
        </p:txBody>
      </p:sp>
      <p:sp>
        <p:nvSpPr>
          <p:cNvPr id="8" name="Shape 5"/>
          <p:cNvSpPr/>
          <p:nvPr/>
        </p:nvSpPr>
        <p:spPr>
          <a:xfrm>
            <a:off x="2813243" y="1828800"/>
            <a:ext cx="2036003" cy="1234440"/>
          </a:xfrm>
          <a:prstGeom prst="roundRect">
            <a:avLst>
              <a:gd name="adj" fmla="val 8889"/>
            </a:avLst>
          </a:prstGeom>
          <a:solidFill>
            <a:srgbClr val="FFFFFF"/>
          </a:solidFill>
          <a:ln w="12700">
            <a:solidFill>
              <a:srgbClr val="E2E8F0"/>
            </a:solidFill>
            <a:prstDash val="solid"/>
          </a:ln>
          <a:effectLst>
            <a:outerShdw sx="100000" sy="100000" kx="0" ky="0" algn="bl" rotWithShape="0" blurRad="101600" dist="25400" dir="5400000">
              <a:srgbClr val="0F172A">
                <a:alpha val="8000"/>
              </a:srgbClr>
            </a:outerShdw>
          </a:effectLst>
        </p:spPr>
      </p:sp>
      <p:sp>
        <p:nvSpPr>
          <p:cNvPr id="9" name="Text 6"/>
          <p:cNvSpPr txBox="1"/>
          <p:nvPr/>
        </p:nvSpPr>
        <p:spPr>
          <a:xfrm>
            <a:off x="2996123" y="1938528"/>
            <a:ext cx="1670243" cy="640080"/>
          </a:xfrm>
          <a:prstGeom prst="rect">
            <a:avLst/>
          </a:prstGeom>
          <a:noFill/>
          <a:ln/>
        </p:spPr>
        <p:txBody>
          <a:bodyPr wrap="square" lIns="0" tIns="0" rIns="0" bIns="0" rtlCol="0" anchor="t"/>
          <a:lstStyle/>
          <a:p>
            <a:pPr indent="0" marL="0">
              <a:buNone/>
            </a:pPr>
            <a:r>
              <a:rPr lang="en-US" sz="3200" b="1" dirty="0">
                <a:solidFill>
                  <a:srgbClr val="4F46E5"/>
                </a:solidFill>
                <a:latin typeface="Segoe UI" pitchFamily="34" charset="0"/>
                <a:ea typeface="Segoe UI" pitchFamily="34" charset="-122"/>
                <a:cs typeface="Segoe UI" pitchFamily="34" charset="-120"/>
              </a:rPr>
              <a:t>2.0-2.7 s</a:t>
            </a:r>
            <a:endParaRPr lang="en-US" sz="3200" dirty="0"/>
          </a:p>
        </p:txBody>
      </p:sp>
      <p:sp>
        <p:nvSpPr>
          <p:cNvPr id="10" name="Text 7"/>
          <p:cNvSpPr txBox="1"/>
          <p:nvPr/>
        </p:nvSpPr>
        <p:spPr>
          <a:xfrm>
            <a:off x="2996123" y="2606040"/>
            <a:ext cx="1670243" cy="32004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first token</a:t>
            </a:r>
            <a:endParaRPr lang="en-US" sz="1300" dirty="0"/>
          </a:p>
        </p:txBody>
      </p:sp>
      <p:sp>
        <p:nvSpPr>
          <p:cNvPr id="11" name="Shape 8"/>
          <p:cNvSpPr/>
          <p:nvPr/>
        </p:nvSpPr>
        <p:spPr>
          <a:xfrm>
            <a:off x="5077846" y="1828800"/>
            <a:ext cx="2036003" cy="1234440"/>
          </a:xfrm>
          <a:prstGeom prst="roundRect">
            <a:avLst>
              <a:gd name="adj" fmla="val 8889"/>
            </a:avLst>
          </a:prstGeom>
          <a:solidFill>
            <a:srgbClr val="FFFFFF"/>
          </a:solidFill>
          <a:ln w="12700">
            <a:solidFill>
              <a:srgbClr val="E2E8F0"/>
            </a:solidFill>
            <a:prstDash val="solid"/>
          </a:ln>
          <a:effectLst>
            <a:outerShdw sx="100000" sy="100000" kx="0" ky="0" algn="bl" rotWithShape="0" blurRad="101600" dist="25400" dir="5400000">
              <a:srgbClr val="0F172A">
                <a:alpha val="8000"/>
              </a:srgbClr>
            </a:outerShdw>
          </a:effectLst>
        </p:spPr>
      </p:sp>
      <p:sp>
        <p:nvSpPr>
          <p:cNvPr id="12" name="Text 9"/>
          <p:cNvSpPr txBox="1"/>
          <p:nvPr/>
        </p:nvSpPr>
        <p:spPr>
          <a:xfrm>
            <a:off x="5260726" y="1938528"/>
            <a:ext cx="1670243" cy="640080"/>
          </a:xfrm>
          <a:prstGeom prst="rect">
            <a:avLst/>
          </a:prstGeom>
          <a:noFill/>
          <a:ln/>
        </p:spPr>
        <p:txBody>
          <a:bodyPr wrap="square" lIns="0" tIns="0" rIns="0" bIns="0" rtlCol="0" anchor="t"/>
          <a:lstStyle/>
          <a:p>
            <a:pPr indent="0" marL="0">
              <a:buNone/>
            </a:pPr>
            <a:r>
              <a:rPr lang="en-US" sz="3200" b="1" dirty="0">
                <a:solidFill>
                  <a:srgbClr val="4F46E5"/>
                </a:solidFill>
                <a:latin typeface="Segoe UI" pitchFamily="34" charset="0"/>
                <a:ea typeface="Segoe UI" pitchFamily="34" charset="-122"/>
                <a:cs typeface="Segoe UI" pitchFamily="34" charset="-120"/>
              </a:rPr>
              <a:t>~5 s</a:t>
            </a:r>
            <a:endParaRPr lang="en-US" sz="3200" dirty="0"/>
          </a:p>
        </p:txBody>
      </p:sp>
      <p:sp>
        <p:nvSpPr>
          <p:cNvPr id="13" name="Text 10"/>
          <p:cNvSpPr txBox="1"/>
          <p:nvPr/>
        </p:nvSpPr>
        <p:spPr>
          <a:xfrm>
            <a:off x="5260726" y="2606040"/>
            <a:ext cx="1670243" cy="32004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full turn</a:t>
            </a:r>
            <a:endParaRPr lang="en-US" sz="1300" dirty="0"/>
          </a:p>
        </p:txBody>
      </p:sp>
      <p:sp>
        <p:nvSpPr>
          <p:cNvPr id="14" name="Shape 11"/>
          <p:cNvSpPr/>
          <p:nvPr/>
        </p:nvSpPr>
        <p:spPr>
          <a:xfrm>
            <a:off x="7342449" y="1828800"/>
            <a:ext cx="2036003" cy="1234440"/>
          </a:xfrm>
          <a:prstGeom prst="roundRect">
            <a:avLst>
              <a:gd name="adj" fmla="val 8889"/>
            </a:avLst>
          </a:prstGeom>
          <a:solidFill>
            <a:srgbClr val="FFFFFF"/>
          </a:solidFill>
          <a:ln w="12700">
            <a:solidFill>
              <a:srgbClr val="E2E8F0"/>
            </a:solidFill>
            <a:prstDash val="solid"/>
          </a:ln>
          <a:effectLst>
            <a:outerShdw sx="100000" sy="100000" kx="0" ky="0" algn="bl" rotWithShape="0" blurRad="101600" dist="25400" dir="5400000">
              <a:srgbClr val="0F172A">
                <a:alpha val="8000"/>
              </a:srgbClr>
            </a:outerShdw>
          </a:effectLst>
        </p:spPr>
      </p:sp>
      <p:sp>
        <p:nvSpPr>
          <p:cNvPr id="15" name="Text 12"/>
          <p:cNvSpPr txBox="1"/>
          <p:nvPr/>
        </p:nvSpPr>
        <p:spPr>
          <a:xfrm>
            <a:off x="7525329" y="1938528"/>
            <a:ext cx="1670243" cy="640080"/>
          </a:xfrm>
          <a:prstGeom prst="rect">
            <a:avLst/>
          </a:prstGeom>
          <a:noFill/>
          <a:ln/>
        </p:spPr>
        <p:txBody>
          <a:bodyPr wrap="square" lIns="0" tIns="0" rIns="0" bIns="0" rtlCol="0" anchor="t"/>
          <a:lstStyle/>
          <a:p>
            <a:pPr indent="0" marL="0">
              <a:buNone/>
            </a:pPr>
            <a:r>
              <a:rPr lang="en-US" sz="3200" b="1" dirty="0">
                <a:solidFill>
                  <a:srgbClr val="4F46E5"/>
                </a:solidFill>
                <a:latin typeface="Segoe UI" pitchFamily="34" charset="0"/>
                <a:ea typeface="Segoe UI" pitchFamily="34" charset="-122"/>
                <a:cs typeface="Segoe UI" pitchFamily="34" charset="-120"/>
              </a:rPr>
              <a:t>~6 s</a:t>
            </a:r>
            <a:endParaRPr lang="en-US" sz="3200" dirty="0"/>
          </a:p>
        </p:txBody>
      </p:sp>
      <p:sp>
        <p:nvSpPr>
          <p:cNvPr id="16" name="Text 13"/>
          <p:cNvSpPr txBox="1"/>
          <p:nvPr/>
        </p:nvSpPr>
        <p:spPr>
          <a:xfrm>
            <a:off x="7525329" y="2606040"/>
            <a:ext cx="1670243" cy="32004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end-of-session report</a:t>
            </a:r>
            <a:endParaRPr lang="en-US" sz="1300" dirty="0"/>
          </a:p>
        </p:txBody>
      </p:sp>
      <p:sp>
        <p:nvSpPr>
          <p:cNvPr id="17" name="Shape 14"/>
          <p:cNvSpPr/>
          <p:nvPr/>
        </p:nvSpPr>
        <p:spPr>
          <a:xfrm>
            <a:off x="9607052" y="1828800"/>
            <a:ext cx="2036003" cy="1234440"/>
          </a:xfrm>
          <a:prstGeom prst="roundRect">
            <a:avLst>
              <a:gd name="adj" fmla="val 8889"/>
            </a:avLst>
          </a:prstGeom>
          <a:solidFill>
            <a:srgbClr val="FFFFFF"/>
          </a:solidFill>
          <a:ln w="12700">
            <a:solidFill>
              <a:srgbClr val="E2E8F0"/>
            </a:solidFill>
            <a:prstDash val="solid"/>
          </a:ln>
          <a:effectLst>
            <a:outerShdw sx="100000" sy="100000" kx="0" ky="0" algn="bl" rotWithShape="0" blurRad="101600" dist="25400" dir="5400000">
              <a:srgbClr val="0F172A">
                <a:alpha val="8000"/>
              </a:srgbClr>
            </a:outerShdw>
          </a:effectLst>
        </p:spPr>
      </p:sp>
      <p:sp>
        <p:nvSpPr>
          <p:cNvPr id="18" name="Text 15"/>
          <p:cNvSpPr txBox="1"/>
          <p:nvPr/>
        </p:nvSpPr>
        <p:spPr>
          <a:xfrm>
            <a:off x="9789932" y="1938528"/>
            <a:ext cx="1670243" cy="640080"/>
          </a:xfrm>
          <a:prstGeom prst="rect">
            <a:avLst/>
          </a:prstGeom>
          <a:noFill/>
          <a:ln/>
        </p:spPr>
        <p:txBody>
          <a:bodyPr wrap="square" lIns="0" tIns="0" rIns="0" bIns="0" rtlCol="0" anchor="t"/>
          <a:lstStyle/>
          <a:p>
            <a:pPr indent="0" marL="0">
              <a:buNone/>
            </a:pPr>
            <a:r>
              <a:rPr lang="en-US" sz="3200" b="1" dirty="0">
                <a:solidFill>
                  <a:srgbClr val="4F46E5"/>
                </a:solidFill>
                <a:latin typeface="Segoe UI" pitchFamily="34" charset="0"/>
                <a:ea typeface="Segoe UI" pitchFamily="34" charset="-122"/>
                <a:cs typeface="Segoe UI" pitchFamily="34" charset="-120"/>
              </a:rPr>
              <a:t>18-40 s</a:t>
            </a:r>
            <a:endParaRPr lang="en-US" sz="3200" dirty="0"/>
          </a:p>
        </p:txBody>
      </p:sp>
      <p:sp>
        <p:nvSpPr>
          <p:cNvPr id="19" name="Text 16"/>
          <p:cNvSpPr txBox="1"/>
          <p:nvPr/>
        </p:nvSpPr>
        <p:spPr>
          <a:xfrm>
            <a:off x="9789932" y="2606040"/>
            <a:ext cx="1670243" cy="32004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persona / scenario generation</a:t>
            </a:r>
            <a:endParaRPr lang="en-US" sz="1300" dirty="0"/>
          </a:p>
        </p:txBody>
      </p:sp>
      <p:sp>
        <p:nvSpPr>
          <p:cNvPr id="20" name="Text 17"/>
          <p:cNvSpPr txBox="1"/>
          <p:nvPr/>
        </p:nvSpPr>
        <p:spPr>
          <a:xfrm>
            <a:off x="548640" y="3154680"/>
            <a:ext cx="11094415" cy="256032"/>
          </a:xfrm>
          <a:prstGeom prst="rect">
            <a:avLst/>
          </a:prstGeom>
          <a:noFill/>
          <a:ln/>
        </p:spPr>
        <p:txBody>
          <a:bodyPr wrap="square" lIns="0" tIns="0" rIns="0" bIns="0" rtlCol="0" anchor="t"/>
          <a:lstStyle/>
          <a:p>
            <a:pPr indent="0" marL="0">
              <a:buNone/>
            </a:pPr>
            <a:r>
              <a:rPr lang="en-US" sz="1000" i="1" dirty="0">
                <a:solidFill>
                  <a:srgbClr val="64748B"/>
                </a:solidFill>
                <a:latin typeface="Segoe UI" pitchFamily="34" charset="0"/>
                <a:ea typeface="Segoe UI" pitchFamily="34" charset="-122"/>
                <a:cs typeface="Segoe UI" pitchFamily="34" charset="-120"/>
              </a:rPr>
              <a:t>Measured on the deployed Cloud Run build with real Gemini (Gemini 4 Argon, 3.5 Flash-Lite), 2026-10-16. Generation: 106 of 106 citations verified.</a:t>
            </a:r>
            <a:endParaRPr lang="en-US" sz="1000" dirty="0"/>
          </a:p>
        </p:txBody>
      </p:sp>
      <p:sp>
        <p:nvSpPr>
          <p:cNvPr id="21" name="Shape 18"/>
          <p:cNvSpPr/>
          <p:nvPr/>
        </p:nvSpPr>
        <p:spPr>
          <a:xfrm>
            <a:off x="548640" y="3611880"/>
            <a:ext cx="3484778" cy="2651760"/>
          </a:xfrm>
          <a:prstGeom prst="roundRect">
            <a:avLst>
              <a:gd name="adj" fmla="val 4138"/>
            </a:avLst>
          </a:prstGeom>
          <a:solidFill>
            <a:srgbClr val="F8FAFC"/>
          </a:solidFill>
          <a:ln w="12700">
            <a:solidFill>
              <a:srgbClr val="E2E8F0"/>
            </a:solidFill>
            <a:prstDash val="solid"/>
          </a:ln>
        </p:spPr>
      </p:sp>
      <p:sp>
        <p:nvSpPr>
          <p:cNvPr id="22" name="Text 19"/>
          <p:cNvSpPr txBox="1"/>
          <p:nvPr/>
        </p:nvSpPr>
        <p:spPr>
          <a:xfrm>
            <a:off x="822960" y="3767328"/>
            <a:ext cx="2936138" cy="365760"/>
          </a:xfrm>
          <a:prstGeom prst="rect">
            <a:avLst/>
          </a:prstGeom>
          <a:noFill/>
          <a:ln/>
        </p:spPr>
        <p:txBody>
          <a:bodyPr wrap="square" lIns="0" tIns="0" rIns="0" bIns="0" rtlCol="0" anchor="t"/>
          <a:lstStyle/>
          <a:p>
            <a:pPr indent="0" marL="0">
              <a:buNone/>
            </a:pPr>
            <a:r>
              <a:rPr lang="en-US" sz="1600" b="1" dirty="0">
                <a:solidFill>
                  <a:srgbClr val="0F172A"/>
                </a:solidFill>
                <a:latin typeface="Segoe UI" pitchFamily="34" charset="0"/>
                <a:ea typeface="Segoe UI" pitchFamily="34" charset="-122"/>
                <a:cs typeface="Segoe UI" pitchFamily="34" charset="-120"/>
              </a:rPr>
              <a:t>Feasible now</a:t>
            </a:r>
            <a:endParaRPr lang="en-US" sz="1600" dirty="0"/>
          </a:p>
        </p:txBody>
      </p:sp>
      <p:sp>
        <p:nvSpPr>
          <p:cNvPr id="23" name="Text 20"/>
          <p:cNvSpPr txBox="1"/>
          <p:nvPr/>
        </p:nvSpPr>
        <p:spPr>
          <a:xfrm>
            <a:off x="822960" y="4206240"/>
            <a:ext cx="2936138" cy="19659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334155"/>
                </a:solidFill>
                <a:latin typeface="Segoe UI" pitchFamily="34" charset="0"/>
                <a:ea typeface="Segoe UI" pitchFamily="34" charset="-122"/>
                <a:cs typeface="Segoe UI" pitchFamily="34" charset="-120"/>
              </a:rPr>
              <a:t>Deployed on Cloud Run with real Gemini</a:t>
            </a:r>
            <a:endParaRPr lang="en-US" sz="1300" dirty="0"/>
          </a:p>
          <a:p>
            <a:pPr marL="177800" indent="-177800">
              <a:spcAft>
                <a:spcPts val="600"/>
              </a:spcAft>
              <a:buSzPct val="100000"/>
              <a:buChar char="•"/>
            </a:pPr>
            <a:r>
              <a:rPr lang="en-US" sz="1300" dirty="0">
                <a:solidFill>
                  <a:srgbClr val="334155"/>
                </a:solidFill>
                <a:latin typeface="Segoe UI" pitchFamily="34" charset="0"/>
                <a:ea typeface="Segoe UI" pitchFamily="34" charset="-122"/>
                <a:cs typeface="Segoe UI" pitchFamily="34" charset="-120"/>
              </a:rPr>
              <a:t>No custom model training</a:t>
            </a:r>
            <a:endParaRPr lang="en-US" sz="1300" dirty="0"/>
          </a:p>
          <a:p>
            <a:pPr marL="177800" indent="-177800">
              <a:spcAft>
                <a:spcPts val="600"/>
              </a:spcAft>
              <a:buSzPct val="100000"/>
              <a:buChar char="•"/>
            </a:pPr>
            <a:r>
              <a:rPr lang="en-US" sz="1300" dirty="0">
                <a:solidFill>
                  <a:srgbClr val="334155"/>
                </a:solidFill>
                <a:latin typeface="Segoe UI" pitchFamily="34" charset="0"/>
                <a:ea typeface="Segoe UI" pitchFamily="34" charset="-122"/>
                <a:cs typeface="Segoe UI" pitchFamily="34" charset="-120"/>
              </a:rPr>
              <a:t>A new tenant uploads documents, approves generated personas and reviews a scenario</a:t>
            </a:r>
            <a:endParaRPr lang="en-US" sz="1300" dirty="0"/>
          </a:p>
        </p:txBody>
      </p:sp>
      <p:sp>
        <p:nvSpPr>
          <p:cNvPr id="24" name="Shape 21"/>
          <p:cNvSpPr/>
          <p:nvPr/>
        </p:nvSpPr>
        <p:spPr>
          <a:xfrm>
            <a:off x="4353458" y="3611880"/>
            <a:ext cx="3484778" cy="2651760"/>
          </a:xfrm>
          <a:prstGeom prst="roundRect">
            <a:avLst>
              <a:gd name="adj" fmla="val 4138"/>
            </a:avLst>
          </a:prstGeom>
          <a:solidFill>
            <a:srgbClr val="F8FAFC"/>
          </a:solidFill>
          <a:ln w="12700">
            <a:solidFill>
              <a:srgbClr val="E2E8F0"/>
            </a:solidFill>
            <a:prstDash val="solid"/>
          </a:ln>
        </p:spPr>
      </p:sp>
      <p:sp>
        <p:nvSpPr>
          <p:cNvPr id="25" name="Text 22"/>
          <p:cNvSpPr txBox="1"/>
          <p:nvPr/>
        </p:nvSpPr>
        <p:spPr>
          <a:xfrm>
            <a:off x="4627778" y="3767328"/>
            <a:ext cx="2936138" cy="365760"/>
          </a:xfrm>
          <a:prstGeom prst="rect">
            <a:avLst/>
          </a:prstGeom>
          <a:noFill/>
          <a:ln/>
        </p:spPr>
        <p:txBody>
          <a:bodyPr wrap="square" lIns="0" tIns="0" rIns="0" bIns="0" rtlCol="0" anchor="t"/>
          <a:lstStyle/>
          <a:p>
            <a:pPr indent="0" marL="0">
              <a:buNone/>
            </a:pPr>
            <a:r>
              <a:rPr lang="en-US" sz="1600" b="1" dirty="0">
                <a:solidFill>
                  <a:srgbClr val="0F172A"/>
                </a:solidFill>
                <a:latin typeface="Segoe UI" pitchFamily="34" charset="0"/>
                <a:ea typeface="Segoe UI" pitchFamily="34" charset="-122"/>
                <a:cs typeface="Segoe UI" pitchFamily="34" charset="-120"/>
              </a:rPr>
              <a:t>Scales</a:t>
            </a:r>
            <a:endParaRPr lang="en-US" sz="1600" dirty="0"/>
          </a:p>
        </p:txBody>
      </p:sp>
      <p:sp>
        <p:nvSpPr>
          <p:cNvPr id="26" name="Text 23"/>
          <p:cNvSpPr txBox="1"/>
          <p:nvPr/>
        </p:nvSpPr>
        <p:spPr>
          <a:xfrm>
            <a:off x="4627778" y="4206240"/>
            <a:ext cx="2936138" cy="19659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334155"/>
                </a:solidFill>
                <a:latin typeface="Segoe UI" pitchFamily="34" charset="0"/>
                <a:ea typeface="Segoe UI" pitchFamily="34" charset="-122"/>
                <a:cs typeface="Segoe UI" pitchFamily="34" charset="-120"/>
              </a:rPr>
              <a:t>Stateless Cloud Run autoscaling, Firestore per tenant</a:t>
            </a:r>
            <a:endParaRPr lang="en-US" sz="1300" dirty="0"/>
          </a:p>
          <a:p>
            <a:pPr marL="177800" indent="-177800">
              <a:spcAft>
                <a:spcPts val="600"/>
              </a:spcAft>
              <a:buSzPct val="100000"/>
              <a:buChar char="•"/>
            </a:pPr>
            <a:r>
              <a:rPr lang="en-US" sz="1300" dirty="0">
                <a:solidFill>
                  <a:srgbClr val="334155"/>
                </a:solidFill>
                <a:latin typeface="Segoe UI" pitchFamily="34" charset="0"/>
                <a:ea typeface="Segoe UI" pitchFamily="34" charset="-122"/>
                <a:cs typeface="Segoe UI" pitchFamily="34" charset="-120"/>
              </a:rPr>
              <a:t>Flash-Lite for the per-turn judgments to keep cost down</a:t>
            </a:r>
            <a:endParaRPr lang="en-US" sz="1300" dirty="0"/>
          </a:p>
          <a:p>
            <a:pPr marL="177800" indent="-177800">
              <a:spcAft>
                <a:spcPts val="600"/>
              </a:spcAft>
              <a:buSzPct val="100000"/>
              <a:buChar char="•"/>
            </a:pPr>
            <a:r>
              <a:rPr lang="en-US" sz="1300" dirty="0">
                <a:solidFill>
                  <a:srgbClr val="334155"/>
                </a:solidFill>
                <a:latin typeface="Segoe UI" pitchFamily="34" charset="0"/>
                <a:ea typeface="Segoe UI" pitchFamily="34" charset="-122"/>
                <a:cs typeface="Segoe UI" pitchFamily="34" charset="-120"/>
              </a:rPr>
              <a:t>Model cost well under US$2 per seat per month at 8 sessions per rep (estimate)</a:t>
            </a:r>
            <a:endParaRPr lang="en-US" sz="1300" dirty="0"/>
          </a:p>
        </p:txBody>
      </p:sp>
      <p:sp>
        <p:nvSpPr>
          <p:cNvPr id="27" name="Shape 24"/>
          <p:cNvSpPr/>
          <p:nvPr/>
        </p:nvSpPr>
        <p:spPr>
          <a:xfrm>
            <a:off x="8158277" y="3611880"/>
            <a:ext cx="3484778" cy="2651760"/>
          </a:xfrm>
          <a:prstGeom prst="roundRect">
            <a:avLst>
              <a:gd name="adj" fmla="val 4138"/>
            </a:avLst>
          </a:prstGeom>
          <a:solidFill>
            <a:srgbClr val="FFFBEB"/>
          </a:solidFill>
          <a:ln w="12700">
            <a:solidFill>
              <a:srgbClr val="FDE68A"/>
            </a:solidFill>
            <a:prstDash val="solid"/>
          </a:ln>
        </p:spPr>
      </p:sp>
      <p:sp>
        <p:nvSpPr>
          <p:cNvPr id="28" name="Text 25"/>
          <p:cNvSpPr txBox="1"/>
          <p:nvPr/>
        </p:nvSpPr>
        <p:spPr>
          <a:xfrm>
            <a:off x="8432597" y="3767328"/>
            <a:ext cx="2936138" cy="365760"/>
          </a:xfrm>
          <a:prstGeom prst="rect">
            <a:avLst/>
          </a:prstGeom>
          <a:noFill/>
          <a:ln/>
        </p:spPr>
        <p:txBody>
          <a:bodyPr wrap="square" lIns="0" tIns="0" rIns="0" bIns="0" rtlCol="0" anchor="t"/>
          <a:lstStyle/>
          <a:p>
            <a:pPr indent="0" marL="0">
              <a:buNone/>
            </a:pPr>
            <a:r>
              <a:rPr lang="en-US" sz="1600" b="1" dirty="0">
                <a:solidFill>
                  <a:srgbClr val="92400E"/>
                </a:solidFill>
                <a:latin typeface="Segoe UI" pitchFamily="34" charset="0"/>
                <a:ea typeface="Segoe UI" pitchFamily="34" charset="-122"/>
                <a:cs typeface="Segoe UI" pitchFamily="34" charset="-120"/>
              </a:rPr>
              <a:t>Honest limits</a:t>
            </a:r>
            <a:endParaRPr lang="en-US" sz="1600" dirty="0"/>
          </a:p>
        </p:txBody>
      </p:sp>
      <p:sp>
        <p:nvSpPr>
          <p:cNvPr id="29" name="Text 26"/>
          <p:cNvSpPr txBox="1"/>
          <p:nvPr/>
        </p:nvSpPr>
        <p:spPr>
          <a:xfrm>
            <a:off x="8432597" y="4206240"/>
            <a:ext cx="2936138" cy="19659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334155"/>
                </a:solidFill>
                <a:latin typeface="Segoe UI" pitchFamily="34" charset="0"/>
                <a:ea typeface="Segoe UI" pitchFamily="34" charset="-122"/>
                <a:cs typeface="Segoe UI" pitchFamily="34" charset="-120"/>
              </a:rPr>
              <a:t>Live wording varies by run; behavior is anchored in seed rules and triggers</a:t>
            </a:r>
            <a:endParaRPr lang="en-US" sz="1300" dirty="0"/>
          </a:p>
          <a:p>
            <a:pPr marL="177800" indent="-177800">
              <a:spcAft>
                <a:spcPts val="600"/>
              </a:spcAft>
              <a:buSzPct val="100000"/>
              <a:buChar char="•"/>
            </a:pPr>
            <a:r>
              <a:rPr lang="en-US" sz="1300" dirty="0">
                <a:solidFill>
                  <a:srgbClr val="334155"/>
                </a:solidFill>
                <a:latin typeface="Segoe UI" pitchFamily="34" charset="0"/>
                <a:ea typeface="Segoe UI" pitchFamily="34" charset="-122"/>
                <a:cs typeface="Segoe UI" pitchFamily="34" charset="-120"/>
              </a:rPr>
              <a:t>Data at rest and embeddings stay in asia-east1; Gemini generation runs on the Vertex AI global endpoint [S27]</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lstStyle/>
          <a:p>
            <a:pPr indent="0" marL="0">
              <a:buNone/>
            </a:pPr>
            <a:r>
              <a:rPr lang="en-US" sz="1300" b="1" spc="100" kern="0" dirty="0">
                <a:solidFill>
                  <a:srgbClr val="4F46E5"/>
                </a:solidFill>
                <a:latin typeface="Segoe UI" pitchFamily="34" charset="0"/>
                <a:ea typeface="Segoe UI" pitchFamily="34" charset="-122"/>
                <a:cs typeface="Segoe UI" pitchFamily="34" charset="-120"/>
              </a:rPr>
              <a:t>MARKET AND BUSINESS MODEL</a:t>
            </a:r>
            <a:endParaRPr lang="en-US" sz="1300" dirty="0"/>
          </a:p>
        </p:txBody>
      </p:sp>
      <p:sp>
        <p:nvSpPr>
          <p:cNvPr id="3" name="Text 1"/>
          <p:cNvSpPr/>
          <p:nvPr>
            <p:ph idx="102" type="title" hasCustomPrompt="1"/>
          </p:nvPr>
        </p:nvSpPr>
        <p:spPr>
          <a:xfrm>
            <a:off x="548640" y="694944"/>
            <a:ext cx="11094415" cy="914400"/>
          </a:xfrm>
          <a:prstGeom prst="rect">
            <a:avLst/>
          </a:prstGeom>
          <a:noFill/>
          <a:ln/>
        </p:spPr>
        <p:txBody>
          <a:bodyPr wrap="square" lIns="0" tIns="0" rIns="0" bIns="0" rtlCol="0" anchor="t"/>
          <a:lstStyle/>
          <a:p>
            <a:pPr algn="l" indent="0" marL="0">
              <a:buNone/>
            </a:pPr>
            <a:r>
              <a:rPr lang="en-US" sz="2800" b="1" dirty="0">
                <a:solidFill>
                  <a:srgbClr val="0F172A"/>
                </a:solidFill>
                <a:latin typeface="Segoe UI" pitchFamily="34" charset="0"/>
                <a:ea typeface="Segoe UI" pitchFamily="34" charset="-122"/>
                <a:cs typeface="Segoe UI" pitchFamily="34" charset="-120"/>
              </a:rPr>
              <a:t>Beachhead: insurance and financial advisors in Singapore. English first, built to localize</a:t>
            </a:r>
            <a:endParaRPr lang="en-US" sz="2800" dirty="0"/>
          </a:p>
        </p:txBody>
      </p:sp>
      <p:sp>
        <p:nvSpPr>
          <p:cNvPr id="5" name="Text 2"/>
          <p:cNvSpPr txBox="1"/>
          <p:nvPr/>
        </p:nvSpPr>
        <p:spPr>
          <a:xfrm>
            <a:off x="548640" y="1828800"/>
            <a:ext cx="4572000" cy="320040"/>
          </a:xfrm>
          <a:prstGeom prst="rect">
            <a:avLst/>
          </a:prstGeom>
          <a:noFill/>
          <a:ln/>
        </p:spPr>
        <p:txBody>
          <a:bodyPr wrap="square" lIns="0" tIns="0" rIns="0" bIns="0" rtlCol="0" anchor="t"/>
          <a:lstStyle/>
          <a:p>
            <a:pPr indent="0" marL="0">
              <a:buNone/>
            </a:pPr>
            <a:r>
              <a:rPr lang="en-US" sz="1500" b="1" dirty="0">
                <a:solidFill>
                  <a:srgbClr val="0F172A"/>
                </a:solidFill>
                <a:latin typeface="Segoe UI" pitchFamily="34" charset="0"/>
                <a:ea typeface="Segoe UI" pitchFamily="34" charset="-122"/>
                <a:cs typeface="Segoe UI" pitchFamily="34" charset="-120"/>
              </a:rPr>
              <a:t>Go-to-market waves</a:t>
            </a:r>
            <a:endParaRPr lang="en-US" sz="1500" dirty="0"/>
          </a:p>
        </p:txBody>
      </p:sp>
      <p:sp>
        <p:nvSpPr>
          <p:cNvPr id="6" name="Shape 3"/>
          <p:cNvSpPr/>
          <p:nvPr/>
        </p:nvSpPr>
        <p:spPr>
          <a:xfrm>
            <a:off x="548640" y="2286000"/>
            <a:ext cx="411480" cy="411480"/>
          </a:xfrm>
          <a:prstGeom prst="ellipse">
            <a:avLst/>
          </a:prstGeom>
          <a:solidFill>
            <a:srgbClr val="4F46E5"/>
          </a:solidFill>
          <a:ln w="12700">
            <a:solidFill>
              <a:srgbClr val="4F46E5"/>
            </a:solidFill>
            <a:prstDash val="solid"/>
          </a:ln>
        </p:spPr>
      </p:sp>
      <p:sp>
        <p:nvSpPr>
          <p:cNvPr id="7" name="Text 4"/>
          <p:cNvSpPr txBox="1"/>
          <p:nvPr/>
        </p:nvSpPr>
        <p:spPr>
          <a:xfrm>
            <a:off x="548640" y="22860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8" name="Text 5"/>
          <p:cNvSpPr txBox="1"/>
          <p:nvPr/>
        </p:nvSpPr>
        <p:spPr>
          <a:xfrm>
            <a:off x="1143000" y="2304288"/>
            <a:ext cx="4206240" cy="320040"/>
          </a:xfrm>
          <a:prstGeom prst="rect">
            <a:avLst/>
          </a:prstGeom>
          <a:noFill/>
          <a:ln/>
        </p:spPr>
        <p:txBody>
          <a:bodyPr wrap="square" lIns="0" tIns="0" rIns="0" bIns="0" rtlCol="0" anchor="t"/>
          <a:lstStyle/>
          <a:p>
            <a:pPr indent="0" marL="0">
              <a:buNone/>
            </a:pPr>
            <a:r>
              <a:rPr lang="en-US" sz="1500" b="1" dirty="0">
                <a:solidFill>
                  <a:srgbClr val="0F172A"/>
                </a:solidFill>
                <a:latin typeface="Segoe UI" pitchFamily="34" charset="0"/>
                <a:ea typeface="Segoe UI" pitchFamily="34" charset="-122"/>
                <a:cs typeface="Segoe UI" pitchFamily="34" charset="-120"/>
              </a:rPr>
              <a:t>Singapore (beachhead)</a:t>
            </a:r>
            <a:endParaRPr lang="en-US" sz="1500" dirty="0"/>
          </a:p>
        </p:txBody>
      </p:sp>
      <p:sp>
        <p:nvSpPr>
          <p:cNvPr id="9" name="Text 6"/>
          <p:cNvSpPr txBox="1"/>
          <p:nvPr/>
        </p:nvSpPr>
        <p:spPr>
          <a:xfrm>
            <a:off x="1143000" y="2633472"/>
            <a:ext cx="4206240" cy="64008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About 19,000 insurance agents [S30] sell regulated products in English under MAS fair-dealing rules [S29].</a:t>
            </a:r>
            <a:endParaRPr lang="en-US" sz="1300" dirty="0"/>
          </a:p>
        </p:txBody>
      </p:sp>
      <p:sp>
        <p:nvSpPr>
          <p:cNvPr id="10" name="Shape 7"/>
          <p:cNvSpPr/>
          <p:nvPr/>
        </p:nvSpPr>
        <p:spPr>
          <a:xfrm>
            <a:off x="548640" y="3310128"/>
            <a:ext cx="411480" cy="411480"/>
          </a:xfrm>
          <a:prstGeom prst="ellipse">
            <a:avLst/>
          </a:prstGeom>
          <a:solidFill>
            <a:srgbClr val="EEF2FF"/>
          </a:solidFill>
          <a:ln w="12700">
            <a:solidFill>
              <a:srgbClr val="EEF2FF"/>
            </a:solidFill>
            <a:prstDash val="solid"/>
          </a:ln>
        </p:spPr>
      </p:sp>
      <p:sp>
        <p:nvSpPr>
          <p:cNvPr id="11" name="Text 8"/>
          <p:cNvSpPr txBox="1"/>
          <p:nvPr/>
        </p:nvSpPr>
        <p:spPr>
          <a:xfrm>
            <a:off x="548640" y="3310128"/>
            <a:ext cx="411480" cy="411480"/>
          </a:xfrm>
          <a:prstGeom prst="rect">
            <a:avLst/>
          </a:prstGeom>
          <a:noFill/>
          <a:ln/>
        </p:spPr>
        <p:txBody>
          <a:bodyPr wrap="square" lIns="0" tIns="0" rIns="0" bIns="0" rtlCol="0" anchor="ctr"/>
          <a:lstStyle/>
          <a:p>
            <a:pPr algn="ctr" indent="0" marL="0">
              <a:buNone/>
            </a:pPr>
            <a:r>
              <a:rPr lang="en-US" sz="1400" b="1" dirty="0">
                <a:solidFill>
                  <a:srgbClr val="4F46E5"/>
                </a:solidFill>
                <a:latin typeface="Segoe UI" pitchFamily="34" charset="0"/>
                <a:ea typeface="Segoe UI" pitchFamily="34" charset="-122"/>
                <a:cs typeface="Segoe UI" pitchFamily="34" charset="-120"/>
              </a:rPr>
              <a:t>2</a:t>
            </a:r>
            <a:endParaRPr lang="en-US" sz="1400" dirty="0"/>
          </a:p>
        </p:txBody>
      </p:sp>
      <p:sp>
        <p:nvSpPr>
          <p:cNvPr id="12" name="Text 9"/>
          <p:cNvSpPr txBox="1"/>
          <p:nvPr/>
        </p:nvSpPr>
        <p:spPr>
          <a:xfrm>
            <a:off x="1143000" y="3328416"/>
            <a:ext cx="4206240" cy="320040"/>
          </a:xfrm>
          <a:prstGeom prst="rect">
            <a:avLst/>
          </a:prstGeom>
          <a:noFill/>
          <a:ln/>
        </p:spPr>
        <p:txBody>
          <a:bodyPr wrap="square" lIns="0" tIns="0" rIns="0" bIns="0" rtlCol="0" anchor="t"/>
          <a:lstStyle/>
          <a:p>
            <a:pPr indent="0" marL="0">
              <a:buNone/>
            </a:pPr>
            <a:r>
              <a:rPr lang="en-US" sz="1500" b="1" dirty="0">
                <a:solidFill>
                  <a:srgbClr val="0F172A"/>
                </a:solidFill>
                <a:latin typeface="Segoe UI" pitchFamily="34" charset="0"/>
                <a:ea typeface="Segoe UI" pitchFamily="34" charset="-122"/>
                <a:cs typeface="Segoe UI" pitchFamily="34" charset="-120"/>
              </a:rPr>
              <a:t>Philippines and Hong Kong</a:t>
            </a:r>
            <a:endParaRPr lang="en-US" sz="1500" dirty="0"/>
          </a:p>
        </p:txBody>
      </p:sp>
      <p:sp>
        <p:nvSpPr>
          <p:cNvPr id="13" name="Text 10"/>
          <p:cNvSpPr txBox="1"/>
          <p:nvPr/>
        </p:nvSpPr>
        <p:spPr>
          <a:xfrm>
            <a:off x="1143000" y="3657600"/>
            <a:ext cx="4206240" cy="64008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Contact centers and advisors.</a:t>
            </a:r>
            <a:endParaRPr lang="en-US" sz="1300" dirty="0"/>
          </a:p>
        </p:txBody>
      </p:sp>
      <p:sp>
        <p:nvSpPr>
          <p:cNvPr id="14" name="Shape 11"/>
          <p:cNvSpPr/>
          <p:nvPr/>
        </p:nvSpPr>
        <p:spPr>
          <a:xfrm>
            <a:off x="548640" y="4334256"/>
            <a:ext cx="411480" cy="411480"/>
          </a:xfrm>
          <a:prstGeom prst="ellipse">
            <a:avLst/>
          </a:prstGeom>
          <a:solidFill>
            <a:srgbClr val="EEF2FF"/>
          </a:solidFill>
          <a:ln w="12700">
            <a:solidFill>
              <a:srgbClr val="EEF2FF"/>
            </a:solidFill>
            <a:prstDash val="solid"/>
          </a:ln>
        </p:spPr>
      </p:sp>
      <p:sp>
        <p:nvSpPr>
          <p:cNvPr id="15" name="Text 12"/>
          <p:cNvSpPr txBox="1"/>
          <p:nvPr/>
        </p:nvSpPr>
        <p:spPr>
          <a:xfrm>
            <a:off x="548640" y="4334256"/>
            <a:ext cx="411480" cy="411480"/>
          </a:xfrm>
          <a:prstGeom prst="rect">
            <a:avLst/>
          </a:prstGeom>
          <a:noFill/>
          <a:ln/>
        </p:spPr>
        <p:txBody>
          <a:bodyPr wrap="square" lIns="0" tIns="0" rIns="0" bIns="0" rtlCol="0" anchor="ctr"/>
          <a:lstStyle/>
          <a:p>
            <a:pPr algn="ctr" indent="0" marL="0">
              <a:buNone/>
            </a:pPr>
            <a:r>
              <a:rPr lang="en-US" sz="1400" b="1" dirty="0">
                <a:solidFill>
                  <a:srgbClr val="4F46E5"/>
                </a:solidFill>
                <a:latin typeface="Segoe UI" pitchFamily="34" charset="0"/>
                <a:ea typeface="Segoe UI" pitchFamily="34" charset="-122"/>
                <a:cs typeface="Segoe UI" pitchFamily="34" charset="-120"/>
              </a:rPr>
              <a:t>3</a:t>
            </a:r>
            <a:endParaRPr lang="en-US" sz="1400" dirty="0"/>
          </a:p>
        </p:txBody>
      </p:sp>
      <p:sp>
        <p:nvSpPr>
          <p:cNvPr id="16" name="Text 13"/>
          <p:cNvSpPr txBox="1"/>
          <p:nvPr/>
        </p:nvSpPr>
        <p:spPr>
          <a:xfrm>
            <a:off x="1143000" y="4352544"/>
            <a:ext cx="4206240" cy="320040"/>
          </a:xfrm>
          <a:prstGeom prst="rect">
            <a:avLst/>
          </a:prstGeom>
          <a:noFill/>
          <a:ln/>
        </p:spPr>
        <p:txBody>
          <a:bodyPr wrap="square" lIns="0" tIns="0" rIns="0" bIns="0" rtlCol="0" anchor="t"/>
          <a:lstStyle/>
          <a:p>
            <a:pPr indent="0" marL="0">
              <a:buNone/>
            </a:pPr>
            <a:r>
              <a:rPr lang="en-US" sz="1500" b="1" dirty="0">
                <a:solidFill>
                  <a:srgbClr val="0F172A"/>
                </a:solidFill>
                <a:latin typeface="Segoe UI" pitchFamily="34" charset="0"/>
                <a:ea typeface="Segoe UI" pitchFamily="34" charset="-122"/>
                <a:cs typeface="Segoe UI" pitchFamily="34" charset="-120"/>
              </a:rPr>
              <a:t>Taiwan, Japan, Korea</a:t>
            </a:r>
            <a:endParaRPr lang="en-US" sz="1500" dirty="0"/>
          </a:p>
        </p:txBody>
      </p:sp>
      <p:sp>
        <p:nvSpPr>
          <p:cNvPr id="17" name="Text 14"/>
          <p:cNvSpPr txBox="1"/>
          <p:nvPr/>
        </p:nvSpPr>
        <p:spPr>
          <a:xfrm>
            <a:off x="1143000" y="4681728"/>
            <a:ext cx="4206240" cy="64008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After localization.</a:t>
            </a:r>
            <a:endParaRPr lang="en-US" sz="1300" dirty="0"/>
          </a:p>
        </p:txBody>
      </p:sp>
      <p:sp>
        <p:nvSpPr>
          <p:cNvPr id="18" name="Text 15"/>
          <p:cNvSpPr txBox="1"/>
          <p:nvPr/>
        </p:nvSpPr>
        <p:spPr>
          <a:xfrm>
            <a:off x="5623560" y="1828800"/>
            <a:ext cx="6019495" cy="320040"/>
          </a:xfrm>
          <a:prstGeom prst="rect">
            <a:avLst/>
          </a:prstGeom>
          <a:noFill/>
          <a:ln/>
        </p:spPr>
        <p:txBody>
          <a:bodyPr wrap="square" lIns="0" tIns="0" rIns="0" bIns="0" rtlCol="0" anchor="t"/>
          <a:lstStyle/>
          <a:p>
            <a:pPr indent="0" marL="0">
              <a:buNone/>
            </a:pPr>
            <a:r>
              <a:rPr lang="en-US" sz="1500" b="1" dirty="0">
                <a:solidFill>
                  <a:srgbClr val="0F172A"/>
                </a:solidFill>
                <a:latin typeface="Segoe UI" pitchFamily="34" charset="0"/>
                <a:ea typeface="Segoe UI" pitchFamily="34" charset="-122"/>
                <a:cs typeface="Segoe UI" pitchFamily="34" charset="-120"/>
              </a:rPr>
              <a:t>Category validated, APAC regulated selling unserved</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23560" y="2240280"/>
          <a:ext cx="6019495" cy="914400"/>
        </p:xfrm>
        <a:graphic>
          <a:graphicData uri="http://schemas.openxmlformats.org/drawingml/2006/table">
            <a:tbl>
              <a:tblPr/>
              <a:tblGrid>
                <a:gridCol w="1691640"/>
                <a:gridCol w="1463040"/>
                <a:gridCol w="1463040"/>
                <a:gridCol w="1401775"/>
              </a:tblGrid>
              <a:tr h="566928">
                <a:tc>
                  <a:txBody>
                    <a:bodyPr/>
                    <a:lstStyle/>
                    <a:p>
                      <a:pPr indent="0" marL="0">
                        <a:buNone/>
                      </a:pPr>
                      <a:endParaRPr lang="en-US" sz="12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Personas from own documents, with approval</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Compliance gate with verbatim evidence</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APAC data at rest</a:t>
                      </a:r>
                      <a:endParaRPr lang="en-US" sz="11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502920">
                <a:tc>
                  <a:txBody>
                    <a:bodyPr/>
                    <a:lstStyle/>
                    <a:p>
                      <a:pPr indent="0" marL="0">
                        <a:buNone/>
                      </a:pPr>
                      <a:r>
                        <a:rPr lang="en-US" sz="1200" b="1" dirty="0">
                          <a:solidFill>
                            <a:srgbClr val="334155"/>
                          </a:solidFill>
                          <a:latin typeface="Segoe UI" pitchFamily="34" charset="0"/>
                          <a:ea typeface="Segoe UI" pitchFamily="34" charset="-122"/>
                          <a:cs typeface="Segoe UI" pitchFamily="34" charset="-120"/>
                        </a:rPr>
                        <a:t>Hyperbound</a:t>
                      </a:r>
                      <a:endParaRPr lang="en-US" sz="1200" dirty="0">
                        <a:latin typeface="Segoe UI" charset="0"/>
                        <a:ea typeface="Segoe UI" charset="0"/>
                        <a:cs typeface="Segoe UI" charset="0"/>
                      </a:endParaRPr>
                    </a:p>
                    <a:p>
                      <a:pPr indent="0" marL="0">
                        <a:buNone/>
                      </a:pPr>
                      <a:r>
                        <a:rPr lang="en-US" sz="1000" dirty="0">
                          <a:solidFill>
                            <a:srgbClr val="64748B"/>
                          </a:solidFill>
                          <a:latin typeface="Segoe UI" pitchFamily="34" charset="0"/>
                          <a:ea typeface="Segoe UI" pitchFamily="34" charset="-122"/>
                          <a:cs typeface="Segoe UI" pitchFamily="34" charset="-120"/>
                        </a:rPr>
                        <a:t>US$15M raised [S16]</a:t>
                      </a:r>
                      <a:endParaRPr lang="en-US" sz="12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200" i="1" dirty="0">
                          <a:solidFill>
                            <a:srgbClr val="64748B"/>
                          </a:solidFill>
                          <a:latin typeface="Segoe UI" pitchFamily="34" charset="0"/>
                          <a:ea typeface="Segoe UI" pitchFamily="34" charset="-122"/>
                          <a:cs typeface="Segoe UI" pitchFamily="34" charset="-120"/>
                        </a:rPr>
                        <a:t>not stated</a:t>
                      </a:r>
                      <a:endParaRPr lang="en-US" sz="12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200" i="1" dirty="0">
                          <a:solidFill>
                            <a:srgbClr val="64748B"/>
                          </a:solidFill>
                          <a:latin typeface="Segoe UI" pitchFamily="34" charset="0"/>
                          <a:ea typeface="Segoe UI" pitchFamily="34" charset="-122"/>
                          <a:cs typeface="Segoe UI" pitchFamily="34" charset="-120"/>
                        </a:rPr>
                        <a:t>not stated</a:t>
                      </a:r>
                      <a:endParaRPr lang="en-US" sz="12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200" i="1" dirty="0">
                          <a:solidFill>
                            <a:srgbClr val="64748B"/>
                          </a:solidFill>
                          <a:latin typeface="Segoe UI" pitchFamily="34" charset="0"/>
                          <a:ea typeface="Segoe UI" pitchFamily="34" charset="-122"/>
                          <a:cs typeface="Segoe UI" pitchFamily="34" charset="-120"/>
                        </a:rPr>
                        <a:t>not stated</a:t>
                      </a:r>
                      <a:endParaRPr lang="en-US" sz="12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502920">
                <a:tc>
                  <a:txBody>
                    <a:bodyPr/>
                    <a:lstStyle/>
                    <a:p>
                      <a:pPr indent="0" marL="0">
                        <a:buNone/>
                      </a:pPr>
                      <a:r>
                        <a:rPr lang="en-US" sz="1200" b="1" dirty="0">
                          <a:solidFill>
                            <a:srgbClr val="334155"/>
                          </a:solidFill>
                          <a:latin typeface="Segoe UI" pitchFamily="34" charset="0"/>
                          <a:ea typeface="Segoe UI" pitchFamily="34" charset="-122"/>
                          <a:cs typeface="Segoe UI" pitchFamily="34" charset="-120"/>
                        </a:rPr>
                        <a:t>Second Nature</a:t>
                      </a:r>
                      <a:endParaRPr lang="en-US" sz="1200" dirty="0">
                        <a:latin typeface="Segoe UI" charset="0"/>
                        <a:ea typeface="Segoe UI" charset="0"/>
                        <a:cs typeface="Segoe UI" charset="0"/>
                      </a:endParaRPr>
                    </a:p>
                    <a:p>
                      <a:pPr indent="0" marL="0">
                        <a:buNone/>
                      </a:pPr>
                      <a:r>
                        <a:rPr lang="en-US" sz="1000" dirty="0">
                          <a:solidFill>
                            <a:srgbClr val="64748B"/>
                          </a:solidFill>
                          <a:latin typeface="Segoe UI" pitchFamily="34" charset="0"/>
                          <a:ea typeface="Segoe UI" pitchFamily="34" charset="-122"/>
                          <a:cs typeface="Segoe UI" pitchFamily="34" charset="-120"/>
                        </a:rPr>
                        <a:t>US$22M raised [S17]</a:t>
                      </a:r>
                      <a:endParaRPr lang="en-US" sz="12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200" i="1" dirty="0">
                          <a:solidFill>
                            <a:srgbClr val="64748B"/>
                          </a:solidFill>
                          <a:latin typeface="Segoe UI" pitchFamily="34" charset="0"/>
                          <a:ea typeface="Segoe UI" pitchFamily="34" charset="-122"/>
                          <a:cs typeface="Segoe UI" pitchFamily="34" charset="-120"/>
                        </a:rPr>
                        <a:t>not stated</a:t>
                      </a:r>
                      <a:endParaRPr lang="en-US" sz="12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200" i="1" dirty="0">
                          <a:solidFill>
                            <a:srgbClr val="64748B"/>
                          </a:solidFill>
                          <a:latin typeface="Segoe UI" pitchFamily="34" charset="0"/>
                          <a:ea typeface="Segoe UI" pitchFamily="34" charset="-122"/>
                          <a:cs typeface="Segoe UI" pitchFamily="34" charset="-120"/>
                        </a:rPr>
                        <a:t>not stated</a:t>
                      </a:r>
                      <a:endParaRPr lang="en-US" sz="12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200" i="1" dirty="0">
                          <a:solidFill>
                            <a:srgbClr val="64748B"/>
                          </a:solidFill>
                          <a:latin typeface="Segoe UI" pitchFamily="34" charset="0"/>
                          <a:ea typeface="Segoe UI" pitchFamily="34" charset="-122"/>
                          <a:cs typeface="Segoe UI" pitchFamily="34" charset="-120"/>
                        </a:rPr>
                        <a:t>not stated</a:t>
                      </a:r>
                      <a:endParaRPr lang="en-US" sz="12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502920">
                <a:tc>
                  <a:txBody>
                    <a:bodyPr/>
                    <a:lstStyle/>
                    <a:p>
                      <a:pPr indent="0" marL="0">
                        <a:buNone/>
                      </a:pPr>
                      <a:r>
                        <a:rPr lang="en-US" sz="1200" b="1" dirty="0">
                          <a:solidFill>
                            <a:srgbClr val="334155"/>
                          </a:solidFill>
                          <a:latin typeface="Segoe UI" pitchFamily="34" charset="0"/>
                          <a:ea typeface="Segoe UI" pitchFamily="34" charset="-122"/>
                          <a:cs typeface="Segoe UI" pitchFamily="34" charset="-120"/>
                        </a:rPr>
                        <a:t>Mindtickle / Allego</a:t>
                      </a:r>
                      <a:endParaRPr lang="en-US" sz="1200" dirty="0">
                        <a:latin typeface="Segoe UI" charset="0"/>
                        <a:ea typeface="Segoe UI" charset="0"/>
                        <a:cs typeface="Segoe UI" charset="0"/>
                      </a:endParaRPr>
                    </a:p>
                    <a:p>
                      <a:pPr indent="0" marL="0">
                        <a:buNone/>
                      </a:pPr>
                      <a:r>
                        <a:rPr lang="en-US" sz="1000" dirty="0">
                          <a:solidFill>
                            <a:srgbClr val="64748B"/>
                          </a:solidFill>
                          <a:latin typeface="Segoe UI" pitchFamily="34" charset="0"/>
                          <a:ea typeface="Segoe UI" pitchFamily="34" charset="-122"/>
                          <a:cs typeface="Segoe UI" pitchFamily="34" charset="-120"/>
                        </a:rPr>
                        <a:t>AI role-play in broad suites</a:t>
                      </a:r>
                      <a:endParaRPr lang="en-US" sz="12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200" i="1" dirty="0">
                          <a:solidFill>
                            <a:srgbClr val="64748B"/>
                          </a:solidFill>
                          <a:latin typeface="Segoe UI" pitchFamily="34" charset="0"/>
                          <a:ea typeface="Segoe UI" pitchFamily="34" charset="-122"/>
                          <a:cs typeface="Segoe UI" pitchFamily="34" charset="-120"/>
                        </a:rPr>
                        <a:t>not stated</a:t>
                      </a:r>
                      <a:endParaRPr lang="en-US" sz="12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200" i="1" dirty="0">
                          <a:solidFill>
                            <a:srgbClr val="64748B"/>
                          </a:solidFill>
                          <a:latin typeface="Segoe UI" pitchFamily="34" charset="0"/>
                          <a:ea typeface="Segoe UI" pitchFamily="34" charset="-122"/>
                          <a:cs typeface="Segoe UI" pitchFamily="34" charset="-120"/>
                        </a:rPr>
                        <a:t>not stated</a:t>
                      </a:r>
                      <a:endParaRPr lang="en-US" sz="12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ctr" indent="0" marL="0">
                        <a:buNone/>
                      </a:pPr>
                      <a:r>
                        <a:rPr lang="en-US" sz="1200" i="1" dirty="0">
                          <a:solidFill>
                            <a:srgbClr val="64748B"/>
                          </a:solidFill>
                          <a:latin typeface="Segoe UI" pitchFamily="34" charset="0"/>
                          <a:ea typeface="Segoe UI" pitchFamily="34" charset="-122"/>
                          <a:cs typeface="Segoe UI" pitchFamily="34" charset="-120"/>
                        </a:rPr>
                        <a:t>not stated</a:t>
                      </a:r>
                      <a:endParaRPr lang="en-US" sz="12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411480">
                <a:tc>
                  <a:txBody>
                    <a:bodyPr/>
                    <a:lstStyle/>
                    <a:p>
                      <a:pPr indent="0" marL="0">
                        <a:buNone/>
                      </a:pPr>
                      <a:r>
                        <a:rPr lang="en-US" sz="1200" b="1" dirty="0">
                          <a:solidFill>
                            <a:srgbClr val="4F46E5"/>
                          </a:solidFill>
                          <a:latin typeface="Segoe UI" pitchFamily="34" charset="0"/>
                          <a:ea typeface="Segoe UI" pitchFamily="34" charset="-122"/>
                          <a:cs typeface="Segoe UI" pitchFamily="34" charset="-120"/>
                        </a:rPr>
                        <a:t>SkillCoach</a:t>
                      </a:r>
                      <a:endParaRPr lang="en-US" sz="12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algn="ctr" indent="0" marL="0">
                        <a:buNone/>
                      </a:pPr>
                      <a:r>
                        <a:rPr lang="en-US" sz="1200" b="1" dirty="0">
                          <a:solidFill>
                            <a:srgbClr val="059669"/>
                          </a:solidFill>
                          <a:latin typeface="Segoe UI" pitchFamily="34" charset="0"/>
                          <a:ea typeface="Segoe UI" pitchFamily="34" charset="-122"/>
                          <a:cs typeface="Segoe UI" pitchFamily="34" charset="-120"/>
                        </a:rPr>
                        <a:t>Yes</a:t>
                      </a:r>
                      <a:endParaRPr lang="en-US" sz="12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algn="ctr" indent="0" marL="0">
                        <a:buNone/>
                      </a:pPr>
                      <a:r>
                        <a:rPr lang="en-US" sz="1200" b="1" dirty="0">
                          <a:solidFill>
                            <a:srgbClr val="059669"/>
                          </a:solidFill>
                          <a:latin typeface="Segoe UI" pitchFamily="34" charset="0"/>
                          <a:ea typeface="Segoe UI" pitchFamily="34" charset="-122"/>
                          <a:cs typeface="Segoe UI" pitchFamily="34" charset="-120"/>
                        </a:rPr>
                        <a:t>Yes</a:t>
                      </a:r>
                      <a:endParaRPr lang="en-US" sz="12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algn="ctr" indent="0" marL="0">
                        <a:buNone/>
                      </a:pPr>
                      <a:r>
                        <a:rPr lang="en-US" sz="1200" b="1" dirty="0">
                          <a:solidFill>
                            <a:srgbClr val="059669"/>
                          </a:solidFill>
                          <a:latin typeface="Segoe UI" pitchFamily="34" charset="0"/>
                          <a:ea typeface="Segoe UI" pitchFamily="34" charset="-122"/>
                          <a:cs typeface="Segoe UI" pitchFamily="34" charset="-120"/>
                        </a:rPr>
                        <a:t>Yes (asia-east1)</a:t>
                      </a:r>
                      <a:endParaRPr lang="en-US" sz="1200" dirty="0">
                        <a:latin typeface="Segoe UI" charset="0"/>
                        <a:ea typeface="Segoe UI" charset="0"/>
                        <a:cs typeface="Segoe UI"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r>
            </a:tbl>
          </a:graphicData>
        </a:graphic>
      </p:graphicFrame>
      <p:sp>
        <p:nvSpPr>
          <p:cNvPr id="20" name="Text 16"/>
          <p:cNvSpPr txBox="1"/>
          <p:nvPr/>
        </p:nvSpPr>
        <p:spPr>
          <a:xfrm>
            <a:off x="5623560" y="4846320"/>
            <a:ext cx="6019495" cy="411480"/>
          </a:xfrm>
          <a:prstGeom prst="rect">
            <a:avLst/>
          </a:prstGeom>
          <a:noFill/>
          <a:ln/>
        </p:spPr>
        <p:txBody>
          <a:bodyPr wrap="square" lIns="0" tIns="0" rIns="0" bIns="0" rtlCol="0" anchor="t"/>
          <a:lstStyle/>
          <a:p>
            <a:pPr indent="0" marL="0">
              <a:buNone/>
            </a:pPr>
            <a:r>
              <a:rPr lang="en-US" sz="1000" i="1" dirty="0">
                <a:solidFill>
                  <a:srgbClr val="64748B"/>
                </a:solidFill>
                <a:latin typeface="Segoe UI" pitchFamily="34" charset="0"/>
                <a:ea typeface="Segoe UI" pitchFamily="34" charset="-122"/>
                <a:cs typeface="Segoe UI" pitchFamily="34" charset="-120"/>
              </a:rPr>
              <a:t>not stated = we could not source it; our assessment from public positioning. Hyperbound and Second Nature focus on US B2B selling.</a:t>
            </a:r>
            <a:endParaRPr lang="en-US" sz="1000" dirty="0"/>
          </a:p>
        </p:txBody>
      </p:sp>
      <p:sp>
        <p:nvSpPr>
          <p:cNvPr id="21" name="Text 17"/>
          <p:cNvSpPr txBox="1"/>
          <p:nvPr/>
        </p:nvSpPr>
        <p:spPr>
          <a:xfrm>
            <a:off x="548640" y="5440680"/>
            <a:ext cx="2743200" cy="274320"/>
          </a:xfrm>
          <a:prstGeom prst="rect">
            <a:avLst/>
          </a:prstGeom>
          <a:noFill/>
          <a:ln/>
        </p:spPr>
        <p:txBody>
          <a:bodyPr wrap="square" lIns="0" tIns="0" rIns="0" bIns="0" rtlCol="0" anchor="t"/>
          <a:lstStyle/>
          <a:p>
            <a:pPr indent="0" marL="0">
              <a:buNone/>
            </a:pPr>
            <a:r>
              <a:rPr lang="en-US" sz="1300" b="1" dirty="0">
                <a:solidFill>
                  <a:srgbClr val="0F172A"/>
                </a:solidFill>
                <a:latin typeface="Segoe UI" pitchFamily="34" charset="0"/>
                <a:ea typeface="Segoe UI" pitchFamily="34" charset="-122"/>
                <a:cs typeface="Segoe UI" pitchFamily="34" charset="-120"/>
              </a:rPr>
              <a:t>Pricing (hypothesis)</a:t>
            </a:r>
            <a:endParaRPr lang="en-US" sz="1300" dirty="0"/>
          </a:p>
        </p:txBody>
      </p:sp>
      <p:sp>
        <p:nvSpPr>
          <p:cNvPr id="22" name="Shape 18"/>
          <p:cNvSpPr/>
          <p:nvPr/>
        </p:nvSpPr>
        <p:spPr>
          <a:xfrm>
            <a:off x="2926080" y="5349240"/>
            <a:ext cx="2194560" cy="868680"/>
          </a:xfrm>
          <a:prstGeom prst="roundRect">
            <a:avLst>
              <a:gd name="adj" fmla="val 12632"/>
            </a:avLst>
          </a:prstGeom>
          <a:solidFill>
            <a:srgbClr val="F8FAFC"/>
          </a:solidFill>
          <a:ln w="12700">
            <a:solidFill>
              <a:srgbClr val="E2E8F0"/>
            </a:solidFill>
            <a:prstDash val="solid"/>
          </a:ln>
        </p:spPr>
      </p:sp>
      <p:sp>
        <p:nvSpPr>
          <p:cNvPr id="23" name="Text 19"/>
          <p:cNvSpPr txBox="1"/>
          <p:nvPr/>
        </p:nvSpPr>
        <p:spPr>
          <a:xfrm>
            <a:off x="3108960" y="5422392"/>
            <a:ext cx="1828800" cy="274320"/>
          </a:xfrm>
          <a:prstGeom prst="rect">
            <a:avLst/>
          </a:prstGeom>
          <a:noFill/>
          <a:ln/>
        </p:spPr>
        <p:txBody>
          <a:bodyPr wrap="square" lIns="0" tIns="0" rIns="0" bIns="0" rtlCol="0" anchor="t"/>
          <a:lstStyle/>
          <a:p>
            <a:pPr indent="0" marL="0">
              <a:buNone/>
            </a:pPr>
            <a:r>
              <a:rPr lang="en-US" sz="1200" b="1" dirty="0">
                <a:solidFill>
                  <a:srgbClr val="4F46E5"/>
                </a:solidFill>
                <a:latin typeface="Segoe UI" pitchFamily="34" charset="0"/>
                <a:ea typeface="Segoe UI" pitchFamily="34" charset="-122"/>
                <a:cs typeface="Segoe UI" pitchFamily="34" charset="-120"/>
              </a:rPr>
              <a:t>Paid 8-week pilot</a:t>
            </a:r>
            <a:endParaRPr lang="en-US" sz="1200" dirty="0"/>
          </a:p>
        </p:txBody>
      </p:sp>
      <p:sp>
        <p:nvSpPr>
          <p:cNvPr id="24" name="Text 20"/>
          <p:cNvSpPr txBox="1"/>
          <p:nvPr/>
        </p:nvSpPr>
        <p:spPr>
          <a:xfrm>
            <a:off x="3108960" y="5715000"/>
            <a:ext cx="1828800" cy="411480"/>
          </a:xfrm>
          <a:prstGeom prst="rect">
            <a:avLst/>
          </a:prstGeom>
          <a:noFill/>
          <a:ln/>
        </p:spPr>
        <p:txBody>
          <a:bodyPr wrap="square" lIns="0" tIns="0" rIns="0" bIns="0" rtlCol="0" anchor="t"/>
          <a:lstStyle/>
          <a:p>
            <a:pPr indent="0" marL="0">
              <a:buNone/>
            </a:pPr>
            <a:r>
              <a:rPr lang="en-US" sz="1300" dirty="0">
                <a:solidFill>
                  <a:srgbClr val="0F172A"/>
                </a:solidFill>
                <a:latin typeface="Segoe UI" pitchFamily="34" charset="0"/>
                <a:ea typeface="Segoe UI" pitchFamily="34" charset="-122"/>
                <a:cs typeface="Segoe UI" pitchFamily="34" charset="-120"/>
              </a:rPr>
              <a:t>US$5k-10k</a:t>
            </a:r>
            <a:endParaRPr lang="en-US" sz="1300" dirty="0"/>
          </a:p>
        </p:txBody>
      </p:sp>
      <p:sp>
        <p:nvSpPr>
          <p:cNvPr id="25" name="Shape 21"/>
          <p:cNvSpPr/>
          <p:nvPr/>
        </p:nvSpPr>
        <p:spPr>
          <a:xfrm>
            <a:off x="5303520" y="5349240"/>
            <a:ext cx="3017520" cy="868680"/>
          </a:xfrm>
          <a:prstGeom prst="roundRect">
            <a:avLst>
              <a:gd name="adj" fmla="val 12632"/>
            </a:avLst>
          </a:prstGeom>
          <a:solidFill>
            <a:srgbClr val="F8FAFC"/>
          </a:solidFill>
          <a:ln w="12700">
            <a:solidFill>
              <a:srgbClr val="E2E8F0"/>
            </a:solidFill>
            <a:prstDash val="solid"/>
          </a:ln>
        </p:spPr>
      </p:sp>
      <p:sp>
        <p:nvSpPr>
          <p:cNvPr id="26" name="Text 22"/>
          <p:cNvSpPr txBox="1"/>
          <p:nvPr/>
        </p:nvSpPr>
        <p:spPr>
          <a:xfrm>
            <a:off x="5486400" y="5422392"/>
            <a:ext cx="2651760" cy="274320"/>
          </a:xfrm>
          <a:prstGeom prst="rect">
            <a:avLst/>
          </a:prstGeom>
          <a:noFill/>
          <a:ln/>
        </p:spPr>
        <p:txBody>
          <a:bodyPr wrap="square" lIns="0" tIns="0" rIns="0" bIns="0" rtlCol="0" anchor="t"/>
          <a:lstStyle/>
          <a:p>
            <a:pPr indent="0" marL="0">
              <a:buNone/>
            </a:pPr>
            <a:r>
              <a:rPr lang="en-US" sz="1200" b="1" dirty="0">
                <a:solidFill>
                  <a:srgbClr val="4F46E5"/>
                </a:solidFill>
                <a:latin typeface="Segoe UI" pitchFamily="34" charset="0"/>
                <a:ea typeface="Segoe UI" pitchFamily="34" charset="-122"/>
                <a:cs typeface="Segoe UI" pitchFamily="34" charset="-120"/>
              </a:rPr>
              <a:t>Team</a:t>
            </a:r>
            <a:endParaRPr lang="en-US" sz="1200" dirty="0"/>
          </a:p>
        </p:txBody>
      </p:sp>
      <p:sp>
        <p:nvSpPr>
          <p:cNvPr id="27" name="Text 23"/>
          <p:cNvSpPr txBox="1"/>
          <p:nvPr/>
        </p:nvSpPr>
        <p:spPr>
          <a:xfrm>
            <a:off x="5486400" y="5715000"/>
            <a:ext cx="2651760" cy="411480"/>
          </a:xfrm>
          <a:prstGeom prst="rect">
            <a:avLst/>
          </a:prstGeom>
          <a:noFill/>
          <a:ln/>
        </p:spPr>
        <p:txBody>
          <a:bodyPr wrap="square" lIns="0" tIns="0" rIns="0" bIns="0" rtlCol="0" anchor="t"/>
          <a:lstStyle/>
          <a:p>
            <a:pPr indent="0" marL="0">
              <a:buNone/>
            </a:pPr>
            <a:r>
              <a:rPr lang="en-US" sz="1300" dirty="0">
                <a:solidFill>
                  <a:srgbClr val="0F172A"/>
                </a:solidFill>
                <a:latin typeface="Segoe UI" pitchFamily="34" charset="0"/>
                <a:ea typeface="Segoe UI" pitchFamily="34" charset="-122"/>
                <a:cs typeface="Segoe UI" pitchFamily="34" charset="-120"/>
              </a:rPr>
              <a:t>US$25 / active seat / month</a:t>
            </a:r>
            <a:endParaRPr lang="en-US" sz="1300" dirty="0"/>
          </a:p>
        </p:txBody>
      </p:sp>
      <p:sp>
        <p:nvSpPr>
          <p:cNvPr id="28" name="Shape 24"/>
          <p:cNvSpPr/>
          <p:nvPr/>
        </p:nvSpPr>
        <p:spPr>
          <a:xfrm>
            <a:off x="8503920" y="5349240"/>
            <a:ext cx="3139135" cy="868680"/>
          </a:xfrm>
          <a:prstGeom prst="roundRect">
            <a:avLst>
              <a:gd name="adj" fmla="val 12632"/>
            </a:avLst>
          </a:prstGeom>
          <a:solidFill>
            <a:srgbClr val="F8FAFC"/>
          </a:solidFill>
          <a:ln w="12700">
            <a:solidFill>
              <a:srgbClr val="E2E8F0"/>
            </a:solidFill>
            <a:prstDash val="solid"/>
          </a:ln>
        </p:spPr>
      </p:sp>
      <p:sp>
        <p:nvSpPr>
          <p:cNvPr id="29" name="Text 25"/>
          <p:cNvSpPr txBox="1"/>
          <p:nvPr/>
        </p:nvSpPr>
        <p:spPr>
          <a:xfrm>
            <a:off x="8686800" y="5422392"/>
            <a:ext cx="2773375" cy="274320"/>
          </a:xfrm>
          <a:prstGeom prst="rect">
            <a:avLst/>
          </a:prstGeom>
          <a:noFill/>
          <a:ln/>
        </p:spPr>
        <p:txBody>
          <a:bodyPr wrap="square" lIns="0" tIns="0" rIns="0" bIns="0" rtlCol="0" anchor="t"/>
          <a:lstStyle/>
          <a:p>
            <a:pPr indent="0" marL="0">
              <a:buNone/>
            </a:pPr>
            <a:r>
              <a:rPr lang="en-US" sz="1200" b="1" dirty="0">
                <a:solidFill>
                  <a:srgbClr val="4F46E5"/>
                </a:solidFill>
                <a:latin typeface="Segoe UI" pitchFamily="34" charset="0"/>
                <a:ea typeface="Segoe UI" pitchFamily="34" charset="-122"/>
                <a:cs typeface="Segoe UI" pitchFamily="34" charset="-120"/>
              </a:rPr>
              <a:t>Enterprise</a:t>
            </a:r>
            <a:endParaRPr lang="en-US" sz="1200" dirty="0"/>
          </a:p>
        </p:txBody>
      </p:sp>
      <p:sp>
        <p:nvSpPr>
          <p:cNvPr id="30" name="Text 26"/>
          <p:cNvSpPr txBox="1"/>
          <p:nvPr/>
        </p:nvSpPr>
        <p:spPr>
          <a:xfrm>
            <a:off x="8686800" y="5715000"/>
            <a:ext cx="2773375" cy="411480"/>
          </a:xfrm>
          <a:prstGeom prst="rect">
            <a:avLst/>
          </a:prstGeom>
          <a:noFill/>
          <a:ln/>
        </p:spPr>
        <p:txBody>
          <a:bodyPr wrap="square" lIns="0" tIns="0" rIns="0" bIns="0" rtlCol="0" anchor="t"/>
          <a:lstStyle/>
          <a:p>
            <a:pPr indent="0" marL="0">
              <a:buNone/>
            </a:pPr>
            <a:r>
              <a:rPr lang="en-US" sz="1300" dirty="0">
                <a:solidFill>
                  <a:srgbClr val="0F172A"/>
                </a:solidFill>
                <a:latin typeface="Segoe UI" pitchFamily="34" charset="0"/>
                <a:ea typeface="Segoe UI" pitchFamily="34" charset="-122"/>
                <a:cs typeface="Segoe UI" pitchFamily="34" charset="-120"/>
              </a:rPr>
              <a:t>US$35-45 / seat · SSO, region pinning, LMS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lstStyle/>
          <a:p>
            <a:pPr indent="0" marL="0">
              <a:buNone/>
            </a:pPr>
            <a:r>
              <a:rPr lang="en-US" sz="1300" b="1" spc="100" kern="0" dirty="0">
                <a:solidFill>
                  <a:srgbClr val="4F46E5"/>
                </a:solidFill>
                <a:latin typeface="Segoe UI" pitchFamily="34" charset="0"/>
                <a:ea typeface="Segoe UI" pitchFamily="34" charset="-122"/>
                <a:cs typeface="Segoe UI" pitchFamily="34" charset="-120"/>
              </a:rPr>
              <a:t>ROADMAP AND TEAM</a:t>
            </a:r>
            <a:endParaRPr lang="en-US" sz="1300" dirty="0"/>
          </a:p>
        </p:txBody>
      </p:sp>
      <p:sp>
        <p:nvSpPr>
          <p:cNvPr id="3" name="Text 1"/>
          <p:cNvSpPr/>
          <p:nvPr>
            <p:ph idx="102" type="title" hasCustomPrompt="1"/>
          </p:nvPr>
        </p:nvSpPr>
        <p:spPr>
          <a:xfrm>
            <a:off x="548640" y="694944"/>
            <a:ext cx="11094415" cy="914400"/>
          </a:xfrm>
          <a:prstGeom prst="rect">
            <a:avLst/>
          </a:prstGeom>
          <a:noFill/>
          <a:ln/>
        </p:spPr>
        <p:txBody>
          <a:bodyPr wrap="square" lIns="0" tIns="0" rIns="0" bIns="0" rtlCol="0" anchor="t"/>
          <a:lstStyle/>
          <a:p>
            <a:pPr algn="l" indent="0" marL="0">
              <a:buNone/>
            </a:pPr>
            <a:r>
              <a:rPr lang="en-US" sz="2800" b="1" dirty="0">
                <a:solidFill>
                  <a:srgbClr val="0F172A"/>
                </a:solidFill>
                <a:latin typeface="Segoe UI" pitchFamily="34" charset="0"/>
                <a:ea typeface="Segoe UI" pitchFamily="34" charset="-122"/>
                <a:cs typeface="Segoe UI" pitchFamily="34" charset="-120"/>
              </a:rPr>
              <a:t>Shipped today: text and browser-voice practice, cited personas with approval, multi-agent turns, verified reports</a:t>
            </a:r>
            <a:endParaRPr lang="en-US" sz="2800" dirty="0"/>
          </a:p>
        </p:txBody>
      </p:sp>
      <p:sp>
        <p:nvSpPr>
          <p:cNvPr id="5" name="Shape 2"/>
          <p:cNvSpPr/>
          <p:nvPr/>
        </p:nvSpPr>
        <p:spPr>
          <a:xfrm>
            <a:off x="548640" y="1783080"/>
            <a:ext cx="3484778" cy="2788920"/>
          </a:xfrm>
          <a:prstGeom prst="roundRect">
            <a:avLst>
              <a:gd name="adj" fmla="val 3934"/>
            </a:avLst>
          </a:prstGeom>
          <a:solidFill>
            <a:srgbClr val="4F46E5"/>
          </a:solidFill>
          <a:ln w="19050">
            <a:solidFill>
              <a:srgbClr val="4F46E5"/>
            </a:solidFill>
            <a:prstDash val="solid"/>
          </a:ln>
        </p:spPr>
      </p:sp>
      <p:sp>
        <p:nvSpPr>
          <p:cNvPr id="6" name="Text 3"/>
          <p:cNvSpPr txBox="1"/>
          <p:nvPr/>
        </p:nvSpPr>
        <p:spPr>
          <a:xfrm>
            <a:off x="822960" y="1965960"/>
            <a:ext cx="1371600" cy="411480"/>
          </a:xfrm>
          <a:prstGeom prst="rect">
            <a:avLst/>
          </a:prstGeom>
          <a:noFill/>
          <a:ln/>
        </p:spPr>
        <p:txBody>
          <a:bodyPr wrap="square" lIns="0" tIns="0" rIns="0" bIns="0"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Now</a:t>
            </a:r>
            <a:endParaRPr lang="en-US" sz="2000" dirty="0"/>
          </a:p>
        </p:txBody>
      </p:sp>
      <p:sp>
        <p:nvSpPr>
          <p:cNvPr id="7" name="Shape 4"/>
          <p:cNvSpPr/>
          <p:nvPr/>
        </p:nvSpPr>
        <p:spPr>
          <a:xfrm>
            <a:off x="2844698" y="2011680"/>
            <a:ext cx="914400" cy="292608"/>
          </a:xfrm>
          <a:prstGeom prst="roundRect">
            <a:avLst>
              <a:gd name="adj" fmla="val 50000"/>
            </a:avLst>
          </a:prstGeom>
          <a:solidFill>
            <a:srgbClr val="FFFFFF"/>
          </a:solidFill>
          <a:ln w="12700">
            <a:solidFill>
              <a:srgbClr val="FFFFFF"/>
            </a:solidFill>
            <a:prstDash val="solid"/>
          </a:ln>
        </p:spPr>
      </p:sp>
      <p:sp>
        <p:nvSpPr>
          <p:cNvPr id="8" name="Text 5"/>
          <p:cNvSpPr txBox="1"/>
          <p:nvPr/>
        </p:nvSpPr>
        <p:spPr>
          <a:xfrm>
            <a:off x="2844698" y="2011680"/>
            <a:ext cx="914400" cy="292608"/>
          </a:xfrm>
          <a:prstGeom prst="rect">
            <a:avLst/>
          </a:prstGeom>
          <a:noFill/>
          <a:ln/>
        </p:spPr>
        <p:txBody>
          <a:bodyPr wrap="square" lIns="0" tIns="0" rIns="0" bIns="0" rtlCol="0" anchor="ctr"/>
          <a:lstStyle/>
          <a:p>
            <a:pPr algn="ctr" indent="0" marL="0">
              <a:buNone/>
            </a:pPr>
            <a:r>
              <a:rPr lang="en-US" sz="1100" b="1" dirty="0">
                <a:solidFill>
                  <a:srgbClr val="4F46E5"/>
                </a:solidFill>
                <a:latin typeface="Segoe UI" pitchFamily="34" charset="0"/>
                <a:ea typeface="Segoe UI" pitchFamily="34" charset="-122"/>
                <a:cs typeface="Segoe UI" pitchFamily="34" charset="-120"/>
              </a:rPr>
              <a:t>shipped</a:t>
            </a:r>
            <a:endParaRPr lang="en-US" sz="1100" dirty="0"/>
          </a:p>
        </p:txBody>
      </p:sp>
      <p:sp>
        <p:nvSpPr>
          <p:cNvPr id="9" name="Text 6"/>
          <p:cNvSpPr txBox="1"/>
          <p:nvPr/>
        </p:nvSpPr>
        <p:spPr>
          <a:xfrm>
            <a:off x="822960" y="2395728"/>
            <a:ext cx="2936138" cy="214884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FFFFFF"/>
                </a:solidFill>
                <a:latin typeface="Segoe UI" pitchFamily="34" charset="0"/>
                <a:ea typeface="Segoe UI" pitchFamily="34" charset="-122"/>
                <a:cs typeface="Segoe UI" pitchFamily="34" charset="-120"/>
              </a:rPr>
              <a:t>Text practice with a live AI customer</a:t>
            </a:r>
            <a:endParaRPr lang="en-US" sz="1200" dirty="0"/>
          </a:p>
          <a:p>
            <a:pPr marL="177800" indent="-177800">
              <a:spcAft>
                <a:spcPts val="300"/>
              </a:spcAft>
              <a:buSzPct val="100000"/>
              <a:buChar char="•"/>
            </a:pPr>
            <a:r>
              <a:rPr lang="en-US" sz="1200" dirty="0">
                <a:solidFill>
                  <a:srgbClr val="FFFFFF"/>
                </a:solidFill>
                <a:latin typeface="Segoe UI" pitchFamily="34" charset="0"/>
                <a:ea typeface="Segoe UI" pitchFamily="34" charset="-122"/>
                <a:cs typeface="Segoe UI" pitchFamily="34" charset="-120"/>
              </a:rPr>
              <a:t>Browser voice (Web Speech): speech-to-text input, spoken customer replies</a:t>
            </a:r>
            <a:endParaRPr lang="en-US" sz="1200" dirty="0"/>
          </a:p>
          <a:p>
            <a:pPr marL="177800" indent="-177800">
              <a:spcAft>
                <a:spcPts val="300"/>
              </a:spcAft>
              <a:buSzPct val="100000"/>
              <a:buChar char="•"/>
            </a:pPr>
            <a:r>
              <a:rPr lang="en-US" sz="1200" dirty="0">
                <a:solidFill>
                  <a:srgbClr val="FFFFFF"/>
                </a:solidFill>
                <a:latin typeface="Segoe UI" pitchFamily="34" charset="0"/>
                <a:ea typeface="Segoe UI" pitchFamily="34" charset="-122"/>
                <a:cs typeface="Segoe UI" pitchFamily="34" charset="-120"/>
              </a:rPr>
              <a:t>Document-generated personas with citations and approval</a:t>
            </a:r>
            <a:endParaRPr lang="en-US" sz="1200" dirty="0"/>
          </a:p>
          <a:p>
            <a:pPr marL="177800" indent="-177800">
              <a:spcAft>
                <a:spcPts val="300"/>
              </a:spcAft>
              <a:buSzPct val="100000"/>
              <a:buChar char="•"/>
            </a:pPr>
            <a:r>
              <a:rPr lang="en-US" sz="1200" dirty="0">
                <a:solidFill>
                  <a:srgbClr val="FFFFFF"/>
                </a:solidFill>
                <a:latin typeface="Segoe UI" pitchFamily="34" charset="0"/>
                <a:ea typeface="Segoe UI" pitchFamily="34" charset="-122"/>
                <a:cs typeface="Segoe UI" pitchFamily="34" charset="-120"/>
              </a:rPr>
              <a:t>Multi-agent turns: Guard, persona, grounding, state, coach</a:t>
            </a:r>
            <a:endParaRPr lang="en-US" sz="1200" dirty="0"/>
          </a:p>
          <a:p>
            <a:pPr marL="177800" indent="-177800">
              <a:spcAft>
                <a:spcPts val="300"/>
              </a:spcAft>
              <a:buSzPct val="100000"/>
              <a:buChar char="•"/>
            </a:pPr>
            <a:r>
              <a:rPr lang="en-US" sz="1200" dirty="0">
                <a:solidFill>
                  <a:srgbClr val="FFFFFF"/>
                </a:solidFill>
                <a:latin typeface="Segoe UI" pitchFamily="34" charset="0"/>
                <a:ea typeface="Segoe UI" pitchFamily="34" charset="-122"/>
                <a:cs typeface="Segoe UI" pitchFamily="34" charset="-120"/>
              </a:rPr>
              <a:t>Evidence-verified reports with a compliance gate</a:t>
            </a:r>
            <a:endParaRPr lang="en-US" sz="1200" dirty="0"/>
          </a:p>
          <a:p>
            <a:pPr marL="177800" indent="-177800">
              <a:spcAft>
                <a:spcPts val="300"/>
              </a:spcAft>
              <a:buSzPct val="100000"/>
              <a:buChar char="•"/>
            </a:pPr>
            <a:r>
              <a:rPr lang="en-US" sz="1200" dirty="0">
                <a:solidFill>
                  <a:srgbClr val="FFFFFF"/>
                </a:solidFill>
                <a:latin typeface="Segoe UI" pitchFamily="34" charset="0"/>
                <a:ea typeface="Segoe UI" pitchFamily="34" charset="-122"/>
                <a:cs typeface="Segoe UI" pitchFamily="34" charset="-120"/>
              </a:rPr>
              <a:t>Manager readiness view</a:t>
            </a:r>
            <a:endParaRPr lang="en-US" sz="1200" dirty="0"/>
          </a:p>
        </p:txBody>
      </p:sp>
      <p:sp>
        <p:nvSpPr>
          <p:cNvPr id="10" name="Shape 7"/>
          <p:cNvSpPr/>
          <p:nvPr/>
        </p:nvSpPr>
        <p:spPr>
          <a:xfrm>
            <a:off x="4353458" y="1783080"/>
            <a:ext cx="3484778" cy="2788920"/>
          </a:xfrm>
          <a:prstGeom prst="roundRect">
            <a:avLst>
              <a:gd name="adj" fmla="val 3934"/>
            </a:avLst>
          </a:prstGeom>
          <a:solidFill>
            <a:srgbClr val="FFFFFF"/>
          </a:solidFill>
          <a:ln w="19050">
            <a:solidFill>
              <a:srgbClr val="4F46E5"/>
            </a:solidFill>
            <a:prstDash val="dash"/>
          </a:ln>
        </p:spPr>
      </p:sp>
      <p:sp>
        <p:nvSpPr>
          <p:cNvPr id="11" name="Text 8"/>
          <p:cNvSpPr txBox="1"/>
          <p:nvPr/>
        </p:nvSpPr>
        <p:spPr>
          <a:xfrm>
            <a:off x="4627778" y="1965960"/>
            <a:ext cx="1371600" cy="411480"/>
          </a:xfrm>
          <a:prstGeom prst="rect">
            <a:avLst/>
          </a:prstGeom>
          <a:noFill/>
          <a:ln/>
        </p:spPr>
        <p:txBody>
          <a:bodyPr wrap="square" lIns="0" tIns="0" rIns="0" bIns="0" rtlCol="0" anchor="t"/>
          <a:lstStyle/>
          <a:p>
            <a:pPr indent="0" marL="0">
              <a:buNone/>
            </a:pPr>
            <a:r>
              <a:rPr lang="en-US" sz="2000" b="1" dirty="0">
                <a:solidFill>
                  <a:srgbClr val="4F46E5"/>
                </a:solidFill>
                <a:latin typeface="Segoe UI" pitchFamily="34" charset="0"/>
                <a:ea typeface="Segoe UI" pitchFamily="34" charset="-122"/>
                <a:cs typeface="Segoe UI" pitchFamily="34" charset="-120"/>
              </a:rPr>
              <a:t>Next</a:t>
            </a:r>
            <a:endParaRPr lang="en-US" sz="2000" dirty="0"/>
          </a:p>
        </p:txBody>
      </p:sp>
      <p:sp>
        <p:nvSpPr>
          <p:cNvPr id="12" name="Shape 9"/>
          <p:cNvSpPr/>
          <p:nvPr/>
        </p:nvSpPr>
        <p:spPr>
          <a:xfrm>
            <a:off x="6649517" y="2011680"/>
            <a:ext cx="914400" cy="292608"/>
          </a:xfrm>
          <a:prstGeom prst="roundRect">
            <a:avLst>
              <a:gd name="adj" fmla="val 50000"/>
            </a:avLst>
          </a:prstGeom>
          <a:solidFill>
            <a:srgbClr val="EEF2FF"/>
          </a:solidFill>
          <a:ln w="12700">
            <a:solidFill>
              <a:srgbClr val="EEF2FF"/>
            </a:solidFill>
            <a:prstDash val="solid"/>
          </a:ln>
        </p:spPr>
      </p:sp>
      <p:sp>
        <p:nvSpPr>
          <p:cNvPr id="13" name="Text 10"/>
          <p:cNvSpPr txBox="1"/>
          <p:nvPr/>
        </p:nvSpPr>
        <p:spPr>
          <a:xfrm>
            <a:off x="6649517" y="2011680"/>
            <a:ext cx="914400" cy="292608"/>
          </a:xfrm>
          <a:prstGeom prst="rect">
            <a:avLst/>
          </a:prstGeom>
          <a:noFill/>
          <a:ln/>
        </p:spPr>
        <p:txBody>
          <a:bodyPr wrap="square" lIns="0" tIns="0" rIns="0" bIns="0" rtlCol="0" anchor="ctr"/>
          <a:lstStyle/>
          <a:p>
            <a:pPr algn="ctr" indent="0" marL="0">
              <a:buNone/>
            </a:pPr>
            <a:r>
              <a:rPr lang="en-US" sz="1100" b="1" dirty="0">
                <a:solidFill>
                  <a:srgbClr val="4F46E5"/>
                </a:solidFill>
                <a:latin typeface="Segoe UI" pitchFamily="34" charset="0"/>
                <a:ea typeface="Segoe UI" pitchFamily="34" charset="-122"/>
                <a:cs typeface="Segoe UI" pitchFamily="34" charset="-120"/>
              </a:rPr>
              <a:t>planned</a:t>
            </a:r>
            <a:endParaRPr lang="en-US" sz="1100" dirty="0"/>
          </a:p>
        </p:txBody>
      </p:sp>
      <p:sp>
        <p:nvSpPr>
          <p:cNvPr id="14" name="Text 11"/>
          <p:cNvSpPr txBox="1"/>
          <p:nvPr/>
        </p:nvSpPr>
        <p:spPr>
          <a:xfrm>
            <a:off x="4627778" y="2395728"/>
            <a:ext cx="2936138" cy="214884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334155"/>
                </a:solidFill>
                <a:latin typeface="Segoe UI" pitchFamily="34" charset="0"/>
                <a:ea typeface="Segoe UI" pitchFamily="34" charset="-122"/>
                <a:cs typeface="Segoe UI" pitchFamily="34" charset="-120"/>
              </a:rPr>
              <a:t>Gemini Live native voice</a:t>
            </a:r>
            <a:endParaRPr lang="en-US" sz="1200" dirty="0"/>
          </a:p>
          <a:p>
            <a:pPr marL="177800" indent="-177800">
              <a:spcAft>
                <a:spcPts val="300"/>
              </a:spcAft>
              <a:buSzPct val="100000"/>
              <a:buChar char="•"/>
            </a:pPr>
            <a:r>
              <a:rPr lang="en-US" sz="1200" dirty="0">
                <a:solidFill>
                  <a:srgbClr val="334155"/>
                </a:solidFill>
                <a:latin typeface="Segoe UI" pitchFamily="34" charset="0"/>
                <a:ea typeface="Segoe UI" pitchFamily="34" charset="-122"/>
                <a:cs typeface="Segoe UI" pitchFamily="34" charset="-120"/>
              </a:rPr>
              <a:t>VRM avatar</a:t>
            </a:r>
            <a:endParaRPr lang="en-US" sz="1200" dirty="0"/>
          </a:p>
          <a:p>
            <a:pPr marL="177800" indent="-177800">
              <a:spcAft>
                <a:spcPts val="300"/>
              </a:spcAft>
              <a:buSzPct val="100000"/>
              <a:buChar char="•"/>
            </a:pPr>
            <a:r>
              <a:rPr lang="en-US" sz="1200" dirty="0">
                <a:solidFill>
                  <a:srgbClr val="334155"/>
                </a:solidFill>
                <a:latin typeface="Segoe UI" pitchFamily="34" charset="0"/>
                <a:ea typeface="Segoe UI" pitchFamily="34" charset="-122"/>
                <a:cs typeface="Segoe UI" pitchFamily="34" charset="-120"/>
              </a:rPr>
              <a:t>On-device emotion cues</a:t>
            </a:r>
            <a:endParaRPr lang="en-US" sz="1200" dirty="0"/>
          </a:p>
          <a:p>
            <a:pPr marL="177800" indent="-177800">
              <a:spcAft>
                <a:spcPts val="300"/>
              </a:spcAft>
              <a:buSzPct val="100000"/>
              <a:buChar char="•"/>
            </a:pPr>
            <a:r>
              <a:rPr lang="en-US" sz="1200" dirty="0">
                <a:solidFill>
                  <a:srgbClr val="334155"/>
                </a:solidFill>
                <a:latin typeface="Segoe UI" pitchFamily="34" charset="0"/>
                <a:ea typeface="Segoe UI" pitchFamily="34" charset="-122"/>
                <a:cs typeface="Segoe UI" pitchFamily="34" charset="-120"/>
              </a:rPr>
              <a:t>More APAC languages</a:t>
            </a:r>
            <a:endParaRPr lang="en-US" sz="1200" dirty="0"/>
          </a:p>
        </p:txBody>
      </p:sp>
      <p:sp>
        <p:nvSpPr>
          <p:cNvPr id="15" name="Shape 12"/>
          <p:cNvSpPr/>
          <p:nvPr/>
        </p:nvSpPr>
        <p:spPr>
          <a:xfrm>
            <a:off x="8158277" y="1783080"/>
            <a:ext cx="3484778" cy="2788920"/>
          </a:xfrm>
          <a:prstGeom prst="roundRect">
            <a:avLst>
              <a:gd name="adj" fmla="val 3934"/>
            </a:avLst>
          </a:prstGeom>
          <a:solidFill>
            <a:srgbClr val="FFFFFF"/>
          </a:solidFill>
          <a:ln w="19050">
            <a:solidFill>
              <a:srgbClr val="4F46E5"/>
            </a:solidFill>
            <a:prstDash val="dash"/>
          </a:ln>
        </p:spPr>
      </p:sp>
      <p:sp>
        <p:nvSpPr>
          <p:cNvPr id="16" name="Text 13"/>
          <p:cNvSpPr txBox="1"/>
          <p:nvPr/>
        </p:nvSpPr>
        <p:spPr>
          <a:xfrm>
            <a:off x="8432597" y="1965960"/>
            <a:ext cx="1371600" cy="411480"/>
          </a:xfrm>
          <a:prstGeom prst="rect">
            <a:avLst/>
          </a:prstGeom>
          <a:noFill/>
          <a:ln/>
        </p:spPr>
        <p:txBody>
          <a:bodyPr wrap="square" lIns="0" tIns="0" rIns="0" bIns="0" rtlCol="0" anchor="t"/>
          <a:lstStyle/>
          <a:p>
            <a:pPr indent="0" marL="0">
              <a:buNone/>
            </a:pPr>
            <a:r>
              <a:rPr lang="en-US" sz="2000" b="1" dirty="0">
                <a:solidFill>
                  <a:srgbClr val="4F46E5"/>
                </a:solidFill>
                <a:latin typeface="Segoe UI" pitchFamily="34" charset="0"/>
                <a:ea typeface="Segoe UI" pitchFamily="34" charset="-122"/>
                <a:cs typeface="Segoe UI" pitchFamily="34" charset="-120"/>
              </a:rPr>
              <a:t>Later</a:t>
            </a:r>
            <a:endParaRPr lang="en-US" sz="2000" dirty="0"/>
          </a:p>
        </p:txBody>
      </p:sp>
      <p:sp>
        <p:nvSpPr>
          <p:cNvPr id="17" name="Shape 14"/>
          <p:cNvSpPr/>
          <p:nvPr/>
        </p:nvSpPr>
        <p:spPr>
          <a:xfrm>
            <a:off x="10454335" y="2011680"/>
            <a:ext cx="914400" cy="292608"/>
          </a:xfrm>
          <a:prstGeom prst="roundRect">
            <a:avLst>
              <a:gd name="adj" fmla="val 50000"/>
            </a:avLst>
          </a:prstGeom>
          <a:solidFill>
            <a:srgbClr val="EEF2FF"/>
          </a:solidFill>
          <a:ln w="12700">
            <a:solidFill>
              <a:srgbClr val="EEF2FF"/>
            </a:solidFill>
            <a:prstDash val="solid"/>
          </a:ln>
        </p:spPr>
      </p:sp>
      <p:sp>
        <p:nvSpPr>
          <p:cNvPr id="18" name="Text 15"/>
          <p:cNvSpPr txBox="1"/>
          <p:nvPr/>
        </p:nvSpPr>
        <p:spPr>
          <a:xfrm>
            <a:off x="10454335" y="2011680"/>
            <a:ext cx="914400" cy="292608"/>
          </a:xfrm>
          <a:prstGeom prst="rect">
            <a:avLst/>
          </a:prstGeom>
          <a:noFill/>
          <a:ln/>
        </p:spPr>
        <p:txBody>
          <a:bodyPr wrap="square" lIns="0" tIns="0" rIns="0" bIns="0" rtlCol="0" anchor="ctr"/>
          <a:lstStyle/>
          <a:p>
            <a:pPr algn="ctr" indent="0" marL="0">
              <a:buNone/>
            </a:pPr>
            <a:r>
              <a:rPr lang="en-US" sz="1100" b="1" dirty="0">
                <a:solidFill>
                  <a:srgbClr val="4F46E5"/>
                </a:solidFill>
                <a:latin typeface="Segoe UI" pitchFamily="34" charset="0"/>
                <a:ea typeface="Segoe UI" pitchFamily="34" charset="-122"/>
                <a:cs typeface="Segoe UI" pitchFamily="34" charset="-120"/>
              </a:rPr>
              <a:t>planned</a:t>
            </a:r>
            <a:endParaRPr lang="en-US" sz="1100" dirty="0"/>
          </a:p>
        </p:txBody>
      </p:sp>
      <p:sp>
        <p:nvSpPr>
          <p:cNvPr id="19" name="Text 16"/>
          <p:cNvSpPr txBox="1"/>
          <p:nvPr/>
        </p:nvSpPr>
        <p:spPr>
          <a:xfrm>
            <a:off x="8432597" y="2395728"/>
            <a:ext cx="2936138" cy="214884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334155"/>
                </a:solidFill>
                <a:latin typeface="Segoe UI" pitchFamily="34" charset="0"/>
                <a:ea typeface="Segoe UI" pitchFamily="34" charset="-122"/>
                <a:cs typeface="Segoe UI" pitchFamily="34" charset="-120"/>
              </a:rPr>
              <a:t>LMS and CRM integration</a:t>
            </a:r>
            <a:endParaRPr lang="en-US" sz="1200" dirty="0"/>
          </a:p>
          <a:p>
            <a:pPr marL="177800" indent="-177800">
              <a:spcAft>
                <a:spcPts val="300"/>
              </a:spcAft>
              <a:buSzPct val="100000"/>
              <a:buChar char="•"/>
            </a:pPr>
            <a:r>
              <a:rPr lang="en-US" sz="1200" dirty="0">
                <a:solidFill>
                  <a:srgbClr val="334155"/>
                </a:solidFill>
                <a:latin typeface="Segoe UI" pitchFamily="34" charset="0"/>
                <a:ea typeface="Segoe UI" pitchFamily="34" charset="-122"/>
                <a:cs typeface="Segoe UI" pitchFamily="34" charset="-120"/>
              </a:rPr>
              <a:t>Scenarios from anonymized real calls</a:t>
            </a:r>
            <a:endParaRPr lang="en-US" sz="1200" dirty="0"/>
          </a:p>
          <a:p>
            <a:pPr marL="177800" indent="-177800">
              <a:spcAft>
                <a:spcPts val="300"/>
              </a:spcAft>
              <a:buSzPct val="100000"/>
              <a:buChar char="•"/>
            </a:pPr>
            <a:r>
              <a:rPr lang="en-US" sz="1200" dirty="0">
                <a:solidFill>
                  <a:srgbClr val="334155"/>
                </a:solidFill>
                <a:latin typeface="Segoe UI" pitchFamily="34" charset="0"/>
                <a:ea typeface="Segoe UI" pitchFamily="34" charset="-122"/>
                <a:cs typeface="Segoe UI" pitchFamily="34" charset="-120"/>
              </a:rPr>
              <a:t>Certification tracks</a:t>
            </a:r>
            <a:endParaRPr lang="en-US" sz="1200" dirty="0"/>
          </a:p>
          <a:p>
            <a:pPr marL="177800" indent="-177800">
              <a:spcAft>
                <a:spcPts val="300"/>
              </a:spcAft>
              <a:buSzPct val="100000"/>
              <a:buChar char="•"/>
            </a:pPr>
            <a:r>
              <a:rPr lang="en-US" sz="1200" dirty="0">
                <a:solidFill>
                  <a:srgbClr val="334155"/>
                </a:solidFill>
                <a:latin typeface="Segoe UI" pitchFamily="34" charset="0"/>
                <a:ea typeface="Segoe UI" pitchFamily="34" charset="-122"/>
                <a:cs typeface="Segoe UI" pitchFamily="34" charset="-120"/>
              </a:rPr>
              <a:t>Calibration against senior assessors</a:t>
            </a:r>
            <a:endParaRPr lang="en-US" sz="1200" dirty="0"/>
          </a:p>
        </p:txBody>
      </p:sp>
      <p:sp>
        <p:nvSpPr>
          <p:cNvPr id="20" name="Text 17"/>
          <p:cNvSpPr txBox="1"/>
          <p:nvPr/>
        </p:nvSpPr>
        <p:spPr>
          <a:xfrm>
            <a:off x="548640" y="4727448"/>
            <a:ext cx="11094415" cy="274320"/>
          </a:xfrm>
          <a:prstGeom prst="rect">
            <a:avLst/>
          </a:prstGeom>
          <a:noFill/>
          <a:ln/>
        </p:spPr>
        <p:txBody>
          <a:bodyPr wrap="square" lIns="0" tIns="0" rIns="0" bIns="0" rtlCol="0" anchor="t"/>
          <a:lstStyle/>
          <a:p>
            <a:pPr indent="0" marL="0">
              <a:buNone/>
            </a:pPr>
            <a:r>
              <a:rPr lang="en-US" sz="1300" b="1" dirty="0">
                <a:solidFill>
                  <a:srgbClr val="0F172A"/>
                </a:solidFill>
                <a:latin typeface="Segoe UI" pitchFamily="34" charset="0"/>
                <a:ea typeface="Segoe UI" pitchFamily="34" charset="-122"/>
                <a:cs typeface="Segoe UI" pitchFamily="34" charset="-120"/>
              </a:rPr>
              <a:t>Next step: a paid 8-week pilot with a control cohort and pre-agreed KPIs.</a:t>
            </a:r>
            <a:endParaRPr lang="en-US" sz="1300" dirty="0"/>
          </a:p>
        </p:txBody>
      </p:sp>
      <p:sp>
        <p:nvSpPr>
          <p:cNvPr id="21" name="Text 18"/>
          <p:cNvSpPr txBox="1"/>
          <p:nvPr/>
        </p:nvSpPr>
        <p:spPr>
          <a:xfrm>
            <a:off x="548640" y="5120640"/>
            <a:ext cx="2743200" cy="320040"/>
          </a:xfrm>
          <a:prstGeom prst="rect">
            <a:avLst/>
          </a:prstGeom>
          <a:noFill/>
          <a:ln/>
        </p:spPr>
        <p:txBody>
          <a:bodyPr wrap="square" lIns="0" tIns="0" rIns="0" bIns="0" rtlCol="0" anchor="t"/>
          <a:lstStyle/>
          <a:p>
            <a:pPr indent="0" marL="0">
              <a:buNone/>
            </a:pPr>
            <a:r>
              <a:rPr lang="en-US" sz="1500" b="1" dirty="0">
                <a:solidFill>
                  <a:srgbClr val="0F172A"/>
                </a:solidFill>
                <a:latin typeface="Segoe UI" pitchFamily="34" charset="0"/>
                <a:ea typeface="Segoe UI" pitchFamily="34" charset="-122"/>
                <a:cs typeface="Segoe UI" pitchFamily="34" charset="-120"/>
              </a:rPr>
              <a:t>[Team name]</a:t>
            </a:r>
            <a:endParaRPr lang="en-US" sz="1500" dirty="0"/>
          </a:p>
        </p:txBody>
      </p:sp>
      <p:sp>
        <p:nvSpPr>
          <p:cNvPr id="22" name="Text 19"/>
          <p:cNvSpPr txBox="1"/>
          <p:nvPr/>
        </p:nvSpPr>
        <p:spPr>
          <a:xfrm>
            <a:off x="3108960" y="5120640"/>
            <a:ext cx="5760720" cy="320040"/>
          </a:xfrm>
          <a:prstGeom prst="rect">
            <a:avLst/>
          </a:prstGeom>
          <a:noFill/>
          <a:ln/>
        </p:spPr>
        <p:txBody>
          <a:bodyPr wrap="square" lIns="0" tIns="0" rIns="0" bIns="0" rtlCol="0" anchor="t"/>
          <a:lstStyle/>
          <a:p>
            <a:pPr indent="0" marL="0">
              <a:buNone/>
            </a:pPr>
            <a:r>
              <a:rPr lang="en-US" sz="1300" b="1" dirty="0">
                <a:solidFill>
                  <a:srgbClr val="0F172A"/>
                </a:solidFill>
                <a:latin typeface="Segoe UI" pitchFamily="34" charset="0"/>
                <a:ea typeface="Segoe UI" pitchFamily="34" charset="-122"/>
                <a:cs typeface="Segoe UI" pitchFamily="34" charset="-120"/>
              </a:rPr>
              <a:t>GitHub: </a:t>
            </a:r>
            <a:pPr indent="0" marL="0">
              <a:buNone/>
            </a:pPr>
            <a:r>
              <a:rPr lang="en-US" sz="1300" u="sng" dirty="0">
                <a:solidFill>
                  <a:srgbClr val="4F46E5"/>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github.com/jease0502/SkillCoach-AIBC</a:t>
            </a:r>
            <a:endParaRPr lang="en-US" sz="1300" dirty="0"/>
          </a:p>
        </p:txBody>
      </p:sp>
      <p:sp>
        <p:nvSpPr>
          <p:cNvPr id="23" name="Shape 20"/>
          <p:cNvSpPr/>
          <p:nvPr/>
        </p:nvSpPr>
        <p:spPr>
          <a:xfrm>
            <a:off x="548640" y="5532120"/>
            <a:ext cx="548640" cy="548640"/>
          </a:xfrm>
          <a:prstGeom prst="ellipse">
            <a:avLst/>
          </a:prstGeom>
          <a:solidFill>
            <a:srgbClr val="EEF2FF"/>
          </a:solidFill>
          <a:ln w="12700">
            <a:solidFill>
              <a:srgbClr val="EEF2FF"/>
            </a:solidFill>
            <a:prstDash val="solid"/>
          </a:ln>
        </p:spPr>
      </p:sp>
      <p:sp>
        <p:nvSpPr>
          <p:cNvPr id="24" name="Text 21"/>
          <p:cNvSpPr txBox="1"/>
          <p:nvPr/>
        </p:nvSpPr>
        <p:spPr>
          <a:xfrm>
            <a:off x="548640" y="5532120"/>
            <a:ext cx="548640" cy="548640"/>
          </a:xfrm>
          <a:prstGeom prst="rect">
            <a:avLst/>
          </a:prstGeom>
          <a:noFill/>
          <a:ln/>
        </p:spPr>
        <p:txBody>
          <a:bodyPr wrap="square" lIns="0" tIns="0" rIns="0" bIns="0" rtlCol="0" anchor="ctr"/>
          <a:lstStyle/>
          <a:p>
            <a:pPr algn="ctr" indent="0" marL="0">
              <a:buNone/>
            </a:pPr>
            <a:r>
              <a:rPr lang="en-US" sz="1200" b="1" dirty="0">
                <a:solidFill>
                  <a:srgbClr val="4F46E5"/>
                </a:solidFill>
                <a:latin typeface="Segoe UI" pitchFamily="34" charset="0"/>
                <a:ea typeface="Segoe UI" pitchFamily="34" charset="-122"/>
                <a:cs typeface="Segoe UI" pitchFamily="34" charset="-120"/>
              </a:rPr>
              <a:t>[ ]</a:t>
            </a:r>
            <a:endParaRPr lang="en-US" sz="1200" dirty="0"/>
          </a:p>
        </p:txBody>
      </p:sp>
      <p:sp>
        <p:nvSpPr>
          <p:cNvPr id="25" name="Text 22"/>
          <p:cNvSpPr txBox="1"/>
          <p:nvPr/>
        </p:nvSpPr>
        <p:spPr>
          <a:xfrm>
            <a:off x="1207008" y="5532120"/>
            <a:ext cx="1783080" cy="594360"/>
          </a:xfrm>
          <a:prstGeom prst="rect">
            <a:avLst/>
          </a:prstGeom>
          <a:noFill/>
          <a:ln/>
        </p:spPr>
        <p:txBody>
          <a:bodyPr wrap="square" lIns="0" tIns="0" rIns="0" bIns="0"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[Name]</a:t>
            </a:r>
            <a:endParaRPr lang="en-US" sz="1300" dirty="0"/>
          </a:p>
          <a:p>
            <a:pPr indent="0" marL="0">
              <a:buNone/>
            </a:pPr>
            <a:r>
              <a:rPr lang="en-US" sz="1100" dirty="0">
                <a:solidFill>
                  <a:srgbClr val="64748B"/>
                </a:solidFill>
                <a:latin typeface="Segoe UI" pitchFamily="34" charset="0"/>
                <a:ea typeface="Segoe UI" pitchFamily="34" charset="-122"/>
                <a:cs typeface="Segoe UI" pitchFamily="34" charset="-120"/>
              </a:rPr>
              <a:t>[Role, one-line background]</a:t>
            </a:r>
            <a:endParaRPr lang="en-US" sz="1300" dirty="0"/>
          </a:p>
        </p:txBody>
      </p:sp>
      <p:sp>
        <p:nvSpPr>
          <p:cNvPr id="26" name="Shape 23"/>
          <p:cNvSpPr/>
          <p:nvPr/>
        </p:nvSpPr>
        <p:spPr>
          <a:xfrm>
            <a:off x="3063240" y="5532120"/>
            <a:ext cx="548640" cy="548640"/>
          </a:xfrm>
          <a:prstGeom prst="ellipse">
            <a:avLst/>
          </a:prstGeom>
          <a:solidFill>
            <a:srgbClr val="EEF2FF"/>
          </a:solidFill>
          <a:ln w="12700">
            <a:solidFill>
              <a:srgbClr val="EEF2FF"/>
            </a:solidFill>
            <a:prstDash val="solid"/>
          </a:ln>
        </p:spPr>
      </p:sp>
      <p:sp>
        <p:nvSpPr>
          <p:cNvPr id="27" name="Text 24"/>
          <p:cNvSpPr txBox="1"/>
          <p:nvPr/>
        </p:nvSpPr>
        <p:spPr>
          <a:xfrm>
            <a:off x="3063240" y="5532120"/>
            <a:ext cx="548640" cy="548640"/>
          </a:xfrm>
          <a:prstGeom prst="rect">
            <a:avLst/>
          </a:prstGeom>
          <a:noFill/>
          <a:ln/>
        </p:spPr>
        <p:txBody>
          <a:bodyPr wrap="square" lIns="0" tIns="0" rIns="0" bIns="0" rtlCol="0" anchor="ctr"/>
          <a:lstStyle/>
          <a:p>
            <a:pPr algn="ctr" indent="0" marL="0">
              <a:buNone/>
            </a:pPr>
            <a:r>
              <a:rPr lang="en-US" sz="1200" b="1" dirty="0">
                <a:solidFill>
                  <a:srgbClr val="4F46E5"/>
                </a:solidFill>
                <a:latin typeface="Segoe UI" pitchFamily="34" charset="0"/>
                <a:ea typeface="Segoe UI" pitchFamily="34" charset="-122"/>
                <a:cs typeface="Segoe UI" pitchFamily="34" charset="-120"/>
              </a:rPr>
              <a:t>[ ]</a:t>
            </a:r>
            <a:endParaRPr lang="en-US" sz="1200" dirty="0"/>
          </a:p>
        </p:txBody>
      </p:sp>
      <p:sp>
        <p:nvSpPr>
          <p:cNvPr id="28" name="Text 25"/>
          <p:cNvSpPr txBox="1"/>
          <p:nvPr/>
        </p:nvSpPr>
        <p:spPr>
          <a:xfrm>
            <a:off x="3721608" y="5532120"/>
            <a:ext cx="1783080" cy="594360"/>
          </a:xfrm>
          <a:prstGeom prst="rect">
            <a:avLst/>
          </a:prstGeom>
          <a:noFill/>
          <a:ln/>
        </p:spPr>
        <p:txBody>
          <a:bodyPr wrap="square" lIns="0" tIns="0" rIns="0" bIns="0"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[Name]</a:t>
            </a:r>
            <a:endParaRPr lang="en-US" sz="1300" dirty="0"/>
          </a:p>
          <a:p>
            <a:pPr indent="0" marL="0">
              <a:buNone/>
            </a:pPr>
            <a:r>
              <a:rPr lang="en-US" sz="1100" dirty="0">
                <a:solidFill>
                  <a:srgbClr val="64748B"/>
                </a:solidFill>
                <a:latin typeface="Segoe UI" pitchFamily="34" charset="0"/>
                <a:ea typeface="Segoe UI" pitchFamily="34" charset="-122"/>
                <a:cs typeface="Segoe UI" pitchFamily="34" charset="-120"/>
              </a:rPr>
              <a:t>[Role, one-line background]</a:t>
            </a:r>
            <a:endParaRPr lang="en-US" sz="1300" dirty="0"/>
          </a:p>
        </p:txBody>
      </p:sp>
      <p:sp>
        <p:nvSpPr>
          <p:cNvPr id="29" name="Shape 26"/>
          <p:cNvSpPr/>
          <p:nvPr/>
        </p:nvSpPr>
        <p:spPr>
          <a:xfrm>
            <a:off x="5577840" y="5532120"/>
            <a:ext cx="548640" cy="548640"/>
          </a:xfrm>
          <a:prstGeom prst="ellipse">
            <a:avLst/>
          </a:prstGeom>
          <a:solidFill>
            <a:srgbClr val="EEF2FF"/>
          </a:solidFill>
          <a:ln w="12700">
            <a:solidFill>
              <a:srgbClr val="EEF2FF"/>
            </a:solidFill>
            <a:prstDash val="solid"/>
          </a:ln>
        </p:spPr>
      </p:sp>
      <p:sp>
        <p:nvSpPr>
          <p:cNvPr id="30" name="Text 27"/>
          <p:cNvSpPr txBox="1"/>
          <p:nvPr/>
        </p:nvSpPr>
        <p:spPr>
          <a:xfrm>
            <a:off x="5577840" y="5532120"/>
            <a:ext cx="548640" cy="548640"/>
          </a:xfrm>
          <a:prstGeom prst="rect">
            <a:avLst/>
          </a:prstGeom>
          <a:noFill/>
          <a:ln/>
        </p:spPr>
        <p:txBody>
          <a:bodyPr wrap="square" lIns="0" tIns="0" rIns="0" bIns="0" rtlCol="0" anchor="ctr"/>
          <a:lstStyle/>
          <a:p>
            <a:pPr algn="ctr" indent="0" marL="0">
              <a:buNone/>
            </a:pPr>
            <a:r>
              <a:rPr lang="en-US" sz="1200" b="1" dirty="0">
                <a:solidFill>
                  <a:srgbClr val="4F46E5"/>
                </a:solidFill>
                <a:latin typeface="Segoe UI" pitchFamily="34" charset="0"/>
                <a:ea typeface="Segoe UI" pitchFamily="34" charset="-122"/>
                <a:cs typeface="Segoe UI" pitchFamily="34" charset="-120"/>
              </a:rPr>
              <a:t>[ ]</a:t>
            </a:r>
            <a:endParaRPr lang="en-US" sz="1200" dirty="0"/>
          </a:p>
        </p:txBody>
      </p:sp>
      <p:sp>
        <p:nvSpPr>
          <p:cNvPr id="31" name="Text 28"/>
          <p:cNvSpPr txBox="1"/>
          <p:nvPr/>
        </p:nvSpPr>
        <p:spPr>
          <a:xfrm>
            <a:off x="6236208" y="5532120"/>
            <a:ext cx="1783080" cy="594360"/>
          </a:xfrm>
          <a:prstGeom prst="rect">
            <a:avLst/>
          </a:prstGeom>
          <a:noFill/>
          <a:ln/>
        </p:spPr>
        <p:txBody>
          <a:bodyPr wrap="square" lIns="0" tIns="0" rIns="0" bIns="0"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[Name]</a:t>
            </a:r>
            <a:endParaRPr lang="en-US" sz="1300" dirty="0"/>
          </a:p>
          <a:p>
            <a:pPr indent="0" marL="0">
              <a:buNone/>
            </a:pPr>
            <a:r>
              <a:rPr lang="en-US" sz="1100" dirty="0">
                <a:solidFill>
                  <a:srgbClr val="64748B"/>
                </a:solidFill>
                <a:latin typeface="Segoe UI" pitchFamily="34" charset="0"/>
                <a:ea typeface="Segoe UI" pitchFamily="34" charset="-122"/>
                <a:cs typeface="Segoe UI" pitchFamily="34" charset="-120"/>
              </a:rPr>
              <a:t>[Role, one-line background]</a:t>
            </a:r>
            <a:endParaRPr lang="en-US" sz="1300" dirty="0"/>
          </a:p>
        </p:txBody>
      </p:sp>
      <p:pic>
        <p:nvPicPr>
          <p:cNvPr id="32" name="Image 0" descr="preencoded.png">    </p:cNvPr>
          <p:cNvPicPr>
            <a:picLocks noChangeAspect="1"/>
          </p:cNvPicPr>
          <p:nvPr/>
        </p:nvPicPr>
        <p:blipFill>
          <a:blip r:embed="rId2"/>
          <a:stretch>
            <a:fillRect/>
          </a:stretch>
        </p:blipFill>
        <p:spPr>
          <a:xfrm>
            <a:off x="9144000" y="5074920"/>
            <a:ext cx="1097280" cy="1097280"/>
          </a:xfrm>
          <a:prstGeom prst="rect">
            <a:avLst/>
          </a:prstGeom>
        </p:spPr>
      </p:pic>
      <p:sp>
        <p:nvSpPr>
          <p:cNvPr id="33" name="Text 29"/>
          <p:cNvSpPr txBox="1"/>
          <p:nvPr/>
        </p:nvSpPr>
        <p:spPr>
          <a:xfrm>
            <a:off x="10332720" y="5074920"/>
            <a:ext cx="1325880" cy="1097280"/>
          </a:xfrm>
          <a:prstGeom prst="rect">
            <a:avLst/>
          </a:prstGeom>
          <a:noFill/>
          <a:ln/>
        </p:spPr>
        <p:txBody>
          <a:bodyPr wrap="square" lIns="0" tIns="0" rIns="0" bIns="0"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Live demo</a:t>
            </a:r>
            <a:endParaRPr lang="en-US" sz="1000" dirty="0"/>
          </a:p>
          <a:p>
            <a:pPr indent="0" marL="0">
              <a:buNone/>
            </a:pPr>
            <a:r>
              <a:rPr lang="en-US" sz="1000" dirty="0">
                <a:solidFill>
                  <a:srgbClr val="334155"/>
                </a:solidFill>
                <a:latin typeface="Segoe UI" pitchFamily="34" charset="0"/>
                <a:ea typeface="Segoe UI" pitchFamily="34" charset="-122"/>
                <a:cs typeface="Segoe UI" pitchFamily="34" charset="-120"/>
              </a:rPr>
              <a:t>Scan to try it</a:t>
            </a:r>
            <a:endParaRPr lang="en-US" sz="1000" dirty="0"/>
          </a:p>
          <a:p>
            <a:pPr indent="0" marL="0">
              <a:buNone/>
            </a:pPr>
            <a:r>
              <a:rPr lang="en-US" sz="1000" dirty="0">
                <a:solidFill>
                  <a:srgbClr val="334155"/>
                </a:solidFill>
                <a:latin typeface="Segoe UI" pitchFamily="34" charset="0"/>
                <a:ea typeface="Segoe UI" pitchFamily="34" charset="-122"/>
                <a:cs typeface="Segoe UI" pitchFamily="34" charset="-120"/>
              </a:rPr>
              <a:t>Video: [Video URL]</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lstStyle/>
          <a:p>
            <a:pPr indent="0" marL="0">
              <a:buNone/>
            </a:pPr>
            <a:r>
              <a:rPr lang="en-US" sz="1300" b="1" spc="100" kern="0" dirty="0">
                <a:solidFill>
                  <a:srgbClr val="4F46E5"/>
                </a:solidFill>
                <a:latin typeface="Segoe UI" pitchFamily="34" charset="0"/>
                <a:ea typeface="Segoe UI" pitchFamily="34" charset="-122"/>
                <a:cs typeface="Segoe UI" pitchFamily="34" charset="-120"/>
              </a:rPr>
              <a:t>SOURCES</a:t>
            </a:r>
            <a:endParaRPr lang="en-US" sz="1300" dirty="0"/>
          </a:p>
        </p:txBody>
      </p:sp>
      <p:sp>
        <p:nvSpPr>
          <p:cNvPr id="3" name="Text 1"/>
          <p:cNvSpPr/>
          <p:nvPr>
            <p:ph idx="102" type="title" hasCustomPrompt="1"/>
          </p:nvPr>
        </p:nvSpPr>
        <p:spPr>
          <a:xfrm>
            <a:off x="548640" y="694944"/>
            <a:ext cx="11094415" cy="914400"/>
          </a:xfrm>
          <a:prstGeom prst="rect">
            <a:avLst/>
          </a:prstGeom>
          <a:noFill/>
          <a:ln/>
        </p:spPr>
        <p:txBody>
          <a:bodyPr wrap="square" lIns="0" tIns="0" rIns="0" bIns="0" rtlCol="0" anchor="t"/>
          <a:lstStyle/>
          <a:p>
            <a:pPr algn="l" indent="0" marL="0">
              <a:buNone/>
            </a:pPr>
            <a:r>
              <a:rPr lang="en-US" sz="2800" b="1" dirty="0">
                <a:solidFill>
                  <a:srgbClr val="0F172A"/>
                </a:solidFill>
                <a:latin typeface="Segoe UI" pitchFamily="34" charset="0"/>
                <a:ea typeface="Segoe UI" pitchFamily="34" charset="-122"/>
                <a:cs typeface="Segoe UI" pitchFamily="34" charset="-120"/>
              </a:rPr>
              <a:t>References cited in this deck</a:t>
            </a:r>
            <a:endParaRPr lang="en-US" sz="2800" dirty="0"/>
          </a:p>
        </p:txBody>
      </p:sp>
      <p:sp>
        <p:nvSpPr>
          <p:cNvPr id="5" name="Text 2"/>
          <p:cNvSpPr txBox="1"/>
          <p:nvPr/>
        </p:nvSpPr>
        <p:spPr>
          <a:xfrm>
            <a:off x="548640" y="1645920"/>
            <a:ext cx="457200" cy="274320"/>
          </a:xfrm>
          <a:prstGeom prst="rect">
            <a:avLst/>
          </a:prstGeom>
          <a:noFill/>
          <a:ln/>
        </p:spPr>
        <p:txBody>
          <a:bodyPr wrap="square" lIns="0" tIns="0" rIns="0" bIns="0" rtlCol="0" anchor="t"/>
          <a:lstStyle/>
          <a:p>
            <a:pPr indent="0" marL="0">
              <a:buNone/>
            </a:pPr>
            <a:r>
              <a:rPr lang="en-US" sz="1100" b="1" dirty="0">
                <a:solidFill>
                  <a:srgbClr val="4F46E5"/>
                </a:solidFill>
                <a:latin typeface="Segoe UI" pitchFamily="34" charset="0"/>
                <a:ea typeface="Segoe UI" pitchFamily="34" charset="-122"/>
                <a:cs typeface="Segoe UI" pitchFamily="34" charset="-120"/>
              </a:rPr>
              <a:t>S1</a:t>
            </a:r>
            <a:endParaRPr lang="en-US" sz="1100" dirty="0"/>
          </a:p>
        </p:txBody>
      </p:sp>
      <p:sp>
        <p:nvSpPr>
          <p:cNvPr id="6" name="Text 3"/>
          <p:cNvSpPr txBox="1"/>
          <p:nvPr/>
        </p:nvSpPr>
        <p:spPr>
          <a:xfrm>
            <a:off x="1051560" y="1645920"/>
            <a:ext cx="4861408" cy="576072"/>
          </a:xfrm>
          <a:prstGeom prst="rect">
            <a:avLst/>
          </a:prstGeom>
          <a:noFill/>
          <a:ln/>
        </p:spPr>
        <p:txBody>
          <a:bodyPr wrap="square" lIns="0" tIns="0" rIns="0" bIns="0" rtlCol="0" anchor="t"/>
          <a:lstStyle/>
          <a:p>
            <a:pPr indent="0" marL="0">
              <a:buNone/>
            </a:pPr>
            <a:r>
              <a:rPr lang="en-US" sz="1100" dirty="0">
                <a:solidFill>
                  <a:srgbClr val="0F172A"/>
                </a:solidFill>
                <a:latin typeface="Segoe UI" pitchFamily="34" charset="0"/>
                <a:ea typeface="Segoe UI" pitchFamily="34" charset="-122"/>
                <a:cs typeface="Segoe UI" pitchFamily="34" charset="-120"/>
              </a:rPr>
              <a:t>ATD, State of the Industry benchmarks (2024 and 2025 reports)</a:t>
            </a:r>
            <a:endParaRPr lang="en-US" sz="1100" dirty="0"/>
          </a:p>
          <a:p>
            <a:pPr indent="0" marL="0">
              <a:buNone/>
            </a:pPr>
            <a:r>
              <a:rPr lang="en-US" sz="1000" u="sng" dirty="0">
                <a:solidFill>
                  <a:srgbClr val="64748B"/>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https://www.td.org/content/atd-blog/benchmarks-and-trends-from-the-2025-state-of-the-industry-report</a:t>
            </a:r>
            <a:endParaRPr lang="en-US" sz="1100" dirty="0"/>
          </a:p>
        </p:txBody>
      </p:sp>
      <p:sp>
        <p:nvSpPr>
          <p:cNvPr id="7" name="Text 4"/>
          <p:cNvSpPr txBox="1"/>
          <p:nvPr/>
        </p:nvSpPr>
        <p:spPr>
          <a:xfrm>
            <a:off x="548640" y="2258568"/>
            <a:ext cx="457200" cy="274320"/>
          </a:xfrm>
          <a:prstGeom prst="rect">
            <a:avLst/>
          </a:prstGeom>
          <a:noFill/>
          <a:ln/>
        </p:spPr>
        <p:txBody>
          <a:bodyPr wrap="square" lIns="0" tIns="0" rIns="0" bIns="0" rtlCol="0" anchor="t"/>
          <a:lstStyle/>
          <a:p>
            <a:pPr indent="0" marL="0">
              <a:buNone/>
            </a:pPr>
            <a:r>
              <a:rPr lang="en-US" sz="1100" b="1" dirty="0">
                <a:solidFill>
                  <a:srgbClr val="4F46E5"/>
                </a:solidFill>
                <a:latin typeface="Segoe UI" pitchFamily="34" charset="0"/>
                <a:ea typeface="Segoe UI" pitchFamily="34" charset="-122"/>
                <a:cs typeface="Segoe UI" pitchFamily="34" charset="-120"/>
              </a:rPr>
              <a:t>S3</a:t>
            </a:r>
            <a:endParaRPr lang="en-US" sz="1100" dirty="0"/>
          </a:p>
        </p:txBody>
      </p:sp>
      <p:sp>
        <p:nvSpPr>
          <p:cNvPr id="8" name="Text 5"/>
          <p:cNvSpPr txBox="1"/>
          <p:nvPr/>
        </p:nvSpPr>
        <p:spPr>
          <a:xfrm>
            <a:off x="1051560" y="2258568"/>
            <a:ext cx="4861408" cy="576072"/>
          </a:xfrm>
          <a:prstGeom prst="rect">
            <a:avLst/>
          </a:prstGeom>
          <a:noFill/>
          <a:ln/>
        </p:spPr>
        <p:txBody>
          <a:bodyPr wrap="square" lIns="0" tIns="0" rIns="0" bIns="0" rtlCol="0" anchor="t"/>
          <a:lstStyle/>
          <a:p>
            <a:pPr indent="0" marL="0">
              <a:buNone/>
            </a:pPr>
            <a:r>
              <a:rPr lang="en-US" sz="1100" dirty="0">
                <a:solidFill>
                  <a:srgbClr val="0F172A"/>
                </a:solidFill>
                <a:latin typeface="Segoe UI" pitchFamily="34" charset="0"/>
                <a:ea typeface="Segoe UI" pitchFamily="34" charset="-122"/>
                <a:cs typeface="Segoe UI" pitchFamily="34" charset="-120"/>
              </a:rPr>
              <a:t>Brynjolfsson, Li, Raymond, Generative AI at Work, NBER w31161; QJE 2025</a:t>
            </a:r>
            <a:endParaRPr lang="en-US" sz="1100" dirty="0"/>
          </a:p>
          <a:p>
            <a:pPr indent="0" marL="0">
              <a:buNone/>
            </a:pPr>
            <a:r>
              <a:rPr lang="en-US" sz="1000" u="sng" dirty="0">
                <a:solidFill>
                  <a:srgbClr val="64748B"/>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https://www.nber.org/papers/w31161</a:t>
            </a:r>
            <a:endParaRPr lang="en-US" sz="1100" dirty="0"/>
          </a:p>
        </p:txBody>
      </p:sp>
      <p:sp>
        <p:nvSpPr>
          <p:cNvPr id="9" name="Text 6"/>
          <p:cNvSpPr txBox="1"/>
          <p:nvPr/>
        </p:nvSpPr>
        <p:spPr>
          <a:xfrm>
            <a:off x="548640" y="2871216"/>
            <a:ext cx="457200" cy="274320"/>
          </a:xfrm>
          <a:prstGeom prst="rect">
            <a:avLst/>
          </a:prstGeom>
          <a:noFill/>
          <a:ln/>
        </p:spPr>
        <p:txBody>
          <a:bodyPr wrap="square" lIns="0" tIns="0" rIns="0" bIns="0" rtlCol="0" anchor="t"/>
          <a:lstStyle/>
          <a:p>
            <a:pPr indent="0" marL="0">
              <a:buNone/>
            </a:pPr>
            <a:r>
              <a:rPr lang="en-US" sz="1100" b="1" dirty="0">
                <a:solidFill>
                  <a:srgbClr val="4F46E5"/>
                </a:solidFill>
                <a:latin typeface="Segoe UI" pitchFamily="34" charset="0"/>
                <a:ea typeface="Segoe UI" pitchFamily="34" charset="-122"/>
                <a:cs typeface="Segoe UI" pitchFamily="34" charset="-120"/>
              </a:rPr>
              <a:t>S6</a:t>
            </a:r>
            <a:endParaRPr lang="en-US" sz="1100" dirty="0"/>
          </a:p>
        </p:txBody>
      </p:sp>
      <p:sp>
        <p:nvSpPr>
          <p:cNvPr id="10" name="Text 7"/>
          <p:cNvSpPr txBox="1"/>
          <p:nvPr/>
        </p:nvSpPr>
        <p:spPr>
          <a:xfrm>
            <a:off x="1051560" y="2871216"/>
            <a:ext cx="4861408" cy="576072"/>
          </a:xfrm>
          <a:prstGeom prst="rect">
            <a:avLst/>
          </a:prstGeom>
          <a:noFill/>
          <a:ln/>
        </p:spPr>
        <p:txBody>
          <a:bodyPr wrap="square" lIns="0" tIns="0" rIns="0" bIns="0" rtlCol="0" anchor="t"/>
          <a:lstStyle/>
          <a:p>
            <a:pPr indent="0" marL="0">
              <a:buNone/>
            </a:pPr>
            <a:r>
              <a:rPr lang="en-US" sz="1100" dirty="0">
                <a:solidFill>
                  <a:srgbClr val="0F172A"/>
                </a:solidFill>
                <a:latin typeface="Segoe UI" pitchFamily="34" charset="0"/>
                <a:ea typeface="Segoe UI" pitchFamily="34" charset="-122"/>
                <a:cs typeface="Segoe UI" pitchFamily="34" charset="-120"/>
              </a:rPr>
              <a:t>Philippine contact center attrition (newsbytes.ph)</a:t>
            </a:r>
            <a:endParaRPr lang="en-US" sz="1100" dirty="0"/>
          </a:p>
          <a:p>
            <a:pPr indent="0" marL="0">
              <a:buNone/>
            </a:pPr>
            <a:r>
              <a:rPr lang="en-US" sz="1000" u="sng" dirty="0">
                <a:solidFill>
                  <a:srgbClr val="64748B"/>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https://newsbytes.ph/2024/05/28/attrition-rates-in-ph-contact-center-firms-continue-to-go-down/</a:t>
            </a:r>
            <a:endParaRPr lang="en-US" sz="1100" dirty="0"/>
          </a:p>
        </p:txBody>
      </p:sp>
      <p:sp>
        <p:nvSpPr>
          <p:cNvPr id="11" name="Text 8"/>
          <p:cNvSpPr txBox="1"/>
          <p:nvPr/>
        </p:nvSpPr>
        <p:spPr>
          <a:xfrm>
            <a:off x="548640" y="3483864"/>
            <a:ext cx="457200" cy="274320"/>
          </a:xfrm>
          <a:prstGeom prst="rect">
            <a:avLst/>
          </a:prstGeom>
          <a:noFill/>
          <a:ln/>
        </p:spPr>
        <p:txBody>
          <a:bodyPr wrap="square" lIns="0" tIns="0" rIns="0" bIns="0" rtlCol="0" anchor="t"/>
          <a:lstStyle/>
          <a:p>
            <a:pPr indent="0" marL="0">
              <a:buNone/>
            </a:pPr>
            <a:r>
              <a:rPr lang="en-US" sz="1100" b="1" dirty="0">
                <a:solidFill>
                  <a:srgbClr val="4F46E5"/>
                </a:solidFill>
                <a:latin typeface="Segoe UI" pitchFamily="34" charset="0"/>
                <a:ea typeface="Segoe UI" pitchFamily="34" charset="-122"/>
                <a:cs typeface="Segoe UI" pitchFamily="34" charset="-120"/>
              </a:rPr>
              <a:t>S7</a:t>
            </a:r>
            <a:endParaRPr lang="en-US" sz="1100" dirty="0"/>
          </a:p>
        </p:txBody>
      </p:sp>
      <p:sp>
        <p:nvSpPr>
          <p:cNvPr id="12" name="Text 9"/>
          <p:cNvSpPr txBox="1"/>
          <p:nvPr/>
        </p:nvSpPr>
        <p:spPr>
          <a:xfrm>
            <a:off x="1051560" y="3483864"/>
            <a:ext cx="4861408" cy="576072"/>
          </a:xfrm>
          <a:prstGeom prst="rect">
            <a:avLst/>
          </a:prstGeom>
          <a:noFill/>
          <a:ln/>
        </p:spPr>
        <p:txBody>
          <a:bodyPr wrap="square" lIns="0" tIns="0" rIns="0" bIns="0" rtlCol="0" anchor="t"/>
          <a:lstStyle/>
          <a:p>
            <a:pPr indent="0" marL="0">
              <a:buNone/>
            </a:pPr>
            <a:r>
              <a:rPr lang="en-US" sz="1100" dirty="0">
                <a:solidFill>
                  <a:srgbClr val="0F172A"/>
                </a:solidFill>
                <a:latin typeface="Segoe UI" pitchFamily="34" charset="0"/>
                <a:ea typeface="Segoe UI" pitchFamily="34" charset="-122"/>
                <a:cs typeface="Segoe UI" pitchFamily="34" charset="-120"/>
              </a:rPr>
              <a:t>Contact center attrition 2024 (NICE 39% global), as reported</a:t>
            </a:r>
            <a:endParaRPr lang="en-US" sz="1100" dirty="0"/>
          </a:p>
          <a:p>
            <a:pPr indent="0" marL="0">
              <a:buNone/>
            </a:pPr>
            <a:r>
              <a:rPr lang="en-US" sz="1000" u="sng" dirty="0">
                <a:solidFill>
                  <a:srgbClr val="64748B"/>
                </a:solidFill>
                <a:latin typeface="Segoe UI" pitchFamily="34" charset="0"/>
                <a:ea typeface="Segoe UI" pitchFamily="34" charset="-122"/>
                <a:cs typeface="Segoe U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https://stealthagents.com/research/bpo-agent-attrition-statistics-2026</a:t>
            </a:r>
            <a:endParaRPr lang="en-US" sz="1100" dirty="0"/>
          </a:p>
        </p:txBody>
      </p:sp>
      <p:sp>
        <p:nvSpPr>
          <p:cNvPr id="13" name="Text 10"/>
          <p:cNvSpPr txBox="1"/>
          <p:nvPr/>
        </p:nvSpPr>
        <p:spPr>
          <a:xfrm>
            <a:off x="548640" y="4096512"/>
            <a:ext cx="457200" cy="274320"/>
          </a:xfrm>
          <a:prstGeom prst="rect">
            <a:avLst/>
          </a:prstGeom>
          <a:noFill/>
          <a:ln/>
        </p:spPr>
        <p:txBody>
          <a:bodyPr wrap="square" lIns="0" tIns="0" rIns="0" bIns="0" rtlCol="0" anchor="t"/>
          <a:lstStyle/>
          <a:p>
            <a:pPr indent="0" marL="0">
              <a:buNone/>
            </a:pPr>
            <a:r>
              <a:rPr lang="en-US" sz="1100" b="1" dirty="0">
                <a:solidFill>
                  <a:srgbClr val="4F46E5"/>
                </a:solidFill>
                <a:latin typeface="Segoe UI" pitchFamily="34" charset="0"/>
                <a:ea typeface="Segoe UI" pitchFamily="34" charset="-122"/>
                <a:cs typeface="Segoe UI" pitchFamily="34" charset="-120"/>
              </a:rPr>
              <a:t>S9</a:t>
            </a:r>
            <a:endParaRPr lang="en-US" sz="1100" dirty="0"/>
          </a:p>
        </p:txBody>
      </p:sp>
      <p:sp>
        <p:nvSpPr>
          <p:cNvPr id="14" name="Text 11"/>
          <p:cNvSpPr txBox="1"/>
          <p:nvPr/>
        </p:nvSpPr>
        <p:spPr>
          <a:xfrm>
            <a:off x="1051560" y="4096512"/>
            <a:ext cx="4861408" cy="576072"/>
          </a:xfrm>
          <a:prstGeom prst="rect">
            <a:avLst/>
          </a:prstGeom>
          <a:noFill/>
          <a:ln/>
        </p:spPr>
        <p:txBody>
          <a:bodyPr wrap="square" lIns="0" tIns="0" rIns="0" bIns="0" rtlCol="0" anchor="t"/>
          <a:lstStyle/>
          <a:p>
            <a:pPr indent="0" marL="0">
              <a:buNone/>
            </a:pPr>
            <a:r>
              <a:rPr lang="en-US" sz="1100" dirty="0">
                <a:solidFill>
                  <a:srgbClr val="0F172A"/>
                </a:solidFill>
                <a:latin typeface="Segoe UI" pitchFamily="34" charset="0"/>
                <a:ea typeface="Segoe UI" pitchFamily="34" charset="-122"/>
                <a:cs typeface="Segoe UI" pitchFamily="34" charset="-120"/>
              </a:rPr>
              <a:t>NCU thesis citing FSC Insurance Bureau: first-year retention of new life-insurance reps below 50%</a:t>
            </a:r>
            <a:endParaRPr lang="en-US" sz="1100" dirty="0"/>
          </a:p>
          <a:p>
            <a:pPr indent="0" marL="0">
              <a:buNone/>
            </a:pPr>
            <a:r>
              <a:rPr lang="en-US" sz="1000" u="sng" dirty="0">
                <a:solidFill>
                  <a:srgbClr val="64748B"/>
                </a:solidFill>
                <a:latin typeface="Segoe UI" pitchFamily="34" charset="0"/>
                <a:ea typeface="Segoe UI" pitchFamily="34" charset="-122"/>
                <a:cs typeface="Segoe U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https://etd.lib.ncu.edu.tw/detail/56554d0867235710166b1752acffa4ba</a:t>
            </a:r>
            <a:endParaRPr lang="en-US" sz="1100" dirty="0"/>
          </a:p>
        </p:txBody>
      </p:sp>
      <p:sp>
        <p:nvSpPr>
          <p:cNvPr id="15" name="Text 12"/>
          <p:cNvSpPr txBox="1"/>
          <p:nvPr/>
        </p:nvSpPr>
        <p:spPr>
          <a:xfrm>
            <a:off x="548640" y="4709160"/>
            <a:ext cx="457200" cy="274320"/>
          </a:xfrm>
          <a:prstGeom prst="rect">
            <a:avLst/>
          </a:prstGeom>
          <a:noFill/>
          <a:ln/>
        </p:spPr>
        <p:txBody>
          <a:bodyPr wrap="square" lIns="0" tIns="0" rIns="0" bIns="0" rtlCol="0" anchor="t"/>
          <a:lstStyle/>
          <a:p>
            <a:pPr indent="0" marL="0">
              <a:buNone/>
            </a:pPr>
            <a:r>
              <a:rPr lang="en-US" sz="1100" b="1" dirty="0">
                <a:solidFill>
                  <a:srgbClr val="4F46E5"/>
                </a:solidFill>
                <a:latin typeface="Segoe UI" pitchFamily="34" charset="0"/>
                <a:ea typeface="Segoe UI" pitchFamily="34" charset="-122"/>
                <a:cs typeface="Segoe UI" pitchFamily="34" charset="-120"/>
              </a:rPr>
              <a:t>S13</a:t>
            </a:r>
            <a:endParaRPr lang="en-US" sz="1100" dirty="0"/>
          </a:p>
        </p:txBody>
      </p:sp>
      <p:sp>
        <p:nvSpPr>
          <p:cNvPr id="16" name="Text 13"/>
          <p:cNvSpPr txBox="1"/>
          <p:nvPr/>
        </p:nvSpPr>
        <p:spPr>
          <a:xfrm>
            <a:off x="1051560" y="4709160"/>
            <a:ext cx="4861408" cy="576072"/>
          </a:xfrm>
          <a:prstGeom prst="rect">
            <a:avLst/>
          </a:prstGeom>
          <a:noFill/>
          <a:ln/>
        </p:spPr>
        <p:txBody>
          <a:bodyPr wrap="square" lIns="0" tIns="0" rIns="0" bIns="0" rtlCol="0" anchor="t"/>
          <a:lstStyle/>
          <a:p>
            <a:pPr indent="0" marL="0">
              <a:buNone/>
            </a:pPr>
            <a:r>
              <a:rPr lang="en-US" sz="1100" dirty="0">
                <a:solidFill>
                  <a:srgbClr val="0F172A"/>
                </a:solidFill>
                <a:latin typeface="Segoe UI" pitchFamily="34" charset="0"/>
                <a:ea typeface="Segoe UI" pitchFamily="34" charset="-122"/>
                <a:cs typeface="Segoe UI" pitchFamily="34" charset="-120"/>
              </a:rPr>
              <a:t>Baker McKenzie / Lee and Li on Taiwan FSC AI guidelines (2023-2024)</a:t>
            </a:r>
            <a:endParaRPr lang="en-US" sz="1100" dirty="0"/>
          </a:p>
          <a:p>
            <a:pPr indent="0" marL="0">
              <a:buNone/>
            </a:pPr>
            <a:r>
              <a:rPr lang="en-US" sz="1000" u="sng" dirty="0">
                <a:solidFill>
                  <a:srgbClr val="64748B"/>
                </a:solidFill>
                <a:latin typeface="Segoe UI" pitchFamily="34" charset="0"/>
                <a:ea typeface="Segoe UI" pitchFamily="34" charset="-122"/>
                <a:cs typeface="Segoe U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https://www.leeandli.com/EN/Newsletters/7287.htm</a:t>
            </a:r>
            <a:endParaRPr lang="en-US" sz="1100" dirty="0"/>
          </a:p>
        </p:txBody>
      </p:sp>
      <p:sp>
        <p:nvSpPr>
          <p:cNvPr id="17" name="Text 14"/>
          <p:cNvSpPr txBox="1"/>
          <p:nvPr/>
        </p:nvSpPr>
        <p:spPr>
          <a:xfrm>
            <a:off x="548640" y="5321808"/>
            <a:ext cx="457200" cy="274320"/>
          </a:xfrm>
          <a:prstGeom prst="rect">
            <a:avLst/>
          </a:prstGeom>
          <a:noFill/>
          <a:ln/>
        </p:spPr>
        <p:txBody>
          <a:bodyPr wrap="square" lIns="0" tIns="0" rIns="0" bIns="0" rtlCol="0" anchor="t"/>
          <a:lstStyle/>
          <a:p>
            <a:pPr indent="0" marL="0">
              <a:buNone/>
            </a:pPr>
            <a:r>
              <a:rPr lang="en-US" sz="1100" b="1" dirty="0">
                <a:solidFill>
                  <a:srgbClr val="4F46E5"/>
                </a:solidFill>
                <a:latin typeface="Segoe UI" pitchFamily="34" charset="0"/>
                <a:ea typeface="Segoe UI" pitchFamily="34" charset="-122"/>
                <a:cs typeface="Segoe UI" pitchFamily="34" charset="-120"/>
              </a:rPr>
              <a:t>S16</a:t>
            </a:r>
            <a:endParaRPr lang="en-US" sz="1100" dirty="0"/>
          </a:p>
        </p:txBody>
      </p:sp>
      <p:sp>
        <p:nvSpPr>
          <p:cNvPr id="18" name="Text 15"/>
          <p:cNvSpPr txBox="1"/>
          <p:nvPr/>
        </p:nvSpPr>
        <p:spPr>
          <a:xfrm>
            <a:off x="1051560" y="5321808"/>
            <a:ext cx="4861408" cy="576072"/>
          </a:xfrm>
          <a:prstGeom prst="rect">
            <a:avLst/>
          </a:prstGeom>
          <a:noFill/>
          <a:ln/>
        </p:spPr>
        <p:txBody>
          <a:bodyPr wrap="square" lIns="0" tIns="0" rIns="0" bIns="0" rtlCol="0" anchor="t"/>
          <a:lstStyle/>
          <a:p>
            <a:pPr indent="0" marL="0">
              <a:buNone/>
            </a:pPr>
            <a:r>
              <a:rPr lang="en-US" sz="1100" dirty="0">
                <a:solidFill>
                  <a:srgbClr val="0F172A"/>
                </a:solidFill>
                <a:latin typeface="Segoe UI" pitchFamily="34" charset="0"/>
                <a:ea typeface="Segoe UI" pitchFamily="34" charset="-122"/>
                <a:cs typeface="Segoe UI" pitchFamily="34" charset="-120"/>
              </a:rPr>
              <a:t>Hyperbound US$15M Series A (Sept 2025)</a:t>
            </a:r>
            <a:endParaRPr lang="en-US" sz="1100" dirty="0"/>
          </a:p>
          <a:p>
            <a:pPr indent="0" marL="0">
              <a:buNone/>
            </a:pPr>
            <a:r>
              <a:rPr lang="en-US" sz="1000" u="sng" dirty="0">
                <a:solidFill>
                  <a:srgbClr val="64748B"/>
                </a:solidFill>
                <a:latin typeface="Segoe UI" pitchFamily="34" charset="0"/>
                <a:ea typeface="Segoe UI" pitchFamily="34" charset="-122"/>
                <a:cs typeface="Segoe UI"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https://www.hyperbound.ai/blog/series-a</a:t>
            </a:r>
            <a:endParaRPr lang="en-US" sz="1100" dirty="0"/>
          </a:p>
        </p:txBody>
      </p:sp>
      <p:sp>
        <p:nvSpPr>
          <p:cNvPr id="19" name="Text 16"/>
          <p:cNvSpPr txBox="1"/>
          <p:nvPr/>
        </p:nvSpPr>
        <p:spPr>
          <a:xfrm>
            <a:off x="6278728" y="1645920"/>
            <a:ext cx="457200" cy="274320"/>
          </a:xfrm>
          <a:prstGeom prst="rect">
            <a:avLst/>
          </a:prstGeom>
          <a:noFill/>
          <a:ln/>
        </p:spPr>
        <p:txBody>
          <a:bodyPr wrap="square" lIns="0" tIns="0" rIns="0" bIns="0" rtlCol="0" anchor="t"/>
          <a:lstStyle/>
          <a:p>
            <a:pPr indent="0" marL="0">
              <a:buNone/>
            </a:pPr>
            <a:r>
              <a:rPr lang="en-US" sz="1100" b="1" dirty="0">
                <a:solidFill>
                  <a:srgbClr val="4F46E5"/>
                </a:solidFill>
                <a:latin typeface="Segoe UI" pitchFamily="34" charset="0"/>
                <a:ea typeface="Segoe UI" pitchFamily="34" charset="-122"/>
                <a:cs typeface="Segoe UI" pitchFamily="34" charset="-120"/>
              </a:rPr>
              <a:t>S17</a:t>
            </a:r>
            <a:endParaRPr lang="en-US" sz="1100" dirty="0"/>
          </a:p>
        </p:txBody>
      </p:sp>
      <p:sp>
        <p:nvSpPr>
          <p:cNvPr id="20" name="Text 17"/>
          <p:cNvSpPr txBox="1"/>
          <p:nvPr/>
        </p:nvSpPr>
        <p:spPr>
          <a:xfrm>
            <a:off x="6781648" y="1645920"/>
            <a:ext cx="4861408" cy="576072"/>
          </a:xfrm>
          <a:prstGeom prst="rect">
            <a:avLst/>
          </a:prstGeom>
          <a:noFill/>
          <a:ln/>
        </p:spPr>
        <p:txBody>
          <a:bodyPr wrap="square" lIns="0" tIns="0" rIns="0" bIns="0" rtlCol="0" anchor="t"/>
          <a:lstStyle/>
          <a:p>
            <a:pPr indent="0" marL="0">
              <a:buNone/>
            </a:pPr>
            <a:r>
              <a:rPr lang="en-US" sz="1100" dirty="0">
                <a:solidFill>
                  <a:srgbClr val="0F172A"/>
                </a:solidFill>
                <a:latin typeface="Segoe UI" pitchFamily="34" charset="0"/>
                <a:ea typeface="Segoe UI" pitchFamily="34" charset="-122"/>
                <a:cs typeface="Segoe UI" pitchFamily="34" charset="-120"/>
              </a:rPr>
              <a:t>Second Nature US$22M Series B (Oct 2025)</a:t>
            </a:r>
            <a:endParaRPr lang="en-US" sz="1100" dirty="0"/>
          </a:p>
          <a:p>
            <a:pPr indent="0" marL="0">
              <a:buNone/>
            </a:pPr>
            <a:r>
              <a:rPr lang="en-US" sz="1000" u="sng" dirty="0">
                <a:solidFill>
                  <a:srgbClr val="64748B"/>
                </a:solidFill>
                <a:latin typeface="Segoe UI" pitchFamily="34" charset="0"/>
                <a:ea typeface="Segoe UI" pitchFamily="34" charset="-122"/>
                <a:cs typeface="Segoe U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https://pulse2.com/second-nature-22-million-series-b-raised-for-expanding-ai-based-sales-and-service-training</a:t>
            </a:r>
            <a:endParaRPr lang="en-US" sz="1100" dirty="0"/>
          </a:p>
        </p:txBody>
      </p:sp>
      <p:sp>
        <p:nvSpPr>
          <p:cNvPr id="21" name="Text 18"/>
          <p:cNvSpPr txBox="1"/>
          <p:nvPr/>
        </p:nvSpPr>
        <p:spPr>
          <a:xfrm>
            <a:off x="6278728" y="2258568"/>
            <a:ext cx="457200" cy="274320"/>
          </a:xfrm>
          <a:prstGeom prst="rect">
            <a:avLst/>
          </a:prstGeom>
          <a:noFill/>
          <a:ln/>
        </p:spPr>
        <p:txBody>
          <a:bodyPr wrap="square" lIns="0" tIns="0" rIns="0" bIns="0" rtlCol="0" anchor="t"/>
          <a:lstStyle/>
          <a:p>
            <a:pPr indent="0" marL="0">
              <a:buNone/>
            </a:pPr>
            <a:r>
              <a:rPr lang="en-US" sz="1100" b="1" dirty="0">
                <a:solidFill>
                  <a:srgbClr val="4F46E5"/>
                </a:solidFill>
                <a:latin typeface="Segoe UI" pitchFamily="34" charset="0"/>
                <a:ea typeface="Segoe UI" pitchFamily="34" charset="-122"/>
                <a:cs typeface="Segoe UI" pitchFamily="34" charset="-120"/>
              </a:rPr>
              <a:t>S20</a:t>
            </a:r>
            <a:endParaRPr lang="en-US" sz="1100" dirty="0"/>
          </a:p>
        </p:txBody>
      </p:sp>
      <p:sp>
        <p:nvSpPr>
          <p:cNvPr id="22" name="Text 19"/>
          <p:cNvSpPr txBox="1"/>
          <p:nvPr/>
        </p:nvSpPr>
        <p:spPr>
          <a:xfrm>
            <a:off x="6781648" y="2258568"/>
            <a:ext cx="4861408" cy="576072"/>
          </a:xfrm>
          <a:prstGeom prst="rect">
            <a:avLst/>
          </a:prstGeom>
          <a:noFill/>
          <a:ln/>
        </p:spPr>
        <p:txBody>
          <a:bodyPr wrap="square" lIns="0" tIns="0" rIns="0" bIns="0" rtlCol="0" anchor="t"/>
          <a:lstStyle/>
          <a:p>
            <a:pPr indent="0" marL="0">
              <a:buNone/>
            </a:pPr>
            <a:r>
              <a:rPr lang="en-US" sz="1100" dirty="0">
                <a:solidFill>
                  <a:srgbClr val="0F172A"/>
                </a:solidFill>
                <a:latin typeface="Segoe UI" pitchFamily="34" charset="0"/>
                <a:ea typeface="Segoe UI" pitchFamily="34" charset="-122"/>
                <a:cs typeface="Segoe UI" pitchFamily="34" charset="-120"/>
              </a:rPr>
              <a:t>HKMA press release: Hang Seng Bank fined HK$66.4M (27 Jan 2025)</a:t>
            </a:r>
            <a:endParaRPr lang="en-US" sz="1100" dirty="0"/>
          </a:p>
          <a:p>
            <a:pPr indent="0" marL="0">
              <a:buNone/>
            </a:pPr>
            <a:r>
              <a:rPr lang="en-US" sz="1000" u="sng" dirty="0">
                <a:solidFill>
                  <a:srgbClr val="64748B"/>
                </a:solidFill>
                <a:latin typeface="Segoe UI" pitchFamily="34" charset="0"/>
                <a:ea typeface="Segoe UI" pitchFamily="34" charset="-122"/>
                <a:cs typeface="Segoe UI"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https://www.hkma.gov.hk/eng/news-and-media/press-releases/2025/01/20250127-4</a:t>
            </a:r>
            <a:endParaRPr lang="en-US" sz="1100" dirty="0"/>
          </a:p>
        </p:txBody>
      </p:sp>
      <p:sp>
        <p:nvSpPr>
          <p:cNvPr id="23" name="Text 20"/>
          <p:cNvSpPr txBox="1"/>
          <p:nvPr/>
        </p:nvSpPr>
        <p:spPr>
          <a:xfrm>
            <a:off x="6278728" y="2871216"/>
            <a:ext cx="457200" cy="274320"/>
          </a:xfrm>
          <a:prstGeom prst="rect">
            <a:avLst/>
          </a:prstGeom>
          <a:noFill/>
          <a:ln/>
        </p:spPr>
        <p:txBody>
          <a:bodyPr wrap="square" lIns="0" tIns="0" rIns="0" bIns="0" rtlCol="0" anchor="t"/>
          <a:lstStyle/>
          <a:p>
            <a:pPr indent="0" marL="0">
              <a:buNone/>
            </a:pPr>
            <a:r>
              <a:rPr lang="en-US" sz="1100" b="1" dirty="0">
                <a:solidFill>
                  <a:srgbClr val="4F46E5"/>
                </a:solidFill>
                <a:latin typeface="Segoe UI" pitchFamily="34" charset="0"/>
                <a:ea typeface="Segoe UI" pitchFamily="34" charset="-122"/>
                <a:cs typeface="Segoe UI" pitchFamily="34" charset="-120"/>
              </a:rPr>
              <a:t>S21</a:t>
            </a:r>
            <a:endParaRPr lang="en-US" sz="1100" dirty="0"/>
          </a:p>
        </p:txBody>
      </p:sp>
      <p:sp>
        <p:nvSpPr>
          <p:cNvPr id="24" name="Text 21"/>
          <p:cNvSpPr txBox="1"/>
          <p:nvPr/>
        </p:nvSpPr>
        <p:spPr>
          <a:xfrm>
            <a:off x="6781648" y="2871216"/>
            <a:ext cx="4861408" cy="576072"/>
          </a:xfrm>
          <a:prstGeom prst="rect">
            <a:avLst/>
          </a:prstGeom>
          <a:noFill/>
          <a:ln/>
        </p:spPr>
        <p:txBody>
          <a:bodyPr wrap="square" lIns="0" tIns="0" rIns="0" bIns="0" rtlCol="0" anchor="t"/>
          <a:lstStyle/>
          <a:p>
            <a:pPr indent="0" marL="0">
              <a:buNone/>
            </a:pPr>
            <a:r>
              <a:rPr lang="en-US" sz="1100" dirty="0">
                <a:solidFill>
                  <a:srgbClr val="0F172A"/>
                </a:solidFill>
                <a:latin typeface="Segoe UI" pitchFamily="34" charset="0"/>
                <a:ea typeface="Segoe UI" pitchFamily="34" charset="-122"/>
                <a:cs typeface="Segoe UI" pitchFamily="34" charset="-120"/>
              </a:rPr>
              <a:t>MAS key regulatory and enforcement actions, Q3 2025</a:t>
            </a:r>
            <a:endParaRPr lang="en-US" sz="1100" dirty="0"/>
          </a:p>
          <a:p>
            <a:pPr indent="0" marL="0">
              <a:buNone/>
            </a:pPr>
            <a:r>
              <a:rPr lang="en-US" sz="1000" u="sng" dirty="0">
                <a:solidFill>
                  <a:srgbClr val="64748B"/>
                </a:solidFill>
                <a:latin typeface="Segoe UI" pitchFamily="34" charset="0"/>
                <a:ea typeface="Segoe UI" pitchFamily="34" charset="-122"/>
                <a:cs typeface="Segoe U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https://www.mas.gov.sg/news/media-releases/2025/key-regulatory-and-enforcement-actions-taken-by-mas-in-q3-2025</a:t>
            </a:r>
            <a:endParaRPr lang="en-US" sz="1100" dirty="0"/>
          </a:p>
        </p:txBody>
      </p:sp>
      <p:sp>
        <p:nvSpPr>
          <p:cNvPr id="25" name="Text 22"/>
          <p:cNvSpPr txBox="1"/>
          <p:nvPr/>
        </p:nvSpPr>
        <p:spPr>
          <a:xfrm>
            <a:off x="6278728" y="3483864"/>
            <a:ext cx="457200" cy="274320"/>
          </a:xfrm>
          <a:prstGeom prst="rect">
            <a:avLst/>
          </a:prstGeom>
          <a:noFill/>
          <a:ln/>
        </p:spPr>
        <p:txBody>
          <a:bodyPr wrap="square" lIns="0" tIns="0" rIns="0" bIns="0" rtlCol="0" anchor="t"/>
          <a:lstStyle/>
          <a:p>
            <a:pPr indent="0" marL="0">
              <a:buNone/>
            </a:pPr>
            <a:r>
              <a:rPr lang="en-US" sz="1100" b="1" dirty="0">
                <a:solidFill>
                  <a:srgbClr val="4F46E5"/>
                </a:solidFill>
                <a:latin typeface="Segoe UI" pitchFamily="34" charset="0"/>
                <a:ea typeface="Segoe UI" pitchFamily="34" charset="-122"/>
                <a:cs typeface="Segoe UI" pitchFamily="34" charset="-120"/>
              </a:rPr>
              <a:t>S23</a:t>
            </a:r>
            <a:endParaRPr lang="en-US" sz="1100" dirty="0"/>
          </a:p>
        </p:txBody>
      </p:sp>
      <p:sp>
        <p:nvSpPr>
          <p:cNvPr id="26" name="Text 23"/>
          <p:cNvSpPr txBox="1"/>
          <p:nvPr/>
        </p:nvSpPr>
        <p:spPr>
          <a:xfrm>
            <a:off x="6781648" y="3483864"/>
            <a:ext cx="4861408" cy="576072"/>
          </a:xfrm>
          <a:prstGeom prst="rect">
            <a:avLst/>
          </a:prstGeom>
          <a:noFill/>
          <a:ln/>
        </p:spPr>
        <p:txBody>
          <a:bodyPr wrap="square" lIns="0" tIns="0" rIns="0" bIns="0" rtlCol="0" anchor="t"/>
          <a:lstStyle/>
          <a:p>
            <a:pPr indent="0" marL="0">
              <a:buNone/>
            </a:pPr>
            <a:r>
              <a:rPr lang="en-US" sz="1100" dirty="0">
                <a:solidFill>
                  <a:srgbClr val="0F172A"/>
                </a:solidFill>
                <a:latin typeface="Segoe UI" pitchFamily="34" charset="0"/>
                <a:ea typeface="Segoe UI" pitchFamily="34" charset="-122"/>
                <a:cs typeface="Segoe UI" pitchFamily="34" charset="-120"/>
              </a:rPr>
              <a:t>Inc.: Mursion simulation cost (about US$49 per 30-minute session)</a:t>
            </a:r>
            <a:endParaRPr lang="en-US" sz="1100" dirty="0"/>
          </a:p>
          <a:p>
            <a:pPr indent="0" marL="0">
              <a:buNone/>
            </a:pPr>
            <a:r>
              <a:rPr lang="en-US" sz="1000" u="sng" dirty="0">
                <a:solidFill>
                  <a:srgbClr val="64748B"/>
                </a:solidFill>
                <a:latin typeface="Segoe UI" pitchFamily="34" charset="0"/>
                <a:ea typeface="Segoe UI" pitchFamily="34" charset="-122"/>
                <a:cs typeface="Segoe U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https://www.inc.com/sophie-downes/mursion-virtual-reality-simulation-empathy-workplace-training-learning.html</a:t>
            </a:r>
            <a:endParaRPr lang="en-US" sz="1100" dirty="0"/>
          </a:p>
        </p:txBody>
      </p:sp>
      <p:sp>
        <p:nvSpPr>
          <p:cNvPr id="27" name="Text 24"/>
          <p:cNvSpPr txBox="1"/>
          <p:nvPr/>
        </p:nvSpPr>
        <p:spPr>
          <a:xfrm>
            <a:off x="6278728" y="4096512"/>
            <a:ext cx="457200" cy="274320"/>
          </a:xfrm>
          <a:prstGeom prst="rect">
            <a:avLst/>
          </a:prstGeom>
          <a:noFill/>
          <a:ln/>
        </p:spPr>
        <p:txBody>
          <a:bodyPr wrap="square" lIns="0" tIns="0" rIns="0" bIns="0" rtlCol="0" anchor="t"/>
          <a:lstStyle/>
          <a:p>
            <a:pPr indent="0" marL="0">
              <a:buNone/>
            </a:pPr>
            <a:r>
              <a:rPr lang="en-US" sz="1100" b="1" dirty="0">
                <a:solidFill>
                  <a:srgbClr val="4F46E5"/>
                </a:solidFill>
                <a:latin typeface="Segoe UI" pitchFamily="34" charset="0"/>
                <a:ea typeface="Segoe UI" pitchFamily="34" charset="-122"/>
                <a:cs typeface="Segoe UI" pitchFamily="34" charset="-120"/>
              </a:rPr>
              <a:t>S27</a:t>
            </a:r>
            <a:endParaRPr lang="en-US" sz="1100" dirty="0"/>
          </a:p>
        </p:txBody>
      </p:sp>
      <p:sp>
        <p:nvSpPr>
          <p:cNvPr id="28" name="Text 25"/>
          <p:cNvSpPr txBox="1"/>
          <p:nvPr/>
        </p:nvSpPr>
        <p:spPr>
          <a:xfrm>
            <a:off x="6781648" y="4096512"/>
            <a:ext cx="4861408" cy="576072"/>
          </a:xfrm>
          <a:prstGeom prst="rect">
            <a:avLst/>
          </a:prstGeom>
          <a:noFill/>
          <a:ln/>
        </p:spPr>
        <p:txBody>
          <a:bodyPr wrap="square" lIns="0" tIns="0" rIns="0" bIns="0" rtlCol="0" anchor="t"/>
          <a:lstStyle/>
          <a:p>
            <a:pPr indent="0" marL="0">
              <a:buNone/>
            </a:pPr>
            <a:r>
              <a:rPr lang="en-US" sz="1100" dirty="0">
                <a:solidFill>
                  <a:srgbClr val="0F172A"/>
                </a:solidFill>
                <a:latin typeface="Segoe UI" pitchFamily="34" charset="0"/>
                <a:ea typeface="Segoe UI" pitchFamily="34" charset="-122"/>
                <a:cs typeface="Segoe UI" pitchFamily="34" charset="-120"/>
              </a:rPr>
              <a:t>Google Cloud: Vertex AI generative AI data residency (checked 2026-10-15)</a:t>
            </a:r>
            <a:endParaRPr lang="en-US" sz="1100" dirty="0"/>
          </a:p>
          <a:p>
            <a:pPr indent="0" marL="0">
              <a:buNone/>
            </a:pPr>
            <a:r>
              <a:rPr lang="en-US" sz="1000" u="sng" dirty="0">
                <a:solidFill>
                  <a:srgbClr val="64748B"/>
                </a:solidFill>
                <a:latin typeface="Segoe UI" pitchFamily="34" charset="0"/>
                <a:ea typeface="Segoe UI" pitchFamily="34" charset="-122"/>
                <a:cs typeface="Segoe U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https://docs.cloud.google.com/vertex-ai/generative-ai/docs/learn/data-residency</a:t>
            </a:r>
            <a:endParaRPr lang="en-US" sz="1100" dirty="0"/>
          </a:p>
        </p:txBody>
      </p:sp>
      <p:sp>
        <p:nvSpPr>
          <p:cNvPr id="29" name="Text 26"/>
          <p:cNvSpPr txBox="1"/>
          <p:nvPr/>
        </p:nvSpPr>
        <p:spPr>
          <a:xfrm>
            <a:off x="6278728" y="4709160"/>
            <a:ext cx="457200" cy="274320"/>
          </a:xfrm>
          <a:prstGeom prst="rect">
            <a:avLst/>
          </a:prstGeom>
          <a:noFill/>
          <a:ln/>
        </p:spPr>
        <p:txBody>
          <a:bodyPr wrap="square" lIns="0" tIns="0" rIns="0" bIns="0" rtlCol="0" anchor="t"/>
          <a:lstStyle/>
          <a:p>
            <a:pPr indent="0" marL="0">
              <a:buNone/>
            </a:pPr>
            <a:r>
              <a:rPr lang="en-US" sz="1100" b="1" dirty="0">
                <a:solidFill>
                  <a:srgbClr val="4F46E5"/>
                </a:solidFill>
                <a:latin typeface="Segoe UI" pitchFamily="34" charset="0"/>
                <a:ea typeface="Segoe UI" pitchFamily="34" charset="-122"/>
                <a:cs typeface="Segoe UI" pitchFamily="34" charset="-120"/>
              </a:rPr>
              <a:t>S29</a:t>
            </a:r>
            <a:endParaRPr lang="en-US" sz="1100" dirty="0"/>
          </a:p>
        </p:txBody>
      </p:sp>
      <p:sp>
        <p:nvSpPr>
          <p:cNvPr id="30" name="Text 27"/>
          <p:cNvSpPr txBox="1"/>
          <p:nvPr/>
        </p:nvSpPr>
        <p:spPr>
          <a:xfrm>
            <a:off x="6781648" y="4709160"/>
            <a:ext cx="4861408" cy="576072"/>
          </a:xfrm>
          <a:prstGeom prst="rect">
            <a:avLst/>
          </a:prstGeom>
          <a:noFill/>
          <a:ln/>
        </p:spPr>
        <p:txBody>
          <a:bodyPr wrap="square" lIns="0" tIns="0" rIns="0" bIns="0" rtlCol="0" anchor="t"/>
          <a:lstStyle/>
          <a:p>
            <a:pPr indent="0" marL="0">
              <a:buNone/>
            </a:pPr>
            <a:r>
              <a:rPr lang="en-US" sz="1100" dirty="0">
                <a:solidFill>
                  <a:srgbClr val="0F172A"/>
                </a:solidFill>
                <a:latin typeface="Segoe UI" pitchFamily="34" charset="0"/>
                <a:ea typeface="Segoe UI" pitchFamily="34" charset="-122"/>
                <a:cs typeface="Segoe UI" pitchFamily="34" charset="-120"/>
              </a:rPr>
              <a:t>MAS Guidelines on Fair Dealing (FAA-G11, May 2024)</a:t>
            </a:r>
            <a:endParaRPr lang="en-US" sz="1100" dirty="0"/>
          </a:p>
          <a:p>
            <a:pPr indent="0" marL="0">
              <a:buNone/>
            </a:pPr>
            <a:r>
              <a:rPr lang="en-US" sz="1000" u="sng" dirty="0">
                <a:solidFill>
                  <a:srgbClr val="64748B"/>
                </a:solidFill>
                <a:latin typeface="Segoe UI" pitchFamily="34" charset="0"/>
                <a:ea typeface="Segoe UI" pitchFamily="34" charset="-122"/>
                <a:cs typeface="Segoe U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https://www.mas.gov.sg/-/media/mas-media-library/fair-dealing-guidelines-30-may-2024.pdf</a:t>
            </a:r>
            <a:endParaRPr lang="en-US" sz="1100" dirty="0"/>
          </a:p>
        </p:txBody>
      </p:sp>
      <p:sp>
        <p:nvSpPr>
          <p:cNvPr id="31" name="Text 28"/>
          <p:cNvSpPr txBox="1"/>
          <p:nvPr/>
        </p:nvSpPr>
        <p:spPr>
          <a:xfrm>
            <a:off x="6278728" y="5321808"/>
            <a:ext cx="457200" cy="274320"/>
          </a:xfrm>
          <a:prstGeom prst="rect">
            <a:avLst/>
          </a:prstGeom>
          <a:noFill/>
          <a:ln/>
        </p:spPr>
        <p:txBody>
          <a:bodyPr wrap="square" lIns="0" tIns="0" rIns="0" bIns="0" rtlCol="0" anchor="t"/>
          <a:lstStyle/>
          <a:p>
            <a:pPr indent="0" marL="0">
              <a:buNone/>
            </a:pPr>
            <a:r>
              <a:rPr lang="en-US" sz="1100" b="1" dirty="0">
                <a:solidFill>
                  <a:srgbClr val="4F46E5"/>
                </a:solidFill>
                <a:latin typeface="Segoe UI" pitchFamily="34" charset="0"/>
                <a:ea typeface="Segoe UI" pitchFamily="34" charset="-122"/>
                <a:cs typeface="Segoe UI" pitchFamily="34" charset="-120"/>
              </a:rPr>
              <a:t>S30</a:t>
            </a:r>
            <a:endParaRPr lang="en-US" sz="1100" dirty="0"/>
          </a:p>
        </p:txBody>
      </p:sp>
      <p:sp>
        <p:nvSpPr>
          <p:cNvPr id="32" name="Text 29"/>
          <p:cNvSpPr txBox="1"/>
          <p:nvPr/>
        </p:nvSpPr>
        <p:spPr>
          <a:xfrm>
            <a:off x="6781648" y="5321808"/>
            <a:ext cx="4861408" cy="576072"/>
          </a:xfrm>
          <a:prstGeom prst="rect">
            <a:avLst/>
          </a:prstGeom>
          <a:noFill/>
          <a:ln/>
        </p:spPr>
        <p:txBody>
          <a:bodyPr wrap="square" lIns="0" tIns="0" rIns="0" bIns="0" rtlCol="0" anchor="t"/>
          <a:lstStyle/>
          <a:p>
            <a:pPr indent="0" marL="0">
              <a:buNone/>
            </a:pPr>
            <a:r>
              <a:rPr lang="en-US" sz="1100" dirty="0">
                <a:solidFill>
                  <a:srgbClr val="0F172A"/>
                </a:solidFill>
                <a:latin typeface="Segoe UI" pitchFamily="34" charset="0"/>
                <a:ea typeface="Segoe UI" pitchFamily="34" charset="-122"/>
                <a:cs typeface="Segoe UI" pitchFamily="34" charset="-120"/>
              </a:rPr>
              <a:t>Insurance Business Asia: Singapore insurance agent numbers (~19,000)</a:t>
            </a:r>
            <a:endParaRPr lang="en-US" sz="1100" dirty="0"/>
          </a:p>
          <a:p>
            <a:pPr indent="0" marL="0">
              <a:buNone/>
            </a:pPr>
            <a:r>
              <a:rPr lang="en-US" sz="1000" u="sng" dirty="0">
                <a:solidFill>
                  <a:srgbClr val="64748B"/>
                </a:solidFill>
                <a:latin typeface="Segoe UI" pitchFamily="34" charset="0"/>
                <a:ea typeface="Segoe UI" pitchFamily="34" charset="-122"/>
                <a:cs typeface="Segoe U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https://www.insurancebusinessmag.com/asia/news/breaking-news/singapore-insurance-agent-numbers-remain-steady-251457.aspx</a:t>
            </a:r>
            <a:endParaRPr lang="en-US" sz="1100" dirty="0"/>
          </a:p>
        </p:txBody>
      </p:sp>
      <p:sp>
        <p:nvSpPr>
          <p:cNvPr id="33" name="Text 30"/>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rgbClr val="64748B"/>
                </a:solidFill>
                <a:latin typeface="Segoe UI" pitchFamily="34" charset="0"/>
                <a:ea typeface="Segoe UI" pitchFamily="34" charset="-122"/>
                <a:cs typeface="Segoe UI" pitchFamily="34" charset="-120"/>
              </a:rPr>
              <a:t>Figures marked (estimate) are our own model. Full list with notes: docs/BUSINESS_CASE.md, section 12.</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SkillCoach">
  <a:themeElements>
    <a:clrScheme name="SkillCoach">
      <a:dk1>
        <a:srgbClr val="0F172A"/>
      </a:dk1>
      <a:lt1>
        <a:srgbClr val="FFFFFF"/>
      </a:lt1>
      <a:dk2>
        <a:srgbClr val="334155"/>
      </a:dk2>
      <a:lt2>
        <a:srgbClr val="F8FAFC"/>
      </a:lt2>
      <a:accent1>
        <a:srgbClr val="4F46E5"/>
      </a:accent1>
      <a:accent2>
        <a:srgbClr val="0284C7"/>
      </a:accent2>
      <a:accent3>
        <a:srgbClr val="059669"/>
      </a:accent3>
      <a:accent4>
        <a:srgbClr val="D97706"/>
      </a:accent4>
      <a:accent5>
        <a:srgbClr val="E11D48"/>
      </a:accent5>
      <a:accent6>
        <a:srgbClr val="7C3AED"/>
      </a:accent6>
      <a:hlink>
        <a:srgbClr val="4F46E5"/>
      </a:hlink>
      <a:folHlink>
        <a:srgbClr val="3730A3"/>
      </a:folHlink>
    </a:clrScheme>
    <a:fontScheme name="SkillCoach">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SkillCoach pitch deck</dc:title>
  <dc:subject>PptxGenJS Presentation</dc:subject>
  <dc:creator>[Team name]</dc:creator>
  <cp:lastModifiedBy>[Team name]</cp:lastModifiedBy>
  <cp:revision>1</cp:revision>
  <dcterms:created xsi:type="dcterms:W3CDTF">2026-10-16T03:25:12Z</dcterms:created>
  <dcterms:modified xsi:type="dcterms:W3CDTF">2026-10-16T03:25:12Z</dcterms:modified>
</cp:coreProperties>
</file>